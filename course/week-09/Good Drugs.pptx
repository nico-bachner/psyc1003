
<file path=[Content_Types].xml><?xml version="1.0" encoding="utf-8"?>
<Types xmlns="http://schemas.openxmlformats.org/package/2006/content-types">
  <Default Extension="7&amp;gen=ntrn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70" r:id="rId15"/>
    <p:sldId id="272" r:id="rId16"/>
    <p:sldId id="280" r:id="rId17"/>
    <p:sldId id="281" r:id="rId18"/>
    <p:sldId id="273" r:id="rId19"/>
    <p:sldId id="274" r:id="rId20"/>
    <p:sldId id="275" r:id="rId21"/>
    <p:sldId id="276" r:id="rId22"/>
    <p:sldId id="286" r:id="rId23"/>
    <p:sldId id="277" r:id="rId24"/>
    <p:sldId id="282" r:id="rId25"/>
    <p:sldId id="283" r:id="rId26"/>
    <p:sldId id="278" r:id="rId27"/>
    <p:sldId id="287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4" autoAdjust="0"/>
    <p:restoredTop sz="94661"/>
  </p:normalViewPr>
  <p:slideViewPr>
    <p:cSldViewPr snapToGrid="0">
      <p:cViewPr>
        <p:scale>
          <a:sx n="101" d="100"/>
          <a:sy n="101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B907-E475-5D43-C099-A136E5D1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8440E-D039-5100-5F3E-9BBE7B9EE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2DC9B-1BD1-ED8A-3949-9FEA7DA0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1CCDC-253E-EC5C-4E33-767E961BA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B367-1BCE-E07F-C743-5A515900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592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9BF5-6B08-807C-F576-59A3FBAD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A890-E525-0D89-B69F-FC940BDD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92223-3898-213D-B786-84ECE489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4C58C-8AF6-D337-55C6-809F099A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7EF9D-919F-73D4-78C5-962DAFD9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39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1E22-759D-03CA-51E3-65A0DCDB8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E4AC7-3007-0F45-97E0-09136A1B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6F199-A39F-B46D-B801-CCB20928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21914-5E08-B7E2-BDC1-83B46678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9E383-FBF1-5518-A9A7-A1785A96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883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AE6F4-FF7F-BB0D-3FD3-52061DF8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D825E-1868-E05E-B5B6-3B4D50CCD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A727D-3CBE-6B37-80E1-158DA0276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99698-EF3A-CC6C-DADA-8C9DC1FC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6B5AE-5485-B434-572D-81A5E96E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81BBD-6068-8F39-7E30-3EF102B2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832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18C1-B6BD-DBEE-726B-13F1A5FF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1912B-633D-D802-9EBF-C5003E85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86268-885D-3798-23D9-9B99012C4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846A4-BA32-9B45-5779-EDFEA30DC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26FB43-FCB5-0EBE-297A-9567357F7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F1F8B-F359-F6EE-1611-46D33E3B1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8BBD2-F19C-95C1-7ADF-4BBF7D87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FE686-4265-ACB2-5BDD-785C014E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843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6DA4-F444-E934-39A2-3410432B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07D78-A36A-9413-DC2A-BFB03DA91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4BB1C-28DB-AF1E-AEBB-21BC31F2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58179-5CF9-E4C9-7A0F-FA9178D6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19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BF794-E359-0D72-37A2-E7FCCB76D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60865-856F-A2F1-DA9D-1850AFA2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869E1-C405-C222-1264-C37086A7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764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AC3D-17F5-9DB4-F22B-D1025379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0C54-D9AD-5EB3-76A5-197ECFB38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9A24C-8FAE-241D-201E-39AB8F568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00268-A388-38A4-C400-14F407C5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50F4B-12AD-18B9-C78E-2943A66A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8BFCA-6951-43D6-2E9E-F08F3264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31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59595-580D-8BD0-8AAB-3AAD49F6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52E01-73E2-8290-522E-9B144BF36F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C01A5-4159-87C4-6C29-E17128A99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749E9-09B4-AAEF-9E18-208AC9C8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E9F27-18B4-9637-0DCC-F3CA4FBA8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AE59F-7AC9-1ECB-2EC2-DB32A2D0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79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284C-8D07-63F2-889C-74E8C44B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DEF27-9FF6-0B22-26FC-3AB4E82C3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0CD1E-85E3-51EA-EC6D-8A63E596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88BE9-D056-83F5-5734-FBCCCD80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1457B-C2AA-A647-B5A9-A38437C86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993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4D714-99BC-D132-BEB0-F4D17AB8D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9E146-B16E-77CA-9C5C-0D9E1DF2A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0E2FE-C9B1-FD14-FE1A-C90BE8A5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AEF10-E2B0-F63C-70A7-A75C18C4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B271B-69E7-BD68-B75E-3D337CE8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13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F89C3-88E6-7E10-54A6-9C5D41C1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78A92-592A-E91F-883F-946C6B27C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09742-3E52-0CF7-7EC5-66FC5A006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1447E-614E-4C5D-B2F6-CE21998957EB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6D8DF-3B72-BE20-BCFE-BA450E2C2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F618C-61AB-8B94-6083-6CED44C92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31A27-4BBA-4549-95E9-3A395399A8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7&amp;gen=ntr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ow LSD changes communication in the brain | eLife Science Digests | eLife">
            <a:extLst>
              <a:ext uri="{FF2B5EF4-FFF2-40B4-BE49-F238E27FC236}">
                <a16:creationId xmlns:a16="http://schemas.microsoft.com/office/drawing/2014/main" id="{52A12C5F-79D0-A80E-978C-43F9D67F67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65" r="18685" b="49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ACD41-18C5-E3E9-B2E7-C4599500F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80" y="976057"/>
            <a:ext cx="5262419" cy="1671637"/>
          </a:xfrm>
        </p:spPr>
        <p:txBody>
          <a:bodyPr anchor="b">
            <a:normAutofit/>
          </a:bodyPr>
          <a:lstStyle/>
          <a:p>
            <a:pPr algn="l"/>
            <a:r>
              <a:rPr lang="en-AU" sz="4000" dirty="0"/>
              <a:t>Good Drugs</a:t>
            </a:r>
            <a:br>
              <a:rPr lang="en-AU" sz="4000" dirty="0"/>
            </a:br>
            <a:r>
              <a:rPr lang="en-AU" sz="4000" dirty="0"/>
              <a:t>(Psychopharmacology)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401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9CB3-31E6-42A5-1F34-DED13CB15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Psychiatric Medications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13D32-3361-745B-C4A9-9DD304338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4926"/>
            <a:ext cx="6413500" cy="5116512"/>
          </a:xfrm>
        </p:spPr>
        <p:txBody>
          <a:bodyPr/>
          <a:lstStyle/>
          <a:p>
            <a:r>
              <a:rPr lang="en-AU" dirty="0"/>
              <a:t>Psychoactive substances used to improve symptoms of mental health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EADD0-762D-CB4F-A538-9CBCC9834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2857500"/>
            <a:ext cx="5261719" cy="356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5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6D83-B3DA-CBE6-D5F1-F6A95C242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32B0-5A64-D09A-4B92-6528CFD5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Psychiatric Medications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49A97-3277-DD11-8992-04B19CE91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04926"/>
            <a:ext cx="6413500" cy="5116512"/>
          </a:xfrm>
        </p:spPr>
        <p:txBody>
          <a:bodyPr/>
          <a:lstStyle/>
          <a:p>
            <a:r>
              <a:rPr lang="en-AU" dirty="0"/>
              <a:t>Psychoactive substances used to improve symptoms of mental health conditions</a:t>
            </a:r>
          </a:p>
          <a:p>
            <a:r>
              <a:rPr lang="en-AU" dirty="0"/>
              <a:t>Examples </a:t>
            </a:r>
          </a:p>
          <a:p>
            <a:pPr lvl="1"/>
            <a:r>
              <a:rPr lang="en-AU" dirty="0"/>
              <a:t>Lithium</a:t>
            </a:r>
          </a:p>
          <a:p>
            <a:pPr lvl="1"/>
            <a:r>
              <a:rPr lang="en-AU" dirty="0"/>
              <a:t>Antipsychotics</a:t>
            </a:r>
          </a:p>
          <a:p>
            <a:pPr lvl="1"/>
            <a:r>
              <a:rPr lang="en-AU" dirty="0"/>
              <a:t>Amphetamines</a:t>
            </a:r>
          </a:p>
          <a:p>
            <a:pPr lvl="1"/>
            <a:r>
              <a:rPr lang="en-AU" dirty="0"/>
              <a:t>Benzodiazepines</a:t>
            </a:r>
          </a:p>
          <a:p>
            <a:pPr lvl="1"/>
            <a:r>
              <a:rPr lang="en-AU" dirty="0"/>
              <a:t>Antidepressants (SSRIs/SNRIs/MAOIs)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540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D48C-98CF-270A-96C9-0F2F736D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1628-E388-C1CC-5FB5-BB5FE75F2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Mechanism of Action (MOA)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DE56-7B75-1C94-BCFB-DCA8260B9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90626"/>
            <a:ext cx="9779000" cy="5116512"/>
          </a:xfrm>
        </p:spPr>
        <p:txBody>
          <a:bodyPr/>
          <a:lstStyle/>
          <a:p>
            <a:r>
              <a:rPr lang="en-AU" dirty="0"/>
              <a:t>How a psychoactive substance acts on the brain </a:t>
            </a:r>
          </a:p>
          <a:p>
            <a:r>
              <a:rPr lang="en-AU" dirty="0"/>
              <a:t>Effects on mental health symptoms can be</a:t>
            </a:r>
          </a:p>
          <a:p>
            <a:pPr lvl="1"/>
            <a:r>
              <a:rPr lang="en-AU" dirty="0"/>
              <a:t>Direct</a:t>
            </a:r>
          </a:p>
          <a:p>
            <a:pPr lvl="1"/>
            <a:r>
              <a:rPr lang="en-AU" dirty="0"/>
              <a:t>Indirect</a:t>
            </a:r>
          </a:p>
        </p:txBody>
      </p:sp>
      <p:pic>
        <p:nvPicPr>
          <p:cNvPr id="4" name="Picture 3" descr="This Is What Drugs and Alcohol Are Doing to Your Brain">
            <a:extLst>
              <a:ext uri="{FF2B5EF4-FFF2-40B4-BE49-F238E27FC236}">
                <a16:creationId xmlns:a16="http://schemas.microsoft.com/office/drawing/2014/main" id="{D0C593AC-4156-B26D-6029-6A092809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3053080"/>
            <a:ext cx="5080000" cy="357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7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3D83-5AB5-D724-51FE-8B379D13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B40D-F28C-7FC9-4626-4030A23D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How do we identify effective treatments?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B673-A3AD-A6C0-A9C3-CC575A9A7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90626"/>
            <a:ext cx="7023100" cy="5116512"/>
          </a:xfrm>
        </p:spPr>
        <p:txBody>
          <a:bodyPr/>
          <a:lstStyle/>
          <a:p>
            <a:r>
              <a:rPr lang="en-AU" dirty="0"/>
              <a:t>The Ideal:</a:t>
            </a:r>
          </a:p>
          <a:p>
            <a:pPr lvl="1"/>
            <a:r>
              <a:rPr lang="en-AU" dirty="0"/>
              <a:t>“The brains of people with Mental Condition X have less of Neurotransmitter Y.”</a:t>
            </a:r>
          </a:p>
          <a:p>
            <a:pPr lvl="1"/>
            <a:r>
              <a:rPr lang="en-AU" dirty="0"/>
              <a:t>Design a drug that acts like Neurotransmitter Y.</a:t>
            </a:r>
          </a:p>
        </p:txBody>
      </p:sp>
      <p:pic>
        <p:nvPicPr>
          <p:cNvPr id="5" name="Picture 4" descr="News: The Role of Robotics in Enhancing Surgical Precision in Minimally  Invasive Procedures">
            <a:extLst>
              <a:ext uri="{FF2B5EF4-FFF2-40B4-BE49-F238E27FC236}">
                <a16:creationId xmlns:a16="http://schemas.microsoft.com/office/drawing/2014/main" id="{2B6D21F5-32B8-1DB3-B7E0-479CD79FA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3130550"/>
            <a:ext cx="5336966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3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D310-DDE4-5F59-A00C-129F3A7B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91C6-F93C-631A-1B56-280FCFAB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How do we identify effective treatments?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78FB0-8429-4F38-840B-68EA5FF3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90626"/>
            <a:ext cx="7023100" cy="5116512"/>
          </a:xfrm>
        </p:spPr>
        <p:txBody>
          <a:bodyPr/>
          <a:lstStyle/>
          <a:p>
            <a:r>
              <a:rPr lang="en-AU" dirty="0"/>
              <a:t>The Reality:</a:t>
            </a:r>
          </a:p>
          <a:p>
            <a:pPr lvl="1"/>
            <a:r>
              <a:rPr lang="en-AU" dirty="0"/>
              <a:t>Mostly dumb luck</a:t>
            </a:r>
          </a:p>
        </p:txBody>
      </p:sp>
      <p:pic>
        <p:nvPicPr>
          <p:cNvPr id="6" name="Picture 5" descr="You Can't Fit a Square Peg in a Round Hole - Christians United Ministries">
            <a:extLst>
              <a:ext uri="{FF2B5EF4-FFF2-40B4-BE49-F238E27FC236}">
                <a16:creationId xmlns:a16="http://schemas.microsoft.com/office/drawing/2014/main" id="{56C9B643-754F-2A8B-8D14-65531382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516189"/>
            <a:ext cx="356235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1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C56B7-81F5-8C3C-DFE3-9B8D46A0F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AU" dirty="0"/>
              <a:t>Lithium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4D0B-B7DB-7C27-ADFA-B1E76581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75531"/>
            <a:ext cx="7886700" cy="4351338"/>
          </a:xfrm>
        </p:spPr>
        <p:txBody>
          <a:bodyPr/>
          <a:lstStyle/>
          <a:p>
            <a:r>
              <a:rPr lang="en-AU" dirty="0"/>
              <a:t>Mood stabiliser prescribed for bipolar disorder</a:t>
            </a:r>
          </a:p>
          <a:p>
            <a:r>
              <a:rPr lang="en-AU" dirty="0"/>
              <a:t>Lightest metal on periodic table</a:t>
            </a:r>
          </a:p>
          <a:p>
            <a:r>
              <a:rPr lang="en-AU" dirty="0"/>
              <a:t>Found in rocks, soil, and still bodies of water</a:t>
            </a:r>
          </a:p>
          <a:p>
            <a:r>
              <a:rPr lang="en-AU" dirty="0"/>
              <a:t>Ancient references to curative “mineral waters” may have been related to lithium levels</a:t>
            </a:r>
          </a:p>
        </p:txBody>
      </p:sp>
      <p:pic>
        <p:nvPicPr>
          <p:cNvPr id="4" name="Picture 3" descr="A historic advertisement for 7 Up promotes its health benefits.">
            <a:extLst>
              <a:ext uri="{FF2B5EF4-FFF2-40B4-BE49-F238E27FC236}">
                <a16:creationId xmlns:a16="http://schemas.microsoft.com/office/drawing/2014/main" id="{540E4804-C1FA-5D16-B483-91766965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20" y="3695701"/>
            <a:ext cx="4600180" cy="306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7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29C-5CB9-7A84-3DDB-D29462D9D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183A-1647-2003-37BC-78EF75EA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AU" dirty="0"/>
              <a:t>Lithium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F74F-D244-0F0A-AEC3-4D00434D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113632"/>
            <a:ext cx="7912100" cy="2853760"/>
          </a:xfrm>
        </p:spPr>
        <p:txBody>
          <a:bodyPr>
            <a:normAutofit lnSpcReduction="10000"/>
          </a:bodyPr>
          <a:lstStyle/>
          <a:p>
            <a:r>
              <a:rPr lang="en-AU" dirty="0"/>
              <a:t>Lithium is present in varying amounts in drinking water around the world</a:t>
            </a:r>
          </a:p>
          <a:p>
            <a:r>
              <a:rPr lang="en-AU" dirty="0"/>
              <a:t>High levels of lithium in the drinking water have been associated with lower rates of suicide</a:t>
            </a:r>
          </a:p>
          <a:p>
            <a:r>
              <a:rPr lang="en-AU" dirty="0"/>
              <a:t>Australian psychiatrist John Cade “rediscovered” lithium in 1949, leading to its use as a mood stabiliser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ADC34-D921-B00D-84F6-96B2129CA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50" t="26383" r="22058" b="11558"/>
          <a:stretch>
            <a:fillRect/>
          </a:stretch>
        </p:blipFill>
        <p:spPr>
          <a:xfrm>
            <a:off x="1231900" y="3871685"/>
            <a:ext cx="4864100" cy="285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5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3A54-6BCD-6848-48BC-640756E1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70E9-394A-AAA0-4763-51D22CFC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1325563"/>
          </a:xfrm>
        </p:spPr>
        <p:txBody>
          <a:bodyPr/>
          <a:lstStyle/>
          <a:p>
            <a:r>
              <a:rPr lang="en-AU" dirty="0"/>
              <a:t>Lithium: MOA for Bipolar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9F511-0C1E-4E43-058B-A16130494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031081"/>
            <a:ext cx="7150100" cy="4351338"/>
          </a:xfrm>
        </p:spPr>
        <p:txBody>
          <a:bodyPr/>
          <a:lstStyle/>
          <a:p>
            <a:r>
              <a:rPr lang="en-AU" dirty="0"/>
              <a:t>Unknown!</a:t>
            </a:r>
          </a:p>
          <a:p>
            <a:r>
              <a:rPr lang="en-AU" dirty="0"/>
              <a:t>Messy drug, impacts a lot of neurotransmitters and intracellular processes</a:t>
            </a:r>
          </a:p>
        </p:txBody>
      </p:sp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943EB773-AE5A-7073-6D5E-00980B1EA6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13"/>
          <a:stretch>
            <a:fillRect/>
          </a:stretch>
        </p:blipFill>
        <p:spPr>
          <a:xfrm>
            <a:off x="215900" y="2809637"/>
            <a:ext cx="5268191" cy="3651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A53B1-EE3B-C675-67D0-9D784670BEEC}"/>
              </a:ext>
            </a:extLst>
          </p:cNvPr>
          <p:cNvSpPr txBox="1"/>
          <p:nvPr/>
        </p:nvSpPr>
        <p:spPr>
          <a:xfrm>
            <a:off x="3295650" y="6470413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Hortelano et al., 2023</a:t>
            </a:r>
          </a:p>
        </p:txBody>
      </p:sp>
    </p:spTree>
    <p:extLst>
      <p:ext uri="{BB962C8B-B14F-4D97-AF65-F5344CB8AC3E}">
        <p14:creationId xmlns:p14="http://schemas.microsoft.com/office/powerpoint/2010/main" val="6093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BAF3-20AB-444F-D226-18FE5F45A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0F08-E74C-5E0B-BD46-65A1820C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1325563"/>
          </a:xfrm>
        </p:spPr>
        <p:txBody>
          <a:bodyPr/>
          <a:lstStyle/>
          <a:p>
            <a:r>
              <a:rPr lang="en-AU" dirty="0"/>
              <a:t>The Dopamine Drugs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B2DB-C6D0-B002-62E2-B95B5EBD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253331"/>
            <a:ext cx="7150100" cy="4351338"/>
          </a:xfrm>
        </p:spPr>
        <p:txBody>
          <a:bodyPr/>
          <a:lstStyle/>
          <a:p>
            <a:r>
              <a:rPr lang="en-AU" dirty="0"/>
              <a:t>Antipsychotics for Schizophrenia and Bipolar Disorder</a:t>
            </a:r>
          </a:p>
          <a:p>
            <a:pPr lvl="1"/>
            <a:r>
              <a:rPr lang="en-AU" dirty="0"/>
              <a:t>Dopamine antagonists</a:t>
            </a:r>
          </a:p>
          <a:p>
            <a:r>
              <a:rPr lang="en-AU" dirty="0"/>
              <a:t>Amphetamines for ADHD</a:t>
            </a:r>
          </a:p>
          <a:p>
            <a:pPr lvl="1"/>
            <a:r>
              <a:rPr lang="en-AU" dirty="0"/>
              <a:t>Dopamine agonists</a:t>
            </a:r>
          </a:p>
        </p:txBody>
      </p:sp>
      <p:pic>
        <p:nvPicPr>
          <p:cNvPr id="4" name="Picture 3" descr="Dopamine - Wikipedia">
            <a:extLst>
              <a:ext uri="{FF2B5EF4-FFF2-40B4-BE49-F238E27FC236}">
                <a16:creationId xmlns:a16="http://schemas.microsoft.com/office/drawing/2014/main" id="{D481D9F2-66A2-D3E6-3500-787102D0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4025900"/>
            <a:ext cx="3403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7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F84F0-F10A-285D-46AB-02FA36315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2AA40-C307-0FCE-0D37-2EAC2881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1325563"/>
          </a:xfrm>
        </p:spPr>
        <p:txBody>
          <a:bodyPr/>
          <a:lstStyle/>
          <a:p>
            <a:r>
              <a:rPr lang="en-AU" dirty="0"/>
              <a:t>Antipsychotics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725D9-6B45-9EEF-CA2D-64404C081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173957"/>
            <a:ext cx="6870700" cy="4351338"/>
          </a:xfrm>
        </p:spPr>
        <p:txBody>
          <a:bodyPr/>
          <a:lstStyle/>
          <a:p>
            <a:r>
              <a:rPr lang="en-AU" dirty="0"/>
              <a:t>Chlorpromazine</a:t>
            </a:r>
          </a:p>
          <a:p>
            <a:pPr lvl="1"/>
            <a:r>
              <a:rPr lang="en-AU" dirty="0"/>
              <a:t>Synthesized in 1950 by a surgeon seeking improved options for surgical anaesthetics </a:t>
            </a:r>
          </a:p>
          <a:p>
            <a:pPr lvl="1"/>
            <a:r>
              <a:rPr lang="en-AU" dirty="0"/>
              <a:t>Calming effects made it a strong candidate for psychiatric disorders</a:t>
            </a:r>
          </a:p>
          <a:p>
            <a:r>
              <a:rPr lang="en-AU" dirty="0"/>
              <a:t>Used for the first time in a “manic” patient in 1952</a:t>
            </a:r>
          </a:p>
        </p:txBody>
      </p:sp>
      <p:pic>
        <p:nvPicPr>
          <p:cNvPr id="4" name="Picture 3" descr="List of Antipsychotic Medications: Complete Guide &amp; Uses | Experience Structured Living">
            <a:extLst>
              <a:ext uri="{FF2B5EF4-FFF2-40B4-BE49-F238E27FC236}">
                <a16:creationId xmlns:a16="http://schemas.microsoft.com/office/drawing/2014/main" id="{6DB820B2-7DF2-A034-D537-C7228314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210845"/>
            <a:ext cx="46863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133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E917A-A110-17A7-BB60-9B5F5B41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15B8-4245-A5C2-677F-9B830A95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985045"/>
          </a:xfrm>
        </p:spPr>
        <p:txBody>
          <a:bodyPr/>
          <a:lstStyle/>
          <a:p>
            <a:r>
              <a:rPr lang="en-AU" dirty="0"/>
              <a:t>Antipsychotics: MOA for Schizophrenia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674F-F24D-9408-9C0A-F6B9C3FAD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963215"/>
            <a:ext cx="8077200" cy="4931569"/>
          </a:xfrm>
        </p:spPr>
        <p:txBody>
          <a:bodyPr>
            <a:normAutofit/>
          </a:bodyPr>
          <a:lstStyle/>
          <a:p>
            <a:r>
              <a:rPr lang="en-AU" sz="2400" dirty="0"/>
              <a:t>Excess dopamine activity in certain brain regions has been observed in schizophrenic patients</a:t>
            </a:r>
          </a:p>
          <a:p>
            <a:r>
              <a:rPr lang="en-AU" sz="2400" dirty="0"/>
              <a:t>This “hyperdopaminergic” activity contributes to hallucinations and delusions</a:t>
            </a:r>
          </a:p>
          <a:p>
            <a:r>
              <a:rPr lang="en-AU" sz="2400" dirty="0"/>
              <a:t>Blocking dopamine activity with antipsychotics “normalises” dopamine activity in these brain regions</a:t>
            </a:r>
          </a:p>
          <a:p>
            <a:r>
              <a:rPr lang="en-AU" sz="2400" dirty="0"/>
              <a:t>But blocking dopamine activity in </a:t>
            </a:r>
            <a:r>
              <a:rPr lang="en-AU" sz="2400" i="1" dirty="0"/>
              <a:t>other</a:t>
            </a:r>
            <a:r>
              <a:rPr lang="en-AU" sz="2400" dirty="0"/>
              <a:t> brain regions can lead to unpleasant side effects</a:t>
            </a:r>
          </a:p>
        </p:txBody>
      </p:sp>
      <p:pic>
        <p:nvPicPr>
          <p:cNvPr id="5" name="Picture 4" descr="Increased dopamine synthesis rate in medial prefrontal cortex and striatum  in schizophrenia indicated by L-(β-11C) DOPA and PET - ScienceDirect">
            <a:extLst>
              <a:ext uri="{FF2B5EF4-FFF2-40B4-BE49-F238E27FC236}">
                <a16:creationId xmlns:a16="http://schemas.microsoft.com/office/drawing/2014/main" id="{49256BC2-86E6-E0C3-4BCB-B06418EC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1336"/>
            <a:ext cx="4946650" cy="2736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C11DCD-73FF-AD3F-9FB7-88215F0E9E2E}"/>
              </a:ext>
            </a:extLst>
          </p:cNvPr>
          <p:cNvSpPr txBox="1"/>
          <p:nvPr/>
        </p:nvSpPr>
        <p:spPr>
          <a:xfrm>
            <a:off x="4946650" y="647041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Lindstrom et al., 1999</a:t>
            </a:r>
          </a:p>
        </p:txBody>
      </p:sp>
    </p:spTree>
    <p:extLst>
      <p:ext uri="{BB962C8B-B14F-4D97-AF65-F5344CB8AC3E}">
        <p14:creationId xmlns:p14="http://schemas.microsoft.com/office/powerpoint/2010/main" val="2130228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D780-3296-8396-3D7B-6379950F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72C5-0197-B9F1-D804-570462F3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1325563"/>
          </a:xfrm>
        </p:spPr>
        <p:txBody>
          <a:bodyPr/>
          <a:lstStyle/>
          <a:p>
            <a:r>
              <a:rPr lang="en-AU" dirty="0"/>
              <a:t>Amphetamines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BB878-9A38-B7F0-77DC-DFF23B86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019176"/>
            <a:ext cx="11861800" cy="4351338"/>
          </a:xfrm>
        </p:spPr>
        <p:txBody>
          <a:bodyPr/>
          <a:lstStyle/>
          <a:p>
            <a:r>
              <a:rPr lang="en-AU" dirty="0"/>
              <a:t>Synthesised in 1887</a:t>
            </a:r>
          </a:p>
          <a:p>
            <a:r>
              <a:rPr lang="en-AU" dirty="0"/>
              <a:t>Used in the 1920s/30s as an OTC medication for asthma, congestion, etc</a:t>
            </a:r>
          </a:p>
          <a:p>
            <a:r>
              <a:rPr lang="en-AU" dirty="0"/>
              <a:t>Given to soldiers in WWII to enhance performance</a:t>
            </a:r>
          </a:p>
          <a:p>
            <a:r>
              <a:rPr lang="en-AU" dirty="0"/>
              <a:t>Used as weight-loss drugs until crackdown in 1960s/1970s</a:t>
            </a:r>
          </a:p>
          <a:p>
            <a:endParaRPr lang="en-AU" dirty="0"/>
          </a:p>
        </p:txBody>
      </p:sp>
      <p:pic>
        <p:nvPicPr>
          <p:cNvPr id="4" name="Picture 3" descr="Methamphetamine history: Hilarious ads from when meth was an obesity drug |  news.com.au — Australia's leading news site for latest headlines">
            <a:extLst>
              <a:ext uri="{FF2B5EF4-FFF2-40B4-BE49-F238E27FC236}">
                <a16:creationId xmlns:a16="http://schemas.microsoft.com/office/drawing/2014/main" id="{67E14F67-1A66-5A85-7657-99FB6E847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00"/>
          <a:stretch>
            <a:fillRect/>
          </a:stretch>
        </p:blipFill>
        <p:spPr>
          <a:xfrm>
            <a:off x="1219200" y="3194845"/>
            <a:ext cx="2547511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38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A276-058C-7975-0142-16F47CA55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C736-058B-E0BE-5181-59976670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1325563"/>
          </a:xfrm>
        </p:spPr>
        <p:txBody>
          <a:bodyPr/>
          <a:lstStyle/>
          <a:p>
            <a:r>
              <a:rPr lang="en-AU" dirty="0"/>
              <a:t>Amphetamines: Use in ADHD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6F32C-C563-3DA4-0A7D-26FDB1383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343818"/>
            <a:ext cx="8102600" cy="4026696"/>
          </a:xfrm>
        </p:spPr>
        <p:txBody>
          <a:bodyPr/>
          <a:lstStyle/>
          <a:p>
            <a:r>
              <a:rPr lang="en-AU" dirty="0"/>
              <a:t>First administered to children in 1937 by Charles Bradly to improve school performance in “troublesome children”</a:t>
            </a:r>
          </a:p>
          <a:p>
            <a:r>
              <a:rPr lang="en-AU" dirty="0"/>
              <a:t>It worked… </a:t>
            </a:r>
          </a:p>
          <a:p>
            <a:endParaRPr lang="en-AU" dirty="0"/>
          </a:p>
        </p:txBody>
      </p:sp>
      <p:pic>
        <p:nvPicPr>
          <p:cNvPr id="5" name="Picture 4" descr="Drug Free Treatment">
            <a:extLst>
              <a:ext uri="{FF2B5EF4-FFF2-40B4-BE49-F238E27FC236}">
                <a16:creationId xmlns:a16="http://schemas.microsoft.com/office/drawing/2014/main" id="{B806532C-4E27-E824-682C-F5D320918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3357166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2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E6C8-AE67-2BD9-3C71-4C09913A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DEFED-E83B-9EB9-D81F-C8DD3119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985045"/>
          </a:xfrm>
        </p:spPr>
        <p:txBody>
          <a:bodyPr/>
          <a:lstStyle/>
          <a:p>
            <a:r>
              <a:rPr lang="en-AU" dirty="0"/>
              <a:t>Amphetamines: MOA for ADHD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F7A0A-23D2-789D-452C-691BB6C1D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208643"/>
            <a:ext cx="7594600" cy="4931569"/>
          </a:xfrm>
        </p:spPr>
        <p:txBody>
          <a:bodyPr>
            <a:normAutofit/>
          </a:bodyPr>
          <a:lstStyle/>
          <a:p>
            <a:r>
              <a:rPr lang="en-AU" sz="3200" dirty="0"/>
              <a:t>Some evidence of impaired dopamine activity in ADHD</a:t>
            </a:r>
          </a:p>
          <a:p>
            <a:r>
              <a:rPr lang="en-AU" sz="3200" dirty="0"/>
              <a:t>Complex condition, still under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363543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9441-24DD-14D9-BE55-1FF97D6C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A250-127D-DC2C-E8A8-E6617FE8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985045"/>
          </a:xfrm>
        </p:spPr>
        <p:txBody>
          <a:bodyPr/>
          <a:lstStyle/>
          <a:p>
            <a:r>
              <a:rPr lang="en-AU" dirty="0"/>
              <a:t>Benzodiazepines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033F-CE0D-473F-C603-34E81BD9F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963215"/>
            <a:ext cx="6451600" cy="5412185"/>
          </a:xfrm>
        </p:spPr>
        <p:txBody>
          <a:bodyPr>
            <a:normAutofit/>
          </a:bodyPr>
          <a:lstStyle/>
          <a:p>
            <a:r>
              <a:rPr lang="en-AU" sz="3200" dirty="0"/>
              <a:t>Valium, Xanax, etc</a:t>
            </a:r>
          </a:p>
          <a:p>
            <a:r>
              <a:rPr lang="en-AU" sz="3200" dirty="0"/>
              <a:t>First synthesised in 1955 as an alternative to barbiturates</a:t>
            </a:r>
          </a:p>
          <a:p>
            <a:r>
              <a:rPr lang="en-AU" sz="3200" dirty="0"/>
              <a:t>Huge hit!</a:t>
            </a:r>
          </a:p>
          <a:p>
            <a:r>
              <a:rPr lang="en-AU" sz="3200" dirty="0"/>
              <a:t>Most highly prescribed drugs in the world by 1977</a:t>
            </a:r>
          </a:p>
          <a:p>
            <a:r>
              <a:rPr lang="en-AU" sz="3200" dirty="0"/>
              <a:t>Restricted in the 1980s due to</a:t>
            </a:r>
          </a:p>
          <a:p>
            <a:pPr lvl="1"/>
            <a:r>
              <a:rPr lang="en-AU" sz="2800" dirty="0"/>
              <a:t>Concerns about dependence</a:t>
            </a:r>
          </a:p>
          <a:p>
            <a:pPr lvl="1"/>
            <a:r>
              <a:rPr lang="en-AU" sz="2800" dirty="0"/>
              <a:t>Increasing popularity of SSRIs</a:t>
            </a:r>
          </a:p>
          <a:p>
            <a:endParaRPr lang="en-AU" sz="3200" dirty="0"/>
          </a:p>
        </p:txBody>
      </p:sp>
      <p:pic>
        <p:nvPicPr>
          <p:cNvPr id="4" name="Picture 3" descr="Challenging ideas in mental health: 3.4 Benzodiazepine tranquillisers,  Prozac and the SSRIs | OpenLearn - Open University">
            <a:extLst>
              <a:ext uri="{FF2B5EF4-FFF2-40B4-BE49-F238E27FC236}">
                <a16:creationId xmlns:a16="http://schemas.microsoft.com/office/drawing/2014/main" id="{BF55AE5C-CD8E-EE10-D813-A53D3AF24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0" y="18255"/>
            <a:ext cx="3848100" cy="286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1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888F-647E-284F-8263-91F14759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7DEA8-91BA-C6C2-FD1D-70EB2E29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976100" cy="985045"/>
          </a:xfrm>
        </p:spPr>
        <p:txBody>
          <a:bodyPr/>
          <a:lstStyle/>
          <a:p>
            <a:r>
              <a:rPr lang="en-AU" dirty="0"/>
              <a:t>Benzodiazepines: MOA for anxiety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E1C53-070C-2A0B-F2AD-C73D6366A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963215"/>
            <a:ext cx="7594600" cy="4931569"/>
          </a:xfrm>
        </p:spPr>
        <p:txBody>
          <a:bodyPr>
            <a:normAutofit/>
          </a:bodyPr>
          <a:lstStyle/>
          <a:p>
            <a:r>
              <a:rPr lang="en-AU" sz="3200" dirty="0"/>
              <a:t>GABA Agonist (increases inhibitory neurotransmission)</a:t>
            </a:r>
          </a:p>
          <a:p>
            <a:r>
              <a:rPr lang="en-AU" sz="3200" dirty="0"/>
              <a:t>At low doses, selectively reduces neural activity in areas like the prefrontal cortex and amygdala</a:t>
            </a:r>
          </a:p>
          <a:p>
            <a:r>
              <a:rPr lang="en-AU" sz="3200" dirty="0"/>
              <a:t>At higher doses, causes sedation</a:t>
            </a:r>
          </a:p>
          <a:p>
            <a:r>
              <a:rPr lang="en-AU" sz="3200" dirty="0"/>
              <a:t>Highly effective</a:t>
            </a:r>
          </a:p>
          <a:p>
            <a:r>
              <a:rPr lang="en-AU" sz="3200" dirty="0"/>
              <a:t>Potentially addictive</a:t>
            </a:r>
          </a:p>
          <a:p>
            <a:pPr lvl="1"/>
            <a:r>
              <a:rPr lang="en-AU" sz="2800" dirty="0"/>
              <a:t>Intended for short-term use only!</a:t>
            </a:r>
          </a:p>
          <a:p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9346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5DD4-239C-0BC9-560A-93AD240A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3978-FC21-C44A-2E00-3D40CEAD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696700" cy="1325563"/>
          </a:xfrm>
        </p:spPr>
        <p:txBody>
          <a:bodyPr/>
          <a:lstStyle/>
          <a:p>
            <a:r>
              <a:rPr lang="en-AU" dirty="0"/>
              <a:t>Antidepressants and the “Monoamine Hypothesis”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538C-A150-B7A5-4C23-59A2D3AF2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531" y="1110984"/>
            <a:ext cx="6896100" cy="2982915"/>
          </a:xfrm>
        </p:spPr>
        <p:txBody>
          <a:bodyPr>
            <a:normAutofit/>
          </a:bodyPr>
          <a:lstStyle/>
          <a:p>
            <a:r>
              <a:rPr lang="en-AU" dirty="0"/>
              <a:t>Earliest antidepressants (1950s):</a:t>
            </a:r>
          </a:p>
          <a:p>
            <a:pPr lvl="1"/>
            <a:r>
              <a:rPr lang="en-AU" dirty="0"/>
              <a:t>Monoamine oxidase inhibitors (MAOIs)</a:t>
            </a:r>
          </a:p>
          <a:p>
            <a:pPr lvl="2"/>
            <a:r>
              <a:rPr lang="en-AU" dirty="0"/>
              <a:t>Discovered while searching for antitubercular medications</a:t>
            </a:r>
          </a:p>
          <a:p>
            <a:pPr lvl="1"/>
            <a:r>
              <a:rPr lang="en-AU" dirty="0"/>
              <a:t>Tricyclic Antidepressants</a:t>
            </a:r>
          </a:p>
          <a:p>
            <a:pPr lvl="2"/>
            <a:r>
              <a:rPr lang="en-AU" dirty="0"/>
              <a:t>Discovered while searching for effective antipsychotics</a:t>
            </a:r>
          </a:p>
          <a:p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7371ED-0DD7-90EA-E13B-BD607C274AD2}"/>
              </a:ext>
            </a:extLst>
          </p:cNvPr>
          <p:cNvSpPr txBox="1">
            <a:spLocks/>
          </p:cNvSpPr>
          <p:nvPr/>
        </p:nvSpPr>
        <p:spPr>
          <a:xfrm>
            <a:off x="16668" y="4101045"/>
            <a:ext cx="6794500" cy="2705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First “intentionally designed” psychotropic medication:</a:t>
            </a:r>
          </a:p>
          <a:p>
            <a:pPr lvl="1"/>
            <a:r>
              <a:rPr lang="en-AU" dirty="0"/>
              <a:t>Selective Serotonin Reuptake Inhibitors (SSRIs)</a:t>
            </a:r>
          </a:p>
          <a:p>
            <a:pPr lvl="1"/>
            <a:r>
              <a:rPr lang="en-AU" dirty="0"/>
              <a:t>Developed in 1970s, rolled out in 1980s</a:t>
            </a:r>
          </a:p>
          <a:p>
            <a:pPr lvl="1"/>
            <a:r>
              <a:rPr lang="en-AU" dirty="0"/>
              <a:t>Most widely prescribed psychiatric medications in the world</a:t>
            </a:r>
          </a:p>
          <a:p>
            <a:endParaRPr lang="en-AU" dirty="0"/>
          </a:p>
        </p:txBody>
      </p:sp>
      <p:pic>
        <p:nvPicPr>
          <p:cNvPr id="6" name="Picture 5" descr="Focus on wellness: Depression is a serious illness | Hub">
            <a:extLst>
              <a:ext uri="{FF2B5EF4-FFF2-40B4-BE49-F238E27FC236}">
                <a16:creationId xmlns:a16="http://schemas.microsoft.com/office/drawing/2014/main" id="{5314A361-35B8-7EA5-C924-07F07D9E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1592"/>
            <a:ext cx="4402137" cy="293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71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40F12-EF3F-95F1-4867-4B5F1191D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A71-F61B-615B-7B95-8C45801B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696700" cy="1325563"/>
          </a:xfrm>
        </p:spPr>
        <p:txBody>
          <a:bodyPr/>
          <a:lstStyle/>
          <a:p>
            <a:r>
              <a:rPr lang="en-AU" dirty="0"/>
              <a:t>The Monoamine Hypothesis of Depression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911FF-F594-679F-47BB-85EE1319B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51731"/>
            <a:ext cx="7124700" cy="3699669"/>
          </a:xfrm>
        </p:spPr>
        <p:txBody>
          <a:bodyPr/>
          <a:lstStyle/>
          <a:p>
            <a:r>
              <a:rPr lang="en-AU" dirty="0"/>
              <a:t>Antidepressants work by increasing monoamines (serotonin, norepinephrine, dopamine), ergo depression is caused by not having enough monoamines (particularly serotonin)</a:t>
            </a:r>
          </a:p>
          <a:p>
            <a:r>
              <a:rPr lang="en-AU" dirty="0"/>
              <a:t>FALSE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66348-83B0-5725-0677-8A505AB506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05" t="24545" r="39870" b="24121"/>
          <a:stretch>
            <a:fillRect/>
          </a:stretch>
        </p:blipFill>
        <p:spPr>
          <a:xfrm>
            <a:off x="228600" y="3691782"/>
            <a:ext cx="5588474" cy="29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60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145B-C0C6-9490-4A2E-EC4FC5E7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5A96C-9265-91C2-3583-2552BF42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696700" cy="1325563"/>
          </a:xfrm>
        </p:spPr>
        <p:txBody>
          <a:bodyPr/>
          <a:lstStyle/>
          <a:p>
            <a:r>
              <a:rPr lang="en-AU" dirty="0"/>
              <a:t>The Monoamine Hypothesis of Depression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5D6E6-B229-818E-9AD6-CA1C40436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51731"/>
            <a:ext cx="7200900" cy="4207669"/>
          </a:xfrm>
        </p:spPr>
        <p:txBody>
          <a:bodyPr>
            <a:normAutofit/>
          </a:bodyPr>
          <a:lstStyle/>
          <a:p>
            <a:r>
              <a:rPr lang="en-AU" dirty="0"/>
              <a:t>Antidepressants work by increasing monoamines (serotonin, norepinephrine, dopamine), ergo depression is caused by not having enough monoamines (particularly serotonin)</a:t>
            </a:r>
          </a:p>
          <a:p>
            <a:r>
              <a:rPr lang="en-AU" dirty="0"/>
              <a:t>FALSE</a:t>
            </a:r>
          </a:p>
          <a:p>
            <a:r>
              <a:rPr lang="en-AU" dirty="0"/>
              <a:t>BUT! Just because they don’t work like we thought they did, doesn’t mean they don’t work.</a:t>
            </a:r>
          </a:p>
        </p:txBody>
      </p:sp>
    </p:spTree>
    <p:extLst>
      <p:ext uri="{BB962C8B-B14F-4D97-AF65-F5344CB8AC3E}">
        <p14:creationId xmlns:p14="http://schemas.microsoft.com/office/powerpoint/2010/main" val="4209978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F059-9D9C-C520-5BE8-E3C94C0B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C634-C61B-1E9D-23A6-89EF1CAC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696700" cy="1325563"/>
          </a:xfrm>
        </p:spPr>
        <p:txBody>
          <a:bodyPr/>
          <a:lstStyle/>
          <a:p>
            <a:r>
              <a:rPr lang="en-AU" dirty="0"/>
              <a:t>Chronic SSRIs promote dendritic spine growth in the hippocampus</a:t>
            </a:r>
          </a:p>
        </p:txBody>
      </p:sp>
      <p:pic>
        <p:nvPicPr>
          <p:cNvPr id="6" name="Picture 5" descr="Figure 1">
            <a:extLst>
              <a:ext uri="{FF2B5EF4-FFF2-40B4-BE49-F238E27FC236}">
                <a16:creationId xmlns:a16="http://schemas.microsoft.com/office/drawing/2014/main" id="{628C0E3C-FA3B-031E-58C4-A4785D739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" y="1543050"/>
            <a:ext cx="4870450" cy="4870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7BA7DB-1F70-FEFF-D54D-28802B2A734B}"/>
              </a:ext>
            </a:extLst>
          </p:cNvPr>
          <p:cNvSpPr txBox="1"/>
          <p:nvPr/>
        </p:nvSpPr>
        <p:spPr>
          <a:xfrm>
            <a:off x="3403600" y="6488668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Rubio et al., 2013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3E972-FB2E-EFE7-703D-D79E5925EFCF}"/>
              </a:ext>
            </a:extLst>
          </p:cNvPr>
          <p:cNvSpPr txBox="1"/>
          <p:nvPr/>
        </p:nvSpPr>
        <p:spPr>
          <a:xfrm>
            <a:off x="5156200" y="1543050"/>
            <a:ext cx="340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Long-term (chronic) use of antidepressants increases plasticity in the hippocampus</a:t>
            </a:r>
          </a:p>
        </p:txBody>
      </p:sp>
    </p:spTree>
    <p:extLst>
      <p:ext uri="{BB962C8B-B14F-4D97-AF65-F5344CB8AC3E}">
        <p14:creationId xmlns:p14="http://schemas.microsoft.com/office/powerpoint/2010/main" val="516226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0B04-8CDD-1006-1EBB-D38108F2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AU" dirty="0"/>
              <a:t>Novel Pharmacotherapies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936E-7455-CAC3-1E3E-70309C4B3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3818"/>
            <a:ext cx="6540500" cy="5044281"/>
          </a:xfrm>
        </p:spPr>
        <p:txBody>
          <a:bodyPr/>
          <a:lstStyle/>
          <a:p>
            <a:r>
              <a:rPr lang="en-AU" dirty="0"/>
              <a:t>Period of stagnation in the development of new psychiatric med occurred between 1987 (official roll-out of Prozac) and 2019…</a:t>
            </a:r>
          </a:p>
        </p:txBody>
      </p:sp>
      <p:pic>
        <p:nvPicPr>
          <p:cNvPr id="4" name="Picture 3" descr="First look at LSD in action reveals acid-trip biochemistry | Nature">
            <a:extLst>
              <a:ext uri="{FF2B5EF4-FFF2-40B4-BE49-F238E27FC236}">
                <a16:creationId xmlns:a16="http://schemas.microsoft.com/office/drawing/2014/main" id="{8AEAB6EC-28CB-662A-A032-5AE8A2C0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289300"/>
            <a:ext cx="4718050" cy="332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70D5-A147-D125-BFEC-84B8D308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0C66-DE04-AA4B-0C7E-602F55DD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464800" cy="1325563"/>
          </a:xfrm>
        </p:spPr>
        <p:txBody>
          <a:bodyPr>
            <a:normAutofit/>
          </a:bodyPr>
          <a:lstStyle/>
          <a:p>
            <a:r>
              <a:rPr lang="en-AU" sz="4000" dirty="0"/>
              <a:t>The promise of plasticity-promoting drugs in treating depression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BCFD6-CC1C-6ECD-BA51-F45D56D7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343818"/>
            <a:ext cx="9334500" cy="3699669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Treatment-Resistant Depression</a:t>
            </a:r>
          </a:p>
          <a:p>
            <a:r>
              <a:rPr lang="en-AU" dirty="0"/>
              <a:t>Ketamine (FDA approval 2019, TGA approval 2021)</a:t>
            </a:r>
          </a:p>
          <a:p>
            <a:r>
              <a:rPr lang="en-AU" dirty="0"/>
              <a:t>Psilocybin/Psilocybin-assisted psychotherapy (TGA approval 2023)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430A00-6B5F-2822-6367-0B6CD407F6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49" t="26807" r="32680" b="28644"/>
          <a:stretch>
            <a:fillRect/>
          </a:stretch>
        </p:blipFill>
        <p:spPr>
          <a:xfrm>
            <a:off x="0" y="3643733"/>
            <a:ext cx="5710355" cy="3214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3F5EEB-9716-3ECD-0EEB-A0F07EA00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93" t="36411" r="35620" b="34673"/>
          <a:stretch>
            <a:fillRect/>
          </a:stretch>
        </p:blipFill>
        <p:spPr>
          <a:xfrm>
            <a:off x="2374900" y="3174479"/>
            <a:ext cx="5422900" cy="172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34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58AD8-F684-0634-C9DB-4CE2EEAC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38A3-7A30-3353-FD60-D4326585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696700" cy="940594"/>
          </a:xfrm>
        </p:spPr>
        <p:txBody>
          <a:bodyPr/>
          <a:lstStyle/>
          <a:p>
            <a:r>
              <a:rPr lang="en-AU" dirty="0"/>
              <a:t>MDMA-assisted psychotherapy for PTSD </a:t>
            </a:r>
          </a:p>
        </p:txBody>
      </p:sp>
      <p:pic>
        <p:nvPicPr>
          <p:cNvPr id="4" name="Picture 3" descr="Fig. 2">
            <a:extLst>
              <a:ext uri="{FF2B5EF4-FFF2-40B4-BE49-F238E27FC236}">
                <a16:creationId xmlns:a16="http://schemas.microsoft.com/office/drawing/2014/main" id="{7B67D783-7696-06FC-FC20-AFF540040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" y="924391"/>
            <a:ext cx="2875939" cy="5915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A58AE-9B0C-0369-AB42-69902820379D}"/>
              </a:ext>
            </a:extLst>
          </p:cNvPr>
          <p:cNvSpPr txBox="1"/>
          <p:nvPr/>
        </p:nvSpPr>
        <p:spPr>
          <a:xfrm>
            <a:off x="3041039" y="6470412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Mitchell et al., 2021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E36B4F-7D5B-F9E2-2547-10411F1F19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40" t="12313" r="15032" b="6031"/>
          <a:stretch>
            <a:fillRect/>
          </a:stretch>
        </p:blipFill>
        <p:spPr>
          <a:xfrm>
            <a:off x="3181350" y="924391"/>
            <a:ext cx="4516885" cy="349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9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049D-B777-5B51-6BB2-0C4C69657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5F9B-15F4-F168-8F54-6EE2D781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696700" cy="940594"/>
          </a:xfrm>
        </p:spPr>
        <p:txBody>
          <a:bodyPr/>
          <a:lstStyle/>
          <a:p>
            <a:r>
              <a:rPr lang="en-AU" dirty="0"/>
              <a:t>MDMA-assisted psychotherapy for PTSD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EF7A-0E00-CECC-697B-0ACD3B423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958850"/>
            <a:ext cx="9334500" cy="3699669"/>
          </a:xfrm>
        </p:spPr>
        <p:txBody>
          <a:bodyPr/>
          <a:lstStyle/>
          <a:p>
            <a:pPr marL="0" indent="0">
              <a:buNone/>
            </a:pPr>
            <a:r>
              <a:rPr lang="en-AU" sz="3200" b="1" dirty="0"/>
              <a:t>MOA</a:t>
            </a:r>
          </a:p>
          <a:p>
            <a:r>
              <a:rPr lang="en-AU" dirty="0"/>
              <a:t>Increases monoamines, neuroplasticity, and oxytocin</a:t>
            </a:r>
          </a:p>
          <a:p>
            <a:r>
              <a:rPr lang="en-AU" dirty="0"/>
              <a:t>Decreases stress response, promotes social bonding</a:t>
            </a:r>
          </a:p>
          <a:p>
            <a:r>
              <a:rPr lang="en-AU" dirty="0"/>
              <a:t>Inhibits fear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6AADB-D793-8623-2A55-091E6EE01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2" b="17067"/>
          <a:stretch>
            <a:fillRect/>
          </a:stretch>
        </p:blipFill>
        <p:spPr>
          <a:xfrm>
            <a:off x="330200" y="3302000"/>
            <a:ext cx="6464300" cy="341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48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933A-0DA3-1071-2F9A-57C974567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D1F9-24E9-BA82-E1F8-6ECB5841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696700" cy="1325563"/>
          </a:xfrm>
        </p:spPr>
        <p:txBody>
          <a:bodyPr/>
          <a:lstStyle/>
          <a:p>
            <a:r>
              <a:rPr lang="en-AU" dirty="0"/>
              <a:t>Ketamine, Psilocybin, MDMA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56FC-75F5-B4B3-74AD-E187A9B4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79486"/>
            <a:ext cx="5143500" cy="568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Advantages:</a:t>
            </a:r>
          </a:p>
          <a:p>
            <a:r>
              <a:rPr lang="en-AU" sz="2400" dirty="0"/>
              <a:t>Rapidly-acting</a:t>
            </a:r>
          </a:p>
          <a:p>
            <a:r>
              <a:rPr lang="en-AU" sz="2400" dirty="0"/>
              <a:t>Effects can be strong and sustained</a:t>
            </a:r>
          </a:p>
          <a:p>
            <a:r>
              <a:rPr lang="en-AU" sz="2400" dirty="0"/>
              <a:t>Doesn’t require daily pills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C50E27-2111-582B-D421-5A948CB2EF4E}"/>
              </a:ext>
            </a:extLst>
          </p:cNvPr>
          <p:cNvSpPr txBox="1">
            <a:spLocks/>
          </p:cNvSpPr>
          <p:nvPr/>
        </p:nvSpPr>
        <p:spPr>
          <a:xfrm>
            <a:off x="5949964" y="979486"/>
            <a:ext cx="5867400" cy="5688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/>
              <a:t>Disadvantages:</a:t>
            </a:r>
          </a:p>
          <a:p>
            <a:r>
              <a:rPr lang="en-AU" sz="2400" dirty="0"/>
              <a:t>Expensive to access</a:t>
            </a:r>
          </a:p>
          <a:p>
            <a:r>
              <a:rPr lang="en-AU" sz="2400" dirty="0"/>
              <a:t>Usually requires monitoring/treatment by psychiatrist and psychologist</a:t>
            </a:r>
          </a:p>
          <a:p>
            <a:r>
              <a:rPr lang="en-AU" sz="2400" dirty="0"/>
              <a:t>Optimal treatment protocols still being developed </a:t>
            </a:r>
          </a:p>
          <a:p>
            <a:r>
              <a:rPr lang="en-AU" sz="2400" dirty="0"/>
              <a:t>Risks still being assessed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F97A6-4F7A-4FF5-EB0F-FA89D3EBB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37" t="11810" r="28105" b="54774"/>
          <a:stretch>
            <a:fillRect/>
          </a:stretch>
        </p:blipFill>
        <p:spPr>
          <a:xfrm>
            <a:off x="228600" y="4175591"/>
            <a:ext cx="4902172" cy="19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5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6F753-95B1-5008-464E-F103220E3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934245"/>
          </a:xfrm>
        </p:spPr>
        <p:txBody>
          <a:bodyPr/>
          <a:lstStyle/>
          <a:p>
            <a:r>
              <a:rPr lang="en-AU" dirty="0"/>
              <a:t>Summary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4A4D-30AE-708A-43E2-C7BB8144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00100"/>
            <a:ext cx="7734300" cy="5887245"/>
          </a:xfrm>
        </p:spPr>
        <p:txBody>
          <a:bodyPr>
            <a:normAutofit lnSpcReduction="10000"/>
          </a:bodyPr>
          <a:lstStyle/>
          <a:p>
            <a:r>
              <a:rPr lang="en-AU" sz="2400" dirty="0"/>
              <a:t>1920s/30s</a:t>
            </a:r>
          </a:p>
          <a:p>
            <a:pPr lvl="1"/>
            <a:r>
              <a:rPr lang="en-AU" sz="2000" dirty="0"/>
              <a:t>Amphetamines</a:t>
            </a:r>
          </a:p>
          <a:p>
            <a:r>
              <a:rPr lang="en-AU" sz="2400" dirty="0"/>
              <a:t>1950s</a:t>
            </a:r>
          </a:p>
          <a:p>
            <a:pPr lvl="1"/>
            <a:r>
              <a:rPr lang="en-AU" sz="2000" dirty="0"/>
              <a:t>First “boom” in psychiatric medications</a:t>
            </a:r>
          </a:p>
          <a:p>
            <a:pPr lvl="1"/>
            <a:r>
              <a:rPr lang="en-AU" sz="2000" dirty="0"/>
              <a:t>Lithium, antipsychotics, benzodiazepines, first-gen antidepressants (TCAs and MAOIs)</a:t>
            </a:r>
          </a:p>
          <a:p>
            <a:r>
              <a:rPr lang="en-AU" sz="2400" i="1" dirty="0"/>
              <a:t>1960s</a:t>
            </a:r>
          </a:p>
          <a:p>
            <a:pPr lvl="1"/>
            <a:r>
              <a:rPr lang="en-AU" sz="2000" i="1" dirty="0"/>
              <a:t>First psychedelic boom in research, ruined for decades by overly “enthusiastic” researchers </a:t>
            </a:r>
          </a:p>
          <a:p>
            <a:r>
              <a:rPr lang="en-AU" sz="2400" i="1" dirty="0"/>
              <a:t>1970s</a:t>
            </a:r>
          </a:p>
          <a:p>
            <a:pPr lvl="1"/>
            <a:r>
              <a:rPr lang="en-AU" sz="2000" i="1" dirty="0"/>
              <a:t>MDMA began to be used for trauma therapy before it became a popular club drug and was quickly restricted</a:t>
            </a:r>
          </a:p>
          <a:p>
            <a:r>
              <a:rPr lang="en-AU" sz="2400" dirty="0"/>
              <a:t>1980s</a:t>
            </a:r>
          </a:p>
          <a:p>
            <a:pPr lvl="1"/>
            <a:r>
              <a:rPr lang="en-AU" sz="2000" dirty="0"/>
              <a:t>SSRIs</a:t>
            </a:r>
          </a:p>
          <a:p>
            <a:r>
              <a:rPr lang="en-AU" sz="2400" dirty="0"/>
              <a:t>2000s</a:t>
            </a:r>
          </a:p>
          <a:p>
            <a:pPr lvl="1"/>
            <a:r>
              <a:rPr lang="en-AU" sz="2000" dirty="0"/>
              <a:t>Antidepressant effects of low-dose ketamine discovered</a:t>
            </a:r>
          </a:p>
          <a:p>
            <a:pPr lvl="1"/>
            <a:r>
              <a:rPr lang="en-AU" sz="2000" dirty="0"/>
              <a:t>Rediscovery of therapeutic benefits of psilocybin and MDMA</a:t>
            </a:r>
          </a:p>
        </p:txBody>
      </p:sp>
    </p:spTree>
    <p:extLst>
      <p:ext uri="{BB962C8B-B14F-4D97-AF65-F5344CB8AC3E}">
        <p14:creationId xmlns:p14="http://schemas.microsoft.com/office/powerpoint/2010/main" val="3130982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67F92-788D-9633-3C3C-079D9743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2443-E571-8F23-E17B-ABEB06B18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AU" sz="3600" dirty="0"/>
              <a:t>Summary: How do psychiatric medications improve symptoms?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20DC-C18C-5966-AEBB-DF116E51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65226"/>
            <a:ext cx="6705600" cy="5692774"/>
          </a:xfrm>
        </p:spPr>
        <p:txBody>
          <a:bodyPr>
            <a:normAutofit lnSpcReduction="10000"/>
          </a:bodyPr>
          <a:lstStyle/>
          <a:p>
            <a:r>
              <a:rPr lang="en-AU" dirty="0"/>
              <a:t>Correcting an abnormality in neural function</a:t>
            </a:r>
          </a:p>
          <a:p>
            <a:pPr lvl="1"/>
            <a:r>
              <a:rPr lang="en-AU" dirty="0"/>
              <a:t>Antipsychotics</a:t>
            </a:r>
          </a:p>
          <a:p>
            <a:r>
              <a:rPr lang="en-AU" dirty="0"/>
              <a:t>Reducing or increasing general activity</a:t>
            </a:r>
          </a:p>
          <a:p>
            <a:pPr lvl="1"/>
            <a:r>
              <a:rPr lang="en-AU" dirty="0"/>
              <a:t>Anxiolytics (benzodiazepines)</a:t>
            </a:r>
          </a:p>
          <a:p>
            <a:pPr lvl="1"/>
            <a:r>
              <a:rPr lang="en-AU" dirty="0"/>
              <a:t>Stimulants (amphetamines)</a:t>
            </a:r>
          </a:p>
          <a:p>
            <a:r>
              <a:rPr lang="en-AU" dirty="0"/>
              <a:t>Increasing neuroplasticity</a:t>
            </a:r>
          </a:p>
          <a:p>
            <a:pPr lvl="1"/>
            <a:r>
              <a:rPr lang="en-AU" dirty="0"/>
              <a:t>Antidepressants</a:t>
            </a:r>
          </a:p>
          <a:p>
            <a:r>
              <a:rPr lang="en-AU" dirty="0"/>
              <a:t>Increasing effects of cognitive behavioural therapy (“pharmacological adjuncts” to therapy)</a:t>
            </a:r>
          </a:p>
          <a:p>
            <a:pPr lvl="1"/>
            <a:r>
              <a:rPr lang="en-AU" dirty="0"/>
              <a:t>MDMA</a:t>
            </a:r>
          </a:p>
          <a:p>
            <a:pPr lvl="1"/>
            <a:r>
              <a:rPr lang="en-AU" dirty="0"/>
              <a:t>Psilocybin </a:t>
            </a:r>
          </a:p>
          <a:p>
            <a:pPr lvl="1"/>
            <a:r>
              <a:rPr lang="en-AU" dirty="0"/>
              <a:t>“Cognitive enhancers”</a:t>
            </a:r>
          </a:p>
        </p:txBody>
      </p:sp>
    </p:spTree>
    <p:extLst>
      <p:ext uri="{BB962C8B-B14F-4D97-AF65-F5344CB8AC3E}">
        <p14:creationId xmlns:p14="http://schemas.microsoft.com/office/powerpoint/2010/main" val="17495731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7C50-1912-F155-B805-2E88FBD1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9709-0DC4-0A56-8131-585DBF118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AU" dirty="0"/>
              <a:t>Cognitive enhancers and animal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56039-4921-4118-D358-B974813AD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65226"/>
            <a:ext cx="11290300" cy="5413374"/>
          </a:xfrm>
        </p:spPr>
        <p:txBody>
          <a:bodyPr>
            <a:normAutofit/>
          </a:bodyPr>
          <a:lstStyle/>
          <a:p>
            <a:r>
              <a:rPr lang="en-AU" dirty="0"/>
              <a:t>Fear extinction is used as a model of exposure therapy</a:t>
            </a:r>
          </a:p>
          <a:p>
            <a:r>
              <a:rPr lang="en-AU" dirty="0"/>
              <a:t>Can “cognitive enhancers” improve the effects of extinction?</a:t>
            </a:r>
          </a:p>
          <a:p>
            <a:r>
              <a:rPr lang="en-AU" dirty="0"/>
              <a:t>An example: DCS</a:t>
            </a:r>
          </a:p>
        </p:txBody>
      </p:sp>
      <p:pic>
        <p:nvPicPr>
          <p:cNvPr id="4" name="Picture 3" descr="Figure 4">
            <a:extLst>
              <a:ext uri="{FF2B5EF4-FFF2-40B4-BE49-F238E27FC236}">
                <a16:creationId xmlns:a16="http://schemas.microsoft.com/office/drawing/2014/main" id="{5E6385DB-2ED9-2F67-129F-D108BA28A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812344"/>
            <a:ext cx="7180832" cy="3527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BEF93-BA56-DB34-2FCE-F8A16B10A98F}"/>
              </a:ext>
            </a:extLst>
          </p:cNvPr>
          <p:cNvSpPr txBox="1"/>
          <p:nvPr/>
        </p:nvSpPr>
        <p:spPr>
          <a:xfrm>
            <a:off x="5073650" y="6393934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McCallum et al., 2010</a:t>
            </a:r>
          </a:p>
        </p:txBody>
      </p:sp>
    </p:spTree>
    <p:extLst>
      <p:ext uri="{BB962C8B-B14F-4D97-AF65-F5344CB8AC3E}">
        <p14:creationId xmlns:p14="http://schemas.microsoft.com/office/powerpoint/2010/main" val="709414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965</Words>
  <Application>Microsoft Macintosh PowerPoint</Application>
  <PresentationFormat>Widescreen</PresentationFormat>
  <Paragraphs>153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Good Drugs (Psychopharmacology)</vt:lpstr>
      <vt:lpstr>Psychiatric Medications</vt:lpstr>
      <vt:lpstr>Psychiatric Medications</vt:lpstr>
      <vt:lpstr>Mechanism of Action (MOA)</vt:lpstr>
      <vt:lpstr>How do we identify effective treatments?</vt:lpstr>
      <vt:lpstr>How do we identify effective treatments?</vt:lpstr>
      <vt:lpstr>Lithium</vt:lpstr>
      <vt:lpstr>Lithium</vt:lpstr>
      <vt:lpstr>Lithium: MOA for Bipolar Disorder</vt:lpstr>
      <vt:lpstr>The Dopamine Drugs</vt:lpstr>
      <vt:lpstr>Antipsychotics</vt:lpstr>
      <vt:lpstr>Antipsychotics: MOA for Schizophrenia</vt:lpstr>
      <vt:lpstr>Amphetamines </vt:lpstr>
      <vt:lpstr>Amphetamines: Use in ADHD</vt:lpstr>
      <vt:lpstr>Amphetamines: MOA for ADHD</vt:lpstr>
      <vt:lpstr>Benzodiazepines</vt:lpstr>
      <vt:lpstr>Benzodiazepines: MOA for anxiety</vt:lpstr>
      <vt:lpstr>Antidepressants and the “Monoamine Hypothesis”</vt:lpstr>
      <vt:lpstr>The Monoamine Hypothesis of Depression</vt:lpstr>
      <vt:lpstr>The Monoamine Hypothesis of Depression</vt:lpstr>
      <vt:lpstr>Chronic SSRIs promote dendritic spine growth in the hippocampus</vt:lpstr>
      <vt:lpstr>Novel Pharmacotherapies</vt:lpstr>
      <vt:lpstr>The promise of plasticity-promoting drugs in treating depression </vt:lpstr>
      <vt:lpstr>MDMA-assisted psychotherapy for PTSD </vt:lpstr>
      <vt:lpstr>MDMA-assisted psychotherapy for PTSD </vt:lpstr>
      <vt:lpstr>Ketamine, Psilocybin, MDMA</vt:lpstr>
      <vt:lpstr>Summary Timeline</vt:lpstr>
      <vt:lpstr>Summary: How do psychiatric medications improve symptoms?</vt:lpstr>
      <vt:lpstr>Cognitive enhancers and animal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Kelsey Zimmermann</dc:creator>
  <cp:lastModifiedBy>Microsoft Office User</cp:lastModifiedBy>
  <cp:revision>21</cp:revision>
  <dcterms:created xsi:type="dcterms:W3CDTF">2026-10-04T10:30:21Z</dcterms:created>
  <dcterms:modified xsi:type="dcterms:W3CDTF">2026-10-07T12:26:10Z</dcterms:modified>
</cp:coreProperties>
</file>