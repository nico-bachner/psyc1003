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64" r:id="rId3"/>
    <p:sldId id="265" r:id="rId4"/>
    <p:sldId id="266" r:id="rId5"/>
    <p:sldId id="283" r:id="rId6"/>
    <p:sldId id="270" r:id="rId7"/>
    <p:sldId id="282" r:id="rId8"/>
    <p:sldId id="271" r:id="rId9"/>
    <p:sldId id="275" r:id="rId10"/>
    <p:sldId id="273" r:id="rId11"/>
    <p:sldId id="278" r:id="rId12"/>
    <p:sldId id="279" r:id="rId13"/>
    <p:sldId id="284" r:id="rId14"/>
    <p:sldId id="285" r:id="rId15"/>
    <p:sldId id="286" r:id="rId16"/>
    <p:sldId id="289" r:id="rId17"/>
    <p:sldId id="290" r:id="rId18"/>
    <p:sldId id="261" r:id="rId19"/>
    <p:sldId id="291" r:id="rId20"/>
    <p:sldId id="262" r:id="rId21"/>
    <p:sldId id="295" r:id="rId22"/>
    <p:sldId id="296" r:id="rId23"/>
    <p:sldId id="297" r:id="rId24"/>
    <p:sldId id="29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2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61" autoAdjust="0"/>
    <p:restoredTop sz="94661"/>
  </p:normalViewPr>
  <p:slideViewPr>
    <p:cSldViewPr snapToGrid="0">
      <p:cViewPr>
        <p:scale>
          <a:sx n="105" d="100"/>
          <a:sy n="105" d="100"/>
        </p:scale>
        <p:origin x="-79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B6358-3EF4-3448-B966-E7EDC28BB053}" type="datetimeFigureOut">
              <a:rPr lang="en-AU" smtClean="0"/>
              <a:t>5/10/2026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D8A51-7F10-BC4E-B245-B5DEC0C43A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1498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0B69C-119C-4262-95C2-2CC818FDC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AB3D0-6C5E-454A-5B87-429D6541F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8571A-062A-5FA9-D0F1-F9E8C17E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CC5AD-9572-4A9F-A96F-6CB3317A3AF3}" type="datetimeFigureOut">
              <a:rPr lang="en-AU" smtClean="0"/>
              <a:t>5/10/2026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C6451-69D2-DA99-F1F8-9F6450BB9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6E076-1659-FC0D-8F9B-BACB1DF2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361D3-5D1E-4702-83CC-648D6E7A50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62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8C560-436A-A279-0174-9361DEF14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A80F4-9289-F58E-AF39-122883025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503C9-D30D-6067-49C7-B73FC78A0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CC5AD-9572-4A9F-A96F-6CB3317A3AF3}" type="datetimeFigureOut">
              <a:rPr lang="en-AU" smtClean="0"/>
              <a:t>5/10/2026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62DB2-B1E4-0D38-9F7D-37662729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22BF9-0C63-EA62-E7FE-6327A434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361D3-5D1E-4702-83CC-648D6E7A50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98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589E7-9C2D-656E-9F67-1A0F5E5E5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BFC47-58B2-680F-7D61-C6CCDA5CE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C8A63-E7F5-AE37-8E31-772C64AF0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CC5AD-9572-4A9F-A96F-6CB3317A3AF3}" type="datetimeFigureOut">
              <a:rPr lang="en-AU" smtClean="0"/>
              <a:t>5/10/2026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04647-6CD0-719E-5655-322913941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BAAF4-6CAF-570D-2FFC-BF234089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361D3-5D1E-4702-83CC-648D6E7A50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11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DD24-013A-EC16-F20E-9C966AB62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803DF-B732-6FE5-CCFC-43C10BCFA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2A2F5-BBF7-47FD-21B9-DE526E2DE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BA2FD-7191-BB69-3D44-F953EF8B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CC5AD-9572-4A9F-A96F-6CB3317A3AF3}" type="datetimeFigureOut">
              <a:rPr lang="en-AU" smtClean="0"/>
              <a:t>5/10/2026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C9511-96D7-84E9-1224-9788524F9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0DF4C-A589-E0B9-677D-DBB9B850D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361D3-5D1E-4702-83CC-648D6E7A50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392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7B2B4-19D1-C274-671F-9407AFE98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9C32B-5C61-2F7E-B627-129627FD4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BD91D-CF30-7F27-0069-0B18C33B2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A00A0-DF03-C08D-03B7-72FA0A373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8CB0F4-DA36-2384-DA42-9AA8A2F7C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AA39F2-77C8-7BDB-2FF6-26808435B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CC5AD-9572-4A9F-A96F-6CB3317A3AF3}" type="datetimeFigureOut">
              <a:rPr lang="en-AU" smtClean="0"/>
              <a:t>5/10/2026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37E9B5-278C-01C3-9B5F-D972DE120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42371C-D912-D239-26C7-0FB04E2F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361D3-5D1E-4702-83CC-648D6E7A50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859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88A0-010C-AF5A-88DB-D6C36D841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69F270-F7C2-06FB-7E8D-7A04AB5D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CC5AD-9572-4A9F-A96F-6CB3317A3AF3}" type="datetimeFigureOut">
              <a:rPr lang="en-AU" smtClean="0"/>
              <a:t>5/10/2026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D33BD6-16AD-AC7F-4A8D-DDC88AE7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2F604-785E-8C92-3277-1409EDF35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361D3-5D1E-4702-83CC-648D6E7A50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4197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77F16E-7780-4609-3140-F8E9CA6D4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CC5AD-9572-4A9F-A96F-6CB3317A3AF3}" type="datetimeFigureOut">
              <a:rPr lang="en-AU" smtClean="0"/>
              <a:t>5/10/2026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16687-01BC-9631-F6E7-2A4C8C0D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729E1-F324-F261-C37C-4594DF550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361D3-5D1E-4702-83CC-648D6E7A50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5532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A7848-F15A-8F27-D841-9AF5F0DD0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01A24-7291-77AB-F378-8A9F00212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1B69F-6BF2-954E-A2C3-EAD194ED0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B3C74-2BC1-347A-B750-DB7C8BCE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CC5AD-9572-4A9F-A96F-6CB3317A3AF3}" type="datetimeFigureOut">
              <a:rPr lang="en-AU" smtClean="0"/>
              <a:t>5/10/2026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15EB2-CF11-1808-3742-3B1ACDF1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044C4-3600-F7DD-13DC-486B24F6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361D3-5D1E-4702-83CC-648D6E7A50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3375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E57C2-786F-CC01-C87B-557D9F387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42A864-AE2E-A13C-F49E-25DB1356825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C03C1-6E57-7A5D-8F51-E5243F9DE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E6AA8-F80A-FB2D-886B-B5FEBB670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CC5AD-9572-4A9F-A96F-6CB3317A3AF3}" type="datetimeFigureOut">
              <a:rPr lang="en-AU" smtClean="0"/>
              <a:t>5/10/2026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76C16-2868-4073-7C54-696D165B8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43A87-6CE8-7471-4046-2184C1AC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361D3-5D1E-4702-83CC-648D6E7A50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279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DF22-CF15-6132-5AF6-0A86D964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A4970-B1CE-F756-FFA1-DDC9E4857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1808E-0BAB-3ECD-B324-B7ECC27FE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CC5AD-9572-4A9F-A96F-6CB3317A3AF3}" type="datetimeFigureOut">
              <a:rPr lang="en-AU" smtClean="0"/>
              <a:t>5/10/2026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FFDF4-4126-9CC1-2B57-5E072FE29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152FC-C4CB-E80C-BF6B-A79814A98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361D3-5D1E-4702-83CC-648D6E7A50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24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CD863E-5E56-BC30-A36F-0A86724CC9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896D7-4773-771D-C0D1-176A01792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DA770-E057-7446-AFEE-C02C91810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CC5AD-9572-4A9F-A96F-6CB3317A3AF3}" type="datetimeFigureOut">
              <a:rPr lang="en-AU" smtClean="0"/>
              <a:t>5/10/2026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D1638-8536-3543-2FA8-B3CCD505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7B597-6DE1-5474-9992-D9BE7ED6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361D3-5D1E-4702-83CC-648D6E7A50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09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6A6794-C007-CD20-3F21-42CA0591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79023-1903-8522-4046-EEE414934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816F1-9A8C-D692-833F-8F11FF0A2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CC5AD-9572-4A9F-A96F-6CB3317A3AF3}" type="datetimeFigureOut">
              <a:rPr lang="en-AU" smtClean="0"/>
              <a:t>5/10/2026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3EB0A-7B2A-EC6C-20ED-F9E474180F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FE337-9B9A-0984-6A4D-01B4E5F3B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B361D3-5D1E-4702-83CC-648D6E7A50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873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pngimg.com/png/9493-almond-png-picture" TargetMode="External"/><Relationship Id="rId5" Type="http://schemas.openxmlformats.org/officeDocument/2006/relationships/image" Target="../media/image28.png"/><Relationship Id="rId4" Type="http://schemas.openxmlformats.org/officeDocument/2006/relationships/hyperlink" Target="https://www.deviantart.com/v-phantomhive/art/Pink-bow-399731227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17,900+ Selling Drugs Stock Photos and Royalty-Free Pictures - iStock">
            <a:extLst>
              <a:ext uri="{FF2B5EF4-FFF2-40B4-BE49-F238E27FC236}">
                <a16:creationId xmlns:a16="http://schemas.microsoft.com/office/drawing/2014/main" id="{3076CD65-5E50-DF4B-1627-ACD3CD38C4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ACD41-18C5-E3E9-B2E7-C4599500F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60527" y="0"/>
            <a:ext cx="4523167" cy="2810107"/>
          </a:xfrm>
          <a:noFill/>
        </p:spPr>
        <p:txBody>
          <a:bodyPr>
            <a:normAutofit/>
          </a:bodyPr>
          <a:lstStyle/>
          <a:p>
            <a:r>
              <a:rPr lang="en-AU" sz="5200" b="1" dirty="0"/>
              <a:t>Bad Drugs</a:t>
            </a:r>
            <a:br>
              <a:rPr lang="en-AU" sz="5200" b="1" dirty="0"/>
            </a:br>
            <a:r>
              <a:rPr lang="en-AU" sz="4000" b="1" dirty="0"/>
              <a:t>(Animal Models of Addiction)</a:t>
            </a:r>
            <a:endParaRPr lang="en-AU" sz="5200" b="1" dirty="0"/>
          </a:p>
        </p:txBody>
      </p:sp>
    </p:spTree>
    <p:extLst>
      <p:ext uri="{BB962C8B-B14F-4D97-AF65-F5344CB8AC3E}">
        <p14:creationId xmlns:p14="http://schemas.microsoft.com/office/powerpoint/2010/main" val="454011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29F3-EE73-4B9B-A320-E35DA804A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1" y="-163372"/>
            <a:ext cx="11402291" cy="1325563"/>
          </a:xfrm>
        </p:spPr>
        <p:txBody>
          <a:bodyPr/>
          <a:lstStyle/>
          <a:p>
            <a:r>
              <a:rPr lang="en-AU" dirty="0"/>
              <a:t>Why study drugs of addiction in animal models?</a:t>
            </a:r>
          </a:p>
        </p:txBody>
      </p:sp>
      <p:pic>
        <p:nvPicPr>
          <p:cNvPr id="5" name="Picture 4" descr="On The Skinner Box - by Richard L. Johnson">
            <a:extLst>
              <a:ext uri="{FF2B5EF4-FFF2-40B4-BE49-F238E27FC236}">
                <a16:creationId xmlns:a16="http://schemas.microsoft.com/office/drawing/2014/main" id="{0F43C8B3-8692-5117-B2CC-6467CEB9A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37" y="1224533"/>
            <a:ext cx="2204467" cy="2204467"/>
          </a:xfrm>
          <a:prstGeom prst="rect">
            <a:avLst/>
          </a:prstGeom>
        </p:spPr>
      </p:pic>
      <p:pic>
        <p:nvPicPr>
          <p:cNvPr id="6" name="Picture 5" descr="Hippocampal dissection from P4 rat brain. (A) The whole brain was... |  Download Scientific Diagram">
            <a:extLst>
              <a:ext uri="{FF2B5EF4-FFF2-40B4-BE49-F238E27FC236}">
                <a16:creationId xmlns:a16="http://schemas.microsoft.com/office/drawing/2014/main" id="{9A4B954D-C92B-74B9-6A01-77E8A027D7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57" r="49961" b="62102"/>
          <a:stretch>
            <a:fillRect/>
          </a:stretch>
        </p:blipFill>
        <p:spPr>
          <a:xfrm>
            <a:off x="4340981" y="1674003"/>
            <a:ext cx="2720325" cy="2415309"/>
          </a:xfrm>
          <a:prstGeom prst="rect">
            <a:avLst/>
          </a:prstGeom>
        </p:spPr>
      </p:pic>
      <p:pic>
        <p:nvPicPr>
          <p:cNvPr id="7" name="Picture 6" descr="How DNA Works | HowStuffWorks">
            <a:extLst>
              <a:ext uri="{FF2B5EF4-FFF2-40B4-BE49-F238E27FC236}">
                <a16:creationId xmlns:a16="http://schemas.microsoft.com/office/drawing/2014/main" id="{8D2A39D0-2963-252A-2450-AC6B0324F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1" y="4407165"/>
            <a:ext cx="2720325" cy="1530183"/>
          </a:xfrm>
          <a:prstGeom prst="rect">
            <a:avLst/>
          </a:prstGeom>
        </p:spPr>
      </p:pic>
      <p:pic>
        <p:nvPicPr>
          <p:cNvPr id="8" name="Picture 7" descr="Pharmacological Treatment - Nischay Hospital | Nischay Hospital">
            <a:extLst>
              <a:ext uri="{FF2B5EF4-FFF2-40B4-BE49-F238E27FC236}">
                <a16:creationId xmlns:a16="http://schemas.microsoft.com/office/drawing/2014/main" id="{EB1CF228-4B9C-5C4B-8E1D-5B6B624DA8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3907" y="4836830"/>
            <a:ext cx="3251200" cy="1828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2F7F46-3717-270B-720C-B0797FD9F6C0}"/>
              </a:ext>
            </a:extLst>
          </p:cNvPr>
          <p:cNvSpPr txBox="1"/>
          <p:nvPr/>
        </p:nvSpPr>
        <p:spPr>
          <a:xfrm>
            <a:off x="146770" y="3429000"/>
            <a:ext cx="3809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Study drug-seeking behaviour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560DAF-3341-7951-37CD-28512F3A3EAE}"/>
              </a:ext>
            </a:extLst>
          </p:cNvPr>
          <p:cNvSpPr txBox="1"/>
          <p:nvPr/>
        </p:nvSpPr>
        <p:spPr>
          <a:xfrm>
            <a:off x="0" y="5937348"/>
            <a:ext cx="3380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Understand genetic risk-factors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B16D9-1481-9B92-97CF-FFCF2BC8EF24}"/>
              </a:ext>
            </a:extLst>
          </p:cNvPr>
          <p:cNvSpPr txBox="1"/>
          <p:nvPr/>
        </p:nvSpPr>
        <p:spPr>
          <a:xfrm>
            <a:off x="4010889" y="1032985"/>
            <a:ext cx="3380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Explore the effects of drugs of abuse on the brain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7B13F7-A85C-619D-2563-E08748E22BE7}"/>
              </a:ext>
            </a:extLst>
          </p:cNvPr>
          <p:cNvSpPr txBox="1"/>
          <p:nvPr/>
        </p:nvSpPr>
        <p:spPr>
          <a:xfrm>
            <a:off x="3516634" y="4495208"/>
            <a:ext cx="4405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Test efficacy of potential treatments</a:t>
            </a:r>
          </a:p>
        </p:txBody>
      </p:sp>
    </p:spTree>
    <p:extLst>
      <p:ext uri="{BB962C8B-B14F-4D97-AF65-F5344CB8AC3E}">
        <p14:creationId xmlns:p14="http://schemas.microsoft.com/office/powerpoint/2010/main" val="246273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3F475-D471-2193-5418-5632D089F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85DFA-F232-4242-3259-CA039CE56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588"/>
            <a:ext cx="10515600" cy="1325563"/>
          </a:xfrm>
        </p:spPr>
        <p:txBody>
          <a:bodyPr/>
          <a:lstStyle/>
          <a:p>
            <a:r>
              <a:rPr lang="en-AU" dirty="0"/>
              <a:t>Step 1: Get your rat hooked on drugs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57024-2D25-D86D-FBC0-F08ADE6CE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5801" y="1716368"/>
            <a:ext cx="3969326" cy="1885813"/>
          </a:xfrm>
        </p:spPr>
        <p:txBody>
          <a:bodyPr/>
          <a:lstStyle/>
          <a:p>
            <a:r>
              <a:rPr lang="en-AU" dirty="0"/>
              <a:t>Not as easy as it looks!</a:t>
            </a:r>
          </a:p>
          <a:p>
            <a:r>
              <a:rPr lang="en-AU" dirty="0"/>
              <a:t>Approach depends on the drug</a:t>
            </a:r>
          </a:p>
        </p:txBody>
      </p:sp>
      <p:pic>
        <p:nvPicPr>
          <p:cNvPr id="5" name="Picture 4" descr="Police told court seized drugs could not be produced as evidence because  they had been destroyed by rodents">
            <a:extLst>
              <a:ext uri="{FF2B5EF4-FFF2-40B4-BE49-F238E27FC236}">
                <a16:creationId xmlns:a16="http://schemas.microsoft.com/office/drawing/2014/main" id="{C40BC6A4-D5DA-261A-0B68-425075DFB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6151"/>
            <a:ext cx="4364182" cy="54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28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F5D50-76BD-E071-2B61-7543BF9AF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4CC71-337C-57D6-B0E1-412F688E4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588"/>
            <a:ext cx="10515600" cy="1325563"/>
          </a:xfrm>
        </p:spPr>
        <p:txBody>
          <a:bodyPr/>
          <a:lstStyle/>
          <a:p>
            <a:r>
              <a:rPr lang="en-AU" sz="5400" b="1" dirty="0"/>
              <a:t>Alcohol</a:t>
            </a:r>
            <a:endParaRPr lang="en-AU" b="1" dirty="0"/>
          </a:p>
        </p:txBody>
      </p:sp>
      <p:pic>
        <p:nvPicPr>
          <p:cNvPr id="4" name="Picture 3" descr="Rat stock photo. Image of dairy, pest, funny, rodent, mice - 3733692">
            <a:extLst>
              <a:ext uri="{FF2B5EF4-FFF2-40B4-BE49-F238E27FC236}">
                <a16:creationId xmlns:a16="http://schemas.microsoft.com/office/drawing/2014/main" id="{FB5943D4-37AB-77BC-6311-4F53C1852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3330"/>
            <a:ext cx="3716054" cy="557408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109F824-9F08-D931-B278-AC2792939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2347" y="1543187"/>
            <a:ext cx="3969326" cy="1885813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Problem: </a:t>
            </a:r>
            <a:r>
              <a:rPr lang="en-AU" dirty="0"/>
              <a:t>Rats don’t love the taste of ethanol. They need to be convinced to drink.</a:t>
            </a:r>
          </a:p>
        </p:txBody>
      </p:sp>
    </p:spTree>
    <p:extLst>
      <p:ext uri="{BB962C8B-B14F-4D97-AF65-F5344CB8AC3E}">
        <p14:creationId xmlns:p14="http://schemas.microsoft.com/office/powerpoint/2010/main" val="963120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29E52-F36D-C404-2007-A07454B45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46334C6-DAAD-21C4-E306-139577CE7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19" y="232339"/>
            <a:ext cx="5798126" cy="17488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i="1" dirty="0"/>
              <a:t>Option 1: Sucrose Fading</a:t>
            </a:r>
          </a:p>
        </p:txBody>
      </p:sp>
      <p:pic>
        <p:nvPicPr>
          <p:cNvPr id="3" name="Picture 2" descr="2. How to measure relapse in animals | Drugs for Relapse Prevention of  Alcoholism (Milestones in Drug Therapy)">
            <a:extLst>
              <a:ext uri="{FF2B5EF4-FFF2-40B4-BE49-F238E27FC236}">
                <a16:creationId xmlns:a16="http://schemas.microsoft.com/office/drawing/2014/main" id="{31A997C0-66A6-F33A-3782-B63699A0A7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567"/>
          <a:stretch>
            <a:fillRect/>
          </a:stretch>
        </p:blipFill>
        <p:spPr>
          <a:xfrm>
            <a:off x="1572490" y="1173018"/>
            <a:ext cx="3200400" cy="225598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64BF6DD-5BE5-3660-688B-B5CEFE99ACCF}"/>
              </a:ext>
            </a:extLst>
          </p:cNvPr>
          <p:cNvGrpSpPr/>
          <p:nvPr/>
        </p:nvGrpSpPr>
        <p:grpSpPr>
          <a:xfrm>
            <a:off x="180109" y="4022364"/>
            <a:ext cx="609600" cy="1131527"/>
            <a:chOff x="1066800" y="4119346"/>
            <a:chExt cx="609600" cy="1131527"/>
          </a:xfrm>
        </p:grpSpPr>
        <p:sp>
          <p:nvSpPr>
            <p:cNvPr id="8" name="Can 7">
              <a:extLst>
                <a:ext uri="{FF2B5EF4-FFF2-40B4-BE49-F238E27FC236}">
                  <a16:creationId xmlns:a16="http://schemas.microsoft.com/office/drawing/2014/main" id="{4F59122F-605B-B85C-51D3-9B0C2D992BDB}"/>
                </a:ext>
              </a:extLst>
            </p:cNvPr>
            <p:cNvSpPr/>
            <p:nvPr/>
          </p:nvSpPr>
          <p:spPr>
            <a:xfrm>
              <a:off x="1066800" y="4119346"/>
              <a:ext cx="609600" cy="1131527"/>
            </a:xfrm>
            <a:prstGeom prst="can">
              <a:avLst>
                <a:gd name="adj" fmla="val 36111"/>
              </a:avLst>
            </a:prstGeom>
            <a:solidFill>
              <a:schemeClr val="bg1">
                <a:alpha val="5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Can 8">
              <a:extLst>
                <a:ext uri="{FF2B5EF4-FFF2-40B4-BE49-F238E27FC236}">
                  <a16:creationId xmlns:a16="http://schemas.microsoft.com/office/drawing/2014/main" id="{8696C071-563D-CC9B-B54D-505D463E3D5F}"/>
                </a:ext>
              </a:extLst>
            </p:cNvPr>
            <p:cNvSpPr/>
            <p:nvPr/>
          </p:nvSpPr>
          <p:spPr>
            <a:xfrm>
              <a:off x="1066800" y="4405746"/>
              <a:ext cx="609600" cy="845127"/>
            </a:xfrm>
            <a:prstGeom prst="can">
              <a:avLst>
                <a:gd name="adj" fmla="val 34091"/>
              </a:avLst>
            </a:prstGeom>
            <a:solidFill>
              <a:schemeClr val="accent1">
                <a:alpha val="7211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A7E58FB-3FE6-1D37-2F95-107CD2E0294C}"/>
              </a:ext>
            </a:extLst>
          </p:cNvPr>
          <p:cNvGrpSpPr/>
          <p:nvPr/>
        </p:nvGrpSpPr>
        <p:grpSpPr>
          <a:xfrm>
            <a:off x="1468582" y="4036219"/>
            <a:ext cx="609600" cy="1131527"/>
            <a:chOff x="1468582" y="4036219"/>
            <a:chExt cx="609600" cy="1131527"/>
          </a:xfrm>
        </p:grpSpPr>
        <p:sp>
          <p:nvSpPr>
            <p:cNvPr id="10" name="Can 9">
              <a:extLst>
                <a:ext uri="{FF2B5EF4-FFF2-40B4-BE49-F238E27FC236}">
                  <a16:creationId xmlns:a16="http://schemas.microsoft.com/office/drawing/2014/main" id="{11C5D817-BA7C-B549-8641-1B8EF1D6D25B}"/>
                </a:ext>
              </a:extLst>
            </p:cNvPr>
            <p:cNvSpPr/>
            <p:nvPr/>
          </p:nvSpPr>
          <p:spPr>
            <a:xfrm>
              <a:off x="1468582" y="4036219"/>
              <a:ext cx="609600" cy="1131527"/>
            </a:xfrm>
            <a:prstGeom prst="can">
              <a:avLst>
                <a:gd name="adj" fmla="val 36111"/>
              </a:avLst>
            </a:prstGeom>
            <a:solidFill>
              <a:schemeClr val="bg1">
                <a:alpha val="5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Can 10">
              <a:extLst>
                <a:ext uri="{FF2B5EF4-FFF2-40B4-BE49-F238E27FC236}">
                  <a16:creationId xmlns:a16="http://schemas.microsoft.com/office/drawing/2014/main" id="{F9E0AEA9-CDCE-E36E-FB8E-7008A6398F13}"/>
                </a:ext>
              </a:extLst>
            </p:cNvPr>
            <p:cNvSpPr/>
            <p:nvPr/>
          </p:nvSpPr>
          <p:spPr>
            <a:xfrm>
              <a:off x="1468582" y="4471988"/>
              <a:ext cx="609600" cy="695758"/>
            </a:xfrm>
            <a:prstGeom prst="can">
              <a:avLst>
                <a:gd name="adj" fmla="val 29404"/>
              </a:avLst>
            </a:prstGeom>
            <a:solidFill>
              <a:schemeClr val="accent1">
                <a:alpha val="7211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4" name="Can 13">
            <a:extLst>
              <a:ext uri="{FF2B5EF4-FFF2-40B4-BE49-F238E27FC236}">
                <a16:creationId xmlns:a16="http://schemas.microsoft.com/office/drawing/2014/main" id="{10488956-498B-8651-8F49-96B514714B3E}"/>
              </a:ext>
            </a:extLst>
          </p:cNvPr>
          <p:cNvSpPr/>
          <p:nvPr/>
        </p:nvSpPr>
        <p:spPr>
          <a:xfrm>
            <a:off x="1468582" y="4279107"/>
            <a:ext cx="609600" cy="380868"/>
          </a:xfrm>
          <a:prstGeom prst="can">
            <a:avLst>
              <a:gd name="adj" fmla="val 50000"/>
            </a:avLst>
          </a:prstGeom>
          <a:solidFill>
            <a:srgbClr val="8A2A2E">
              <a:alpha val="7215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155A39-A01C-99D5-ECCC-81921F162DB1}"/>
              </a:ext>
            </a:extLst>
          </p:cNvPr>
          <p:cNvGrpSpPr/>
          <p:nvPr/>
        </p:nvGrpSpPr>
        <p:grpSpPr>
          <a:xfrm>
            <a:off x="2792124" y="4036219"/>
            <a:ext cx="609600" cy="1131527"/>
            <a:chOff x="1468582" y="4036219"/>
            <a:chExt cx="609600" cy="1131527"/>
          </a:xfrm>
        </p:grpSpPr>
        <p:sp>
          <p:nvSpPr>
            <p:cNvPr id="16" name="Can 15">
              <a:extLst>
                <a:ext uri="{FF2B5EF4-FFF2-40B4-BE49-F238E27FC236}">
                  <a16:creationId xmlns:a16="http://schemas.microsoft.com/office/drawing/2014/main" id="{2A18A49E-8644-E2B8-B4CB-95973A3E2EA9}"/>
                </a:ext>
              </a:extLst>
            </p:cNvPr>
            <p:cNvSpPr/>
            <p:nvPr/>
          </p:nvSpPr>
          <p:spPr>
            <a:xfrm>
              <a:off x="1468582" y="4036219"/>
              <a:ext cx="609600" cy="1131527"/>
            </a:xfrm>
            <a:prstGeom prst="can">
              <a:avLst>
                <a:gd name="adj" fmla="val 36111"/>
              </a:avLst>
            </a:prstGeom>
            <a:solidFill>
              <a:schemeClr val="bg1">
                <a:alpha val="5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Can 16">
              <a:extLst>
                <a:ext uri="{FF2B5EF4-FFF2-40B4-BE49-F238E27FC236}">
                  <a16:creationId xmlns:a16="http://schemas.microsoft.com/office/drawing/2014/main" id="{DBE922A4-F4F7-207D-D6EF-7D0D6FDD326B}"/>
                </a:ext>
              </a:extLst>
            </p:cNvPr>
            <p:cNvSpPr/>
            <p:nvPr/>
          </p:nvSpPr>
          <p:spPr>
            <a:xfrm>
              <a:off x="1468582" y="4638542"/>
              <a:ext cx="609600" cy="529203"/>
            </a:xfrm>
            <a:prstGeom prst="can">
              <a:avLst>
                <a:gd name="adj" fmla="val 40203"/>
              </a:avLst>
            </a:prstGeom>
            <a:solidFill>
              <a:schemeClr val="accent1">
                <a:alpha val="7211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8" name="Can 17">
            <a:extLst>
              <a:ext uri="{FF2B5EF4-FFF2-40B4-BE49-F238E27FC236}">
                <a16:creationId xmlns:a16="http://schemas.microsoft.com/office/drawing/2014/main" id="{4CC64AB2-E77F-063D-F16E-7D7DDBF2D794}"/>
              </a:ext>
            </a:extLst>
          </p:cNvPr>
          <p:cNvSpPr/>
          <p:nvPr/>
        </p:nvSpPr>
        <p:spPr>
          <a:xfrm>
            <a:off x="2792124" y="4326814"/>
            <a:ext cx="609600" cy="529203"/>
          </a:xfrm>
          <a:prstGeom prst="can">
            <a:avLst>
              <a:gd name="adj" fmla="val 39269"/>
            </a:avLst>
          </a:prstGeom>
          <a:solidFill>
            <a:srgbClr val="8A2A2E">
              <a:alpha val="7215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094F36D-56C9-5011-BA1C-AFECAC8D8D33}"/>
              </a:ext>
            </a:extLst>
          </p:cNvPr>
          <p:cNvGrpSpPr/>
          <p:nvPr/>
        </p:nvGrpSpPr>
        <p:grpSpPr>
          <a:xfrm>
            <a:off x="3987512" y="4036218"/>
            <a:ext cx="609600" cy="1131527"/>
            <a:chOff x="1468582" y="4036219"/>
            <a:chExt cx="609600" cy="1131527"/>
          </a:xfrm>
        </p:grpSpPr>
        <p:sp>
          <p:nvSpPr>
            <p:cNvPr id="20" name="Can 19">
              <a:extLst>
                <a:ext uri="{FF2B5EF4-FFF2-40B4-BE49-F238E27FC236}">
                  <a16:creationId xmlns:a16="http://schemas.microsoft.com/office/drawing/2014/main" id="{F8AEABA9-EE4E-6062-73F4-F8DCE7EE5A82}"/>
                </a:ext>
              </a:extLst>
            </p:cNvPr>
            <p:cNvSpPr/>
            <p:nvPr/>
          </p:nvSpPr>
          <p:spPr>
            <a:xfrm>
              <a:off x="1468582" y="4036219"/>
              <a:ext cx="609600" cy="1131527"/>
            </a:xfrm>
            <a:prstGeom prst="can">
              <a:avLst>
                <a:gd name="adj" fmla="val 36111"/>
              </a:avLst>
            </a:prstGeom>
            <a:solidFill>
              <a:schemeClr val="bg1">
                <a:alpha val="5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Can 20">
              <a:extLst>
                <a:ext uri="{FF2B5EF4-FFF2-40B4-BE49-F238E27FC236}">
                  <a16:creationId xmlns:a16="http://schemas.microsoft.com/office/drawing/2014/main" id="{71CB6336-40BD-3364-F806-F83EF32A2E84}"/>
                </a:ext>
              </a:extLst>
            </p:cNvPr>
            <p:cNvSpPr/>
            <p:nvPr/>
          </p:nvSpPr>
          <p:spPr>
            <a:xfrm>
              <a:off x="1468582" y="4794406"/>
              <a:ext cx="609600" cy="373339"/>
            </a:xfrm>
            <a:prstGeom prst="can">
              <a:avLst>
                <a:gd name="adj" fmla="val 50000"/>
              </a:avLst>
            </a:prstGeom>
            <a:solidFill>
              <a:schemeClr val="accent1">
                <a:alpha val="7211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2" name="Can 21">
            <a:extLst>
              <a:ext uri="{FF2B5EF4-FFF2-40B4-BE49-F238E27FC236}">
                <a16:creationId xmlns:a16="http://schemas.microsoft.com/office/drawing/2014/main" id="{A3248ED6-974B-AE97-EA4A-1275E4D31E49}"/>
              </a:ext>
            </a:extLst>
          </p:cNvPr>
          <p:cNvSpPr/>
          <p:nvPr/>
        </p:nvSpPr>
        <p:spPr>
          <a:xfrm>
            <a:off x="3987512" y="4341102"/>
            <a:ext cx="609600" cy="645235"/>
          </a:xfrm>
          <a:prstGeom prst="can">
            <a:avLst>
              <a:gd name="adj" fmla="val 35325"/>
            </a:avLst>
          </a:prstGeom>
          <a:solidFill>
            <a:srgbClr val="8A2A2E">
              <a:alpha val="7215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10BDAB78-04FB-C156-6004-D1C0219C2B97}"/>
              </a:ext>
            </a:extLst>
          </p:cNvPr>
          <p:cNvSpPr/>
          <p:nvPr/>
        </p:nvSpPr>
        <p:spPr>
          <a:xfrm>
            <a:off x="5275985" y="4045610"/>
            <a:ext cx="609600" cy="1131527"/>
          </a:xfrm>
          <a:prstGeom prst="can">
            <a:avLst>
              <a:gd name="adj" fmla="val 36111"/>
            </a:avLst>
          </a:prstGeom>
          <a:solidFill>
            <a:schemeClr val="bg1">
              <a:alpha val="5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Can 25">
            <a:extLst>
              <a:ext uri="{FF2B5EF4-FFF2-40B4-BE49-F238E27FC236}">
                <a16:creationId xmlns:a16="http://schemas.microsoft.com/office/drawing/2014/main" id="{411691D1-23C9-52A9-9F3A-D0B7F60AFF86}"/>
              </a:ext>
            </a:extLst>
          </p:cNvPr>
          <p:cNvSpPr/>
          <p:nvPr/>
        </p:nvSpPr>
        <p:spPr>
          <a:xfrm>
            <a:off x="5275985" y="4315924"/>
            <a:ext cx="609600" cy="861213"/>
          </a:xfrm>
          <a:prstGeom prst="can">
            <a:avLst>
              <a:gd name="adj" fmla="val 35325"/>
            </a:avLst>
          </a:prstGeom>
          <a:solidFill>
            <a:srgbClr val="8A2A2E">
              <a:alpha val="7215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7C940D-6FBB-66AD-2F79-88BF557AB2DC}"/>
              </a:ext>
            </a:extLst>
          </p:cNvPr>
          <p:cNvSpPr txBox="1"/>
          <p:nvPr/>
        </p:nvSpPr>
        <p:spPr>
          <a:xfrm>
            <a:off x="-135577" y="3602165"/>
            <a:ext cx="1240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10% sucrose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E8BC68-CDE8-D451-FE8F-9D0463E5F0EA}"/>
              </a:ext>
            </a:extLst>
          </p:cNvPr>
          <p:cNvSpPr txBox="1"/>
          <p:nvPr/>
        </p:nvSpPr>
        <p:spPr>
          <a:xfrm>
            <a:off x="1152896" y="3528448"/>
            <a:ext cx="124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8% sucrose</a:t>
            </a:r>
          </a:p>
          <a:p>
            <a:pPr algn="ctr"/>
            <a:r>
              <a:rPr lang="en-AU" sz="1200" dirty="0">
                <a:solidFill>
                  <a:srgbClr val="8A2A2E"/>
                </a:solidFill>
              </a:rPr>
              <a:t>2% Ethanol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799DF1-EEEF-A31A-A766-F6E0D382B4BA}"/>
              </a:ext>
            </a:extLst>
          </p:cNvPr>
          <p:cNvSpPr txBox="1"/>
          <p:nvPr/>
        </p:nvSpPr>
        <p:spPr>
          <a:xfrm>
            <a:off x="2476438" y="3528448"/>
            <a:ext cx="124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6% sucrose</a:t>
            </a:r>
          </a:p>
          <a:p>
            <a:pPr algn="ctr"/>
            <a:r>
              <a:rPr lang="en-AU" sz="1200" dirty="0">
                <a:solidFill>
                  <a:srgbClr val="8A2A2E"/>
                </a:solidFill>
              </a:rPr>
              <a:t>4% Ethanol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FD3E24-55B7-AB7E-009F-B23A945B5CD2}"/>
              </a:ext>
            </a:extLst>
          </p:cNvPr>
          <p:cNvSpPr txBox="1"/>
          <p:nvPr/>
        </p:nvSpPr>
        <p:spPr>
          <a:xfrm>
            <a:off x="3717409" y="3560699"/>
            <a:ext cx="124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4% sucrose</a:t>
            </a:r>
          </a:p>
          <a:p>
            <a:pPr algn="ctr"/>
            <a:r>
              <a:rPr lang="en-AU" sz="1200" dirty="0">
                <a:solidFill>
                  <a:srgbClr val="8A2A2E"/>
                </a:solidFill>
              </a:rPr>
              <a:t>6% Ethanol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D0885A-5650-53EF-34DB-6A3013838A80}"/>
              </a:ext>
            </a:extLst>
          </p:cNvPr>
          <p:cNvSpPr txBox="1"/>
          <p:nvPr/>
        </p:nvSpPr>
        <p:spPr>
          <a:xfrm>
            <a:off x="4958380" y="3583945"/>
            <a:ext cx="124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0% sucrose</a:t>
            </a:r>
          </a:p>
          <a:p>
            <a:pPr algn="ctr"/>
            <a:r>
              <a:rPr lang="en-AU" sz="1200" dirty="0">
                <a:solidFill>
                  <a:srgbClr val="8A2A2E"/>
                </a:solidFill>
              </a:rPr>
              <a:t>8% Ethanol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6E8CF0D-52C3-4AE0-E982-B1B89C1D140A}"/>
              </a:ext>
            </a:extLst>
          </p:cNvPr>
          <p:cNvSpPr/>
          <p:nvPr/>
        </p:nvSpPr>
        <p:spPr>
          <a:xfrm>
            <a:off x="180109" y="5388429"/>
            <a:ext cx="5749636" cy="381000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5000">
                <a:schemeClr val="accent1">
                  <a:lumMod val="45000"/>
                  <a:lumOff val="55000"/>
                </a:schemeClr>
              </a:gs>
              <a:gs pos="91000">
                <a:srgbClr val="8A2A2E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3F42C5-3988-A204-4F78-C89E6438F03D}"/>
              </a:ext>
            </a:extLst>
          </p:cNvPr>
          <p:cNvSpPr txBox="1"/>
          <p:nvPr/>
        </p:nvSpPr>
        <p:spPr>
          <a:xfrm>
            <a:off x="1408649" y="5714791"/>
            <a:ext cx="338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2-3 Weeks of Training</a:t>
            </a:r>
          </a:p>
        </p:txBody>
      </p:sp>
    </p:spTree>
    <p:extLst>
      <p:ext uri="{BB962C8B-B14F-4D97-AF65-F5344CB8AC3E}">
        <p14:creationId xmlns:p14="http://schemas.microsoft.com/office/powerpoint/2010/main" val="254896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CAEA-D9C3-BFC5-C043-27D9B7664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05CA832-FC60-3AAB-D227-5CD2995A9367}"/>
              </a:ext>
            </a:extLst>
          </p:cNvPr>
          <p:cNvSpPr txBox="1">
            <a:spLocks/>
          </p:cNvSpPr>
          <p:nvPr/>
        </p:nvSpPr>
        <p:spPr>
          <a:xfrm>
            <a:off x="131619" y="232339"/>
            <a:ext cx="7951024" cy="1748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i="1" dirty="0"/>
              <a:t>Option 2: Give ‘</a:t>
            </a:r>
            <a:r>
              <a:rPr lang="en-AU" sz="4000" i="1" dirty="0" err="1"/>
              <a:t>em</a:t>
            </a:r>
            <a:r>
              <a:rPr lang="en-AU" sz="4000" i="1" dirty="0"/>
              <a:t> Beer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148BE8-3195-61EE-F16E-5F6D129D0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42075"/>
            <a:ext cx="6694714" cy="1885813"/>
          </a:xfrm>
        </p:spPr>
        <p:txBody>
          <a:bodyPr/>
          <a:lstStyle/>
          <a:p>
            <a:r>
              <a:rPr lang="en-AU" dirty="0"/>
              <a:t>Advantage: Rats will willingly drink (decarbonated) beer without training</a:t>
            </a:r>
          </a:p>
          <a:p>
            <a:r>
              <a:rPr lang="en-AU" dirty="0"/>
              <a:t>Disadvantage: Harder to get them drunk (4% instead of 10%)</a:t>
            </a:r>
          </a:p>
        </p:txBody>
      </p:sp>
      <p:pic>
        <p:nvPicPr>
          <p:cNvPr id="23" name="Picture 22" descr="Picture of my pet rat (now passed away. This was 10 years ago) taking a  'sip' of my dad's beer (she didn't actually drink any, was just sniffing) :  r/RATS">
            <a:extLst>
              <a:ext uri="{FF2B5EF4-FFF2-40B4-BE49-F238E27FC236}">
                <a16:creationId xmlns:a16="http://schemas.microsoft.com/office/drawing/2014/main" id="{BA7EFB29-2CEE-DC5C-44BB-4B71C44096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" t="13175" r="20648" b="21852"/>
          <a:stretch>
            <a:fillRect/>
          </a:stretch>
        </p:blipFill>
        <p:spPr>
          <a:xfrm>
            <a:off x="765403" y="1123098"/>
            <a:ext cx="3055484" cy="334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39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B36C1-A742-FB7E-F4F3-FAC81769F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E41EA7-3C18-25CA-77F1-D607FA65C987}"/>
              </a:ext>
            </a:extLst>
          </p:cNvPr>
          <p:cNvSpPr txBox="1">
            <a:spLocks/>
          </p:cNvSpPr>
          <p:nvPr/>
        </p:nvSpPr>
        <p:spPr>
          <a:xfrm>
            <a:off x="131619" y="232339"/>
            <a:ext cx="7951024" cy="1748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i="1" dirty="0"/>
              <a:t>Option 3: Ethanol Vapour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740DB8-3351-572B-5947-429BE761C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55" y="3508120"/>
            <a:ext cx="6928337" cy="33498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Advantages</a:t>
            </a:r>
          </a:p>
          <a:p>
            <a:r>
              <a:rPr lang="en-AU" dirty="0"/>
              <a:t>Experimenter can control dosage/timing</a:t>
            </a:r>
          </a:p>
          <a:p>
            <a:r>
              <a:rPr lang="en-AU" dirty="0"/>
              <a:t>Model can be used to create ethanol-dependence</a:t>
            </a:r>
          </a:p>
          <a:p>
            <a:pPr marL="0" indent="0">
              <a:buNone/>
            </a:pPr>
            <a:r>
              <a:rPr lang="en-AU" dirty="0"/>
              <a:t>Disadvantages</a:t>
            </a:r>
          </a:p>
          <a:p>
            <a:r>
              <a:rPr lang="en-AU" dirty="0"/>
              <a:t>Not “naturalistic”</a:t>
            </a:r>
          </a:p>
          <a:p>
            <a:r>
              <a:rPr lang="en-AU" dirty="0"/>
              <a:t>Involuntary consumption may be stressful for animals</a:t>
            </a:r>
          </a:p>
          <a:p>
            <a:endParaRPr lang="en-A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8FDA42C-03BA-21F6-0C6A-3CC22C25F69F}"/>
              </a:ext>
            </a:extLst>
          </p:cNvPr>
          <p:cNvGrpSpPr/>
          <p:nvPr/>
        </p:nvGrpSpPr>
        <p:grpSpPr>
          <a:xfrm>
            <a:off x="296008" y="774001"/>
            <a:ext cx="3379176" cy="2726676"/>
            <a:chOff x="296008" y="1106769"/>
            <a:chExt cx="3379176" cy="2726676"/>
          </a:xfrm>
        </p:grpSpPr>
        <p:pic>
          <p:nvPicPr>
            <p:cNvPr id="2" name="Picture 1" descr="Cartoon mouse and steaming cheese. Cute vector rat character enjoy sniffing  large piece or slice of cheese with holes. Isolated comic rodent, funny an  Stock Vector Image &amp; Art - Alamy">
              <a:extLst>
                <a:ext uri="{FF2B5EF4-FFF2-40B4-BE49-F238E27FC236}">
                  <a16:creationId xmlns:a16="http://schemas.microsoft.com/office/drawing/2014/main" id="{C41FEE2E-DEF1-B064-D132-91A7C13C0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8920" b="19062"/>
            <a:stretch>
              <a:fillRect/>
            </a:stretch>
          </p:blipFill>
          <p:spPr>
            <a:xfrm>
              <a:off x="296008" y="1106769"/>
              <a:ext cx="2816469" cy="2621169"/>
            </a:xfrm>
            <a:prstGeom prst="rect">
              <a:avLst/>
            </a:prstGeom>
          </p:spPr>
        </p:pic>
        <p:pic>
          <p:nvPicPr>
            <p:cNvPr id="3" name="Picture 2" descr="140+ Cartoon Of Moonshine Illustrations - iStock">
              <a:extLst>
                <a:ext uri="{FF2B5EF4-FFF2-40B4-BE49-F238E27FC236}">
                  <a16:creationId xmlns:a16="http://schemas.microsoft.com/office/drawing/2014/main" id="{DA91026E-C15C-00A5-2C17-BA18B9721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907518" y="2065779"/>
              <a:ext cx="1767666" cy="17676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1635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C2791-EFA6-2AAB-2644-194B097DD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7940C4-8270-4517-9130-2EF928F76E93}"/>
              </a:ext>
            </a:extLst>
          </p:cNvPr>
          <p:cNvSpPr txBox="1">
            <a:spLocks/>
          </p:cNvSpPr>
          <p:nvPr/>
        </p:nvSpPr>
        <p:spPr>
          <a:xfrm>
            <a:off x="131618" y="232339"/>
            <a:ext cx="8783781" cy="1748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i="1" dirty="0"/>
              <a:t>Option 4: Ethanol-Preferring Mice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4A5C883-373D-792C-177A-B5DF15C47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42075"/>
            <a:ext cx="6694714" cy="1885813"/>
          </a:xfrm>
        </p:spPr>
        <p:txBody>
          <a:bodyPr/>
          <a:lstStyle/>
          <a:p>
            <a:r>
              <a:rPr lang="en-AU" dirty="0"/>
              <a:t>C57/BL6J mice will happily drink ethanol (even up to 30%), sans mixers </a:t>
            </a:r>
          </a:p>
          <a:p>
            <a:r>
              <a:rPr lang="en-AU" dirty="0"/>
              <a:t>Used to study binge-drinking behaviour</a:t>
            </a:r>
          </a:p>
        </p:txBody>
      </p:sp>
      <p:pic>
        <p:nvPicPr>
          <p:cNvPr id="7" name="Picture 6" descr="C57BL/6 mice">
            <a:extLst>
              <a:ext uri="{FF2B5EF4-FFF2-40B4-BE49-F238E27FC236}">
                <a16:creationId xmlns:a16="http://schemas.microsoft.com/office/drawing/2014/main" id="{776663E2-0059-3D90-4747-4C6B81AE1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18" y="1874394"/>
            <a:ext cx="5078186" cy="226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49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427E-AA4C-B1C2-DC0B-980C6638F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958A0D-C282-22BE-65C6-1EDC8B61A2DA}"/>
              </a:ext>
            </a:extLst>
          </p:cNvPr>
          <p:cNvSpPr txBox="1">
            <a:spLocks/>
          </p:cNvSpPr>
          <p:nvPr/>
        </p:nvSpPr>
        <p:spPr>
          <a:xfrm>
            <a:off x="131618" y="232339"/>
            <a:ext cx="11861090" cy="1748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i="1" dirty="0"/>
              <a:t>Drinking in the Dark: A model of binge-drinking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09F6B0-A57C-2A88-F88E-45D162A00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3558639"/>
            <a:ext cx="6727371" cy="2825832"/>
          </a:xfrm>
        </p:spPr>
        <p:txBody>
          <a:bodyPr>
            <a:normAutofit lnSpcReduction="10000"/>
          </a:bodyPr>
          <a:lstStyle/>
          <a:p>
            <a:r>
              <a:rPr lang="en-AU" dirty="0"/>
              <a:t>Mice given access to bottle with 20% ethanol for 2-4h/day</a:t>
            </a:r>
          </a:p>
          <a:p>
            <a:r>
              <a:rPr lang="en-AU" dirty="0"/>
              <a:t>Delivery occurs ~3h into the “dark cycle” (i.e., when the lights are turned off for the night)</a:t>
            </a:r>
          </a:p>
          <a:p>
            <a:pPr lvl="1"/>
            <a:r>
              <a:rPr lang="en-AU" dirty="0"/>
              <a:t>Mice are nocturnal, so this is when natural ingestion behaviours are highest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A317A0-9DBB-B859-D0CB-7FA57507F8BD}"/>
              </a:ext>
            </a:extLst>
          </p:cNvPr>
          <p:cNvSpPr txBox="1"/>
          <p:nvPr/>
        </p:nvSpPr>
        <p:spPr>
          <a:xfrm>
            <a:off x="2838009" y="6256329"/>
            <a:ext cx="3370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dirty="0"/>
              <a:t>-Thiel and Navarro, 2015</a:t>
            </a:r>
          </a:p>
        </p:txBody>
      </p:sp>
      <p:pic>
        <p:nvPicPr>
          <p:cNvPr id="4" name="Picture 3" descr="Mousiness in wine: An old challenge resurfaces – and how qPCR can help -  Food &amp; Feed Analysis">
            <a:extLst>
              <a:ext uri="{FF2B5EF4-FFF2-40B4-BE49-F238E27FC236}">
                <a16:creationId xmlns:a16="http://schemas.microsoft.com/office/drawing/2014/main" id="{D924D6D7-6484-5FA5-AA0B-D7BBE2A7E2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30"/>
          <a:stretch>
            <a:fillRect/>
          </a:stretch>
        </p:blipFill>
        <p:spPr>
          <a:xfrm>
            <a:off x="1148316" y="1404052"/>
            <a:ext cx="4635795" cy="209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12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1616E-476E-DC89-A8AE-998014706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414117-B59E-9914-B6DB-6F278AD79DD7}"/>
              </a:ext>
            </a:extLst>
          </p:cNvPr>
          <p:cNvSpPr txBox="1">
            <a:spLocks/>
          </p:cNvSpPr>
          <p:nvPr/>
        </p:nvSpPr>
        <p:spPr>
          <a:xfrm>
            <a:off x="131618" y="232339"/>
            <a:ext cx="11878674" cy="1748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i="1" dirty="0"/>
              <a:t>Drinking in the Dark: A model of binge-drinking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54FC946-79B5-9F6F-EE88-D3D3119B3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18" y="3976628"/>
            <a:ext cx="6949666" cy="2475279"/>
          </a:xfrm>
        </p:spPr>
        <p:txBody>
          <a:bodyPr>
            <a:normAutofit lnSpcReduction="10000"/>
          </a:bodyPr>
          <a:lstStyle/>
          <a:p>
            <a:r>
              <a:rPr lang="en-AU" dirty="0"/>
              <a:t>Mice will drink enough to achieve blood ethanol contents (BECs) &gt;100mg/dL</a:t>
            </a:r>
          </a:p>
          <a:p>
            <a:pPr lvl="1"/>
            <a:r>
              <a:rPr lang="en-AU" dirty="0"/>
              <a:t>Binge = pattern of drinking resulting in BECs &gt;80mg/dL </a:t>
            </a:r>
          </a:p>
          <a:p>
            <a:r>
              <a:rPr lang="en-AU" dirty="0"/>
              <a:t>The behaviour causes physical signs of intoxication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46DE0D-2F04-2A41-795D-07B746084CED}"/>
              </a:ext>
            </a:extLst>
          </p:cNvPr>
          <p:cNvSpPr txBox="1"/>
          <p:nvPr/>
        </p:nvSpPr>
        <p:spPr>
          <a:xfrm>
            <a:off x="2838009" y="6256329"/>
            <a:ext cx="3370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dirty="0"/>
              <a:t>-Thiel and Navarro, 2015</a:t>
            </a:r>
          </a:p>
        </p:txBody>
      </p:sp>
      <p:pic>
        <p:nvPicPr>
          <p:cNvPr id="3" name="Picture 2" descr="Timothy-Drunk Disney Characters">
            <a:extLst>
              <a:ext uri="{FF2B5EF4-FFF2-40B4-BE49-F238E27FC236}">
                <a16:creationId xmlns:a16="http://schemas.microsoft.com/office/drawing/2014/main" id="{866B81A7-EE2E-2FFD-F948-8AC1CA7B29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05" r="24147" b="3244"/>
          <a:stretch>
            <a:fillRect/>
          </a:stretch>
        </p:blipFill>
        <p:spPr>
          <a:xfrm>
            <a:off x="1743340" y="1404480"/>
            <a:ext cx="2189338" cy="232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24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8CDBF-CF91-2A4A-24C6-76B906F4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gure 1">
            <a:extLst>
              <a:ext uri="{FF2B5EF4-FFF2-40B4-BE49-F238E27FC236}">
                <a16:creationId xmlns:a16="http://schemas.microsoft.com/office/drawing/2014/main" id="{83A9E1EC-6B3B-6FEA-ECD7-0EEAB0F12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07" y="3744654"/>
            <a:ext cx="4876800" cy="285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2D1C3D-5754-153F-970F-428C2DD3E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7300"/>
            <a:ext cx="6311900" cy="21717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3511A7-0BBF-789D-568B-734A5C4A0387}"/>
              </a:ext>
            </a:extLst>
          </p:cNvPr>
          <p:cNvSpPr txBox="1">
            <a:spLocks/>
          </p:cNvSpPr>
          <p:nvPr/>
        </p:nvSpPr>
        <p:spPr>
          <a:xfrm>
            <a:off x="131618" y="232339"/>
            <a:ext cx="11439059" cy="1748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i="1" dirty="0"/>
              <a:t>Uses of Model: Validating Treatments</a:t>
            </a:r>
          </a:p>
        </p:txBody>
      </p:sp>
    </p:spTree>
    <p:extLst>
      <p:ext uri="{BB962C8B-B14F-4D97-AF65-F5344CB8AC3E}">
        <p14:creationId xmlns:p14="http://schemas.microsoft.com/office/powerpoint/2010/main" val="739502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7EF56-F65A-09C5-4BB5-FA0DBC55A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8DE7242-C20C-7940-8F15-7705E9E43FC4}"/>
              </a:ext>
            </a:extLst>
          </p:cNvPr>
          <p:cNvGrpSpPr>
            <a:grpSpLocks noChangeAspect="1"/>
          </p:cNvGrpSpPr>
          <p:nvPr/>
        </p:nvGrpSpPr>
        <p:grpSpPr>
          <a:xfrm>
            <a:off x="104474" y="3657600"/>
            <a:ext cx="7864870" cy="1697294"/>
            <a:chOff x="1842043" y="4093907"/>
            <a:chExt cx="5848114" cy="126206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7AAC79D-1901-3D45-77D8-50A1591C7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1886" b="49811"/>
            <a:stretch>
              <a:fillRect/>
            </a:stretch>
          </p:blipFill>
          <p:spPr>
            <a:xfrm>
              <a:off x="4847303" y="4093907"/>
              <a:ext cx="1361901" cy="1262064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555A8E5-6E0C-B8C5-7899-1FBBE6576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0189" r="80302"/>
            <a:stretch>
              <a:fillRect/>
            </a:stretch>
          </p:blipFill>
          <p:spPr>
            <a:xfrm>
              <a:off x="6209204" y="4103434"/>
              <a:ext cx="1480953" cy="1252537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397B830-64CC-E2E2-E63A-B9F89C4F0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60028" b="49811"/>
            <a:stretch>
              <a:fillRect/>
            </a:stretch>
          </p:blipFill>
          <p:spPr>
            <a:xfrm>
              <a:off x="1842043" y="4093907"/>
              <a:ext cx="3005260" cy="1262064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1C440F8-68B4-6969-7C5B-FCAC63DC2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3757"/>
            <a:ext cx="7969344" cy="203384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41E482-AFB3-64E5-1E77-45C7253E23B4}"/>
              </a:ext>
            </a:extLst>
          </p:cNvPr>
          <p:cNvSpPr txBox="1">
            <a:spLocks/>
          </p:cNvSpPr>
          <p:nvPr/>
        </p:nvSpPr>
        <p:spPr>
          <a:xfrm>
            <a:off x="131618" y="232339"/>
            <a:ext cx="11439059" cy="1748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i="1" dirty="0"/>
              <a:t>Uses of Model: Exploring Mechanisms </a:t>
            </a:r>
          </a:p>
        </p:txBody>
      </p:sp>
    </p:spTree>
    <p:extLst>
      <p:ext uri="{BB962C8B-B14F-4D97-AF65-F5344CB8AC3E}">
        <p14:creationId xmlns:p14="http://schemas.microsoft.com/office/powerpoint/2010/main" val="3149766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83D59-A86A-7282-5706-E5D5ADC70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3206-B630-35BA-12F8-A2F275AE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588"/>
            <a:ext cx="10515600" cy="1325563"/>
          </a:xfrm>
        </p:spPr>
        <p:txBody>
          <a:bodyPr/>
          <a:lstStyle/>
          <a:p>
            <a:r>
              <a:rPr lang="en-AU" sz="5400" b="1" dirty="0"/>
              <a:t>Stimulants </a:t>
            </a:r>
            <a:endParaRPr lang="en-AU" b="1" dirty="0"/>
          </a:p>
        </p:txBody>
      </p:sp>
      <p:pic>
        <p:nvPicPr>
          <p:cNvPr id="3" name="Picture 2" descr="Cocaine Facts and Statistics">
            <a:extLst>
              <a:ext uri="{FF2B5EF4-FFF2-40B4-BE49-F238E27FC236}">
                <a16:creationId xmlns:a16="http://schemas.microsoft.com/office/drawing/2014/main" id="{E7B25FE5-C61B-E621-A8E6-708F50E73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022" y="3929763"/>
            <a:ext cx="5306822" cy="2980992"/>
          </a:xfrm>
          <a:prstGeom prst="rect">
            <a:avLst/>
          </a:prstGeom>
        </p:spPr>
      </p:pic>
      <p:pic>
        <p:nvPicPr>
          <p:cNvPr id="5" name="Picture 4" descr="424 Standing Curious Rat Stock Photos - Free &amp; Royalty-Free Stock Photos  from Dreamstime">
            <a:extLst>
              <a:ext uri="{FF2B5EF4-FFF2-40B4-BE49-F238E27FC236}">
                <a16:creationId xmlns:a16="http://schemas.microsoft.com/office/drawing/2014/main" id="{5034E1EA-EB69-566D-4251-C76F509734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76400" y="52755"/>
            <a:ext cx="370332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598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8179-7481-C02D-3AEC-D6093C786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AU" dirty="0"/>
              <a:t>Option 1: Experimenter-Administered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CC68D3-D0B1-31D7-44C0-B6E4B4DEC655}"/>
              </a:ext>
            </a:extLst>
          </p:cNvPr>
          <p:cNvSpPr txBox="1">
            <a:spLocks/>
          </p:cNvSpPr>
          <p:nvPr/>
        </p:nvSpPr>
        <p:spPr>
          <a:xfrm>
            <a:off x="0" y="4087217"/>
            <a:ext cx="5679831" cy="27707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Experimenter gives animal a single intraperitoneal (</a:t>
            </a:r>
            <a:r>
              <a:rPr lang="en-AU" dirty="0" err="1"/>
              <a:t>i.p.</a:t>
            </a:r>
            <a:r>
              <a:rPr lang="en-AU" dirty="0"/>
              <a:t>) injection of the drug</a:t>
            </a:r>
          </a:p>
          <a:p>
            <a:r>
              <a:rPr lang="en-AU" dirty="0"/>
              <a:t>Okay for one-off or short-term experiments, but not feasible for most addiction research</a:t>
            </a:r>
          </a:p>
        </p:txBody>
      </p:sp>
      <p:pic>
        <p:nvPicPr>
          <p:cNvPr id="5" name="Picture 4" descr="A Beginners Guide on How to Inject Mice - ichor">
            <a:extLst>
              <a:ext uri="{FF2B5EF4-FFF2-40B4-BE49-F238E27FC236}">
                <a16:creationId xmlns:a16="http://schemas.microsoft.com/office/drawing/2014/main" id="{DB33A3ED-DBBD-83D5-FD7C-1650073BE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31" y="1325563"/>
            <a:ext cx="3932108" cy="259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90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1424D-C3EF-7966-96D4-E1A0E5AFB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6164F-EF23-ED1F-4D6A-C3D6F63BA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488616" cy="1325563"/>
          </a:xfrm>
        </p:spPr>
        <p:txBody>
          <a:bodyPr/>
          <a:lstStyle/>
          <a:p>
            <a:r>
              <a:rPr lang="en-AU" dirty="0"/>
              <a:t>Option 2: Intravenous Self-Administration (IVSA)</a:t>
            </a:r>
          </a:p>
        </p:txBody>
      </p:sp>
      <p:pic>
        <p:nvPicPr>
          <p:cNvPr id="3" name="Picture 2" descr="Drug Self-Administration - an overview | ScienceDirect Topics">
            <a:extLst>
              <a:ext uri="{FF2B5EF4-FFF2-40B4-BE49-F238E27FC236}">
                <a16:creationId xmlns:a16="http://schemas.microsoft.com/office/drawing/2014/main" id="{B3EF78D2-9CC2-B79A-458D-2E7976615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4" y="1061794"/>
            <a:ext cx="4554416" cy="335953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695628F-6262-E77D-74FD-36420C1C87F0}"/>
              </a:ext>
            </a:extLst>
          </p:cNvPr>
          <p:cNvSpPr txBox="1">
            <a:spLocks/>
          </p:cNvSpPr>
          <p:nvPr/>
        </p:nvSpPr>
        <p:spPr>
          <a:xfrm>
            <a:off x="175845" y="4685094"/>
            <a:ext cx="7174523" cy="20393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Gold-standard for addiction research</a:t>
            </a:r>
          </a:p>
          <a:p>
            <a:r>
              <a:rPr lang="en-AU" dirty="0"/>
              <a:t>Indwelling catheter implanted into jugular vein</a:t>
            </a:r>
          </a:p>
          <a:p>
            <a:r>
              <a:rPr lang="en-AU" dirty="0"/>
              <a:t>Catheter can be attached to an infusion pump that delivers the drug directly to the bloodstream </a:t>
            </a:r>
          </a:p>
        </p:txBody>
      </p:sp>
    </p:spTree>
    <p:extLst>
      <p:ext uri="{BB962C8B-B14F-4D97-AF65-F5344CB8AC3E}">
        <p14:creationId xmlns:p14="http://schemas.microsoft.com/office/powerpoint/2010/main" val="871083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DD8D6-3CE2-BBB9-98A1-8EF60237C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3544-A286-6B23-F3BD-0DF71BC9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488616" cy="1325563"/>
          </a:xfrm>
        </p:spPr>
        <p:txBody>
          <a:bodyPr/>
          <a:lstStyle/>
          <a:p>
            <a:r>
              <a:rPr lang="en-AU" dirty="0"/>
              <a:t>Animal models of drug-seeking behaviour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63DE74-7003-0F4D-6E05-DA635B6149AE}"/>
              </a:ext>
            </a:extLst>
          </p:cNvPr>
          <p:cNvSpPr txBox="1">
            <a:spLocks/>
          </p:cNvSpPr>
          <p:nvPr/>
        </p:nvSpPr>
        <p:spPr>
          <a:xfrm>
            <a:off x="89021" y="1031081"/>
            <a:ext cx="7811967" cy="54760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b="1" dirty="0"/>
              <a:t>Schedules of reinforcement for IVSA</a:t>
            </a:r>
          </a:p>
          <a:p>
            <a:r>
              <a:rPr lang="en-AU" dirty="0"/>
              <a:t>Fixed Ratio</a:t>
            </a:r>
          </a:p>
          <a:p>
            <a:pPr lvl="1"/>
            <a:r>
              <a:rPr lang="en-AU" dirty="0"/>
              <a:t>One reinforcer every </a:t>
            </a:r>
            <a:r>
              <a:rPr lang="en-AU" i="1" dirty="0"/>
              <a:t>n</a:t>
            </a:r>
            <a:r>
              <a:rPr lang="en-AU" dirty="0"/>
              <a:t> responses (e.g., FR3 = 3 lever presses for one injection of drug</a:t>
            </a:r>
          </a:p>
          <a:p>
            <a:pPr lvl="1"/>
            <a:r>
              <a:rPr lang="en-AU" dirty="0"/>
              <a:t>Used during training to establish lever-pressing behaviour</a:t>
            </a:r>
          </a:p>
          <a:p>
            <a:r>
              <a:rPr lang="en-AU" dirty="0"/>
              <a:t>Progressive Ratio</a:t>
            </a:r>
          </a:p>
          <a:p>
            <a:pPr lvl="1"/>
            <a:r>
              <a:rPr lang="en-AU" dirty="0"/>
              <a:t>Number of presses required for a reinforcement increases after each injection</a:t>
            </a:r>
          </a:p>
          <a:p>
            <a:pPr lvl="2"/>
            <a:r>
              <a:rPr lang="en-AU" dirty="0"/>
              <a:t>1</a:t>
            </a:r>
            <a:r>
              <a:rPr lang="en-AU" baseline="30000" dirty="0"/>
              <a:t>st</a:t>
            </a:r>
            <a:r>
              <a:rPr lang="en-AU" dirty="0"/>
              <a:t> injection – 2 presses</a:t>
            </a:r>
          </a:p>
          <a:p>
            <a:pPr lvl="2"/>
            <a:r>
              <a:rPr lang="en-AU" dirty="0"/>
              <a:t>2</a:t>
            </a:r>
            <a:r>
              <a:rPr lang="en-AU" baseline="30000" dirty="0"/>
              <a:t>nd</a:t>
            </a:r>
            <a:r>
              <a:rPr lang="en-AU" dirty="0"/>
              <a:t> injection – 4 presses</a:t>
            </a:r>
          </a:p>
          <a:p>
            <a:pPr lvl="2"/>
            <a:r>
              <a:rPr lang="en-AU" dirty="0"/>
              <a:t>3</a:t>
            </a:r>
            <a:r>
              <a:rPr lang="en-AU" baseline="30000" dirty="0"/>
              <a:t>rd</a:t>
            </a:r>
            <a:r>
              <a:rPr lang="en-AU" dirty="0"/>
              <a:t> injection – 6 presses</a:t>
            </a:r>
          </a:p>
          <a:p>
            <a:pPr lvl="2"/>
            <a:r>
              <a:rPr lang="en-AU" dirty="0"/>
              <a:t>4</a:t>
            </a:r>
            <a:r>
              <a:rPr lang="en-AU" baseline="30000" dirty="0"/>
              <a:t>th</a:t>
            </a:r>
            <a:r>
              <a:rPr lang="en-AU" dirty="0"/>
              <a:t> injection – 9 presses</a:t>
            </a:r>
          </a:p>
          <a:p>
            <a:pPr lvl="2"/>
            <a:r>
              <a:rPr lang="en-AU" dirty="0"/>
              <a:t>etc</a:t>
            </a:r>
          </a:p>
        </p:txBody>
      </p:sp>
    </p:spTree>
    <p:extLst>
      <p:ext uri="{BB962C8B-B14F-4D97-AF65-F5344CB8AC3E}">
        <p14:creationId xmlns:p14="http://schemas.microsoft.com/office/powerpoint/2010/main" val="713059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DCC9C-8C83-3D91-3AC7-2A7353C52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57DE5-FDD9-8A19-FA0C-CA0561912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488616" cy="1325563"/>
          </a:xfrm>
        </p:spPr>
        <p:txBody>
          <a:bodyPr/>
          <a:lstStyle/>
          <a:p>
            <a:r>
              <a:rPr lang="en-AU" dirty="0"/>
              <a:t>Animal models of drug-seeking behaviour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3501C96-F8E3-3ECD-FC82-E39E2C625112}"/>
              </a:ext>
            </a:extLst>
          </p:cNvPr>
          <p:cNvSpPr txBox="1">
            <a:spLocks/>
          </p:cNvSpPr>
          <p:nvPr/>
        </p:nvSpPr>
        <p:spPr>
          <a:xfrm>
            <a:off x="89021" y="1031080"/>
            <a:ext cx="7869117" cy="58269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b="1" dirty="0"/>
              <a:t>Schedules of reinforcement for IVSA</a:t>
            </a:r>
          </a:p>
          <a:p>
            <a:r>
              <a:rPr lang="en-AU" dirty="0"/>
              <a:t>Fixed Ratio</a:t>
            </a:r>
          </a:p>
          <a:p>
            <a:pPr lvl="1"/>
            <a:r>
              <a:rPr lang="en-AU" dirty="0"/>
              <a:t>One reinforcer every </a:t>
            </a:r>
            <a:r>
              <a:rPr lang="en-AU" i="1" dirty="0"/>
              <a:t>n</a:t>
            </a:r>
            <a:r>
              <a:rPr lang="en-AU" dirty="0"/>
              <a:t> responses (e.g., FR3 = 3 lever presses for one injection of drug</a:t>
            </a:r>
          </a:p>
          <a:p>
            <a:pPr lvl="1"/>
            <a:r>
              <a:rPr lang="en-AU" dirty="0"/>
              <a:t>Used during training to establish lever-pressing behaviour</a:t>
            </a:r>
          </a:p>
          <a:p>
            <a:r>
              <a:rPr lang="en-AU" dirty="0"/>
              <a:t>Progressive Ratio</a:t>
            </a:r>
          </a:p>
          <a:p>
            <a:pPr lvl="1"/>
            <a:r>
              <a:rPr lang="en-AU" dirty="0"/>
              <a:t>Number of presses required for a reinforcement increases after each injection</a:t>
            </a:r>
          </a:p>
          <a:p>
            <a:pPr lvl="1"/>
            <a:r>
              <a:rPr lang="en-AU" dirty="0"/>
              <a:t>Breakpoint</a:t>
            </a:r>
          </a:p>
          <a:p>
            <a:pPr lvl="2"/>
            <a:r>
              <a:rPr lang="en-AU" dirty="0"/>
              <a:t>The number of presses at which the animal “gives up” and goes a certain amount of time without pressing the lever</a:t>
            </a:r>
          </a:p>
          <a:p>
            <a:pPr lvl="2"/>
            <a:r>
              <a:rPr lang="en-AU" dirty="0"/>
              <a:t>Corresponds to number of presses they completed to receive their last injection (e.g., if last injection took 162 presses, the breakpoint is 162)</a:t>
            </a:r>
          </a:p>
        </p:txBody>
      </p:sp>
    </p:spTree>
    <p:extLst>
      <p:ext uri="{BB962C8B-B14F-4D97-AF65-F5344CB8AC3E}">
        <p14:creationId xmlns:p14="http://schemas.microsoft.com/office/powerpoint/2010/main" val="3374142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9D5F09-4312-61AE-8438-4BA27BA5FD5E}"/>
              </a:ext>
            </a:extLst>
          </p:cNvPr>
          <p:cNvSpPr txBox="1"/>
          <p:nvPr/>
        </p:nvSpPr>
        <p:spPr>
          <a:xfrm>
            <a:off x="4587141" y="6202919"/>
            <a:ext cx="3370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Xi et al., 2013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2FB5-EB28-8E25-7E7A-350DE6F700E2}"/>
              </a:ext>
            </a:extLst>
          </p:cNvPr>
          <p:cNvSpPr txBox="1">
            <a:spLocks/>
          </p:cNvSpPr>
          <p:nvPr/>
        </p:nvSpPr>
        <p:spPr>
          <a:xfrm>
            <a:off x="0" y="28576"/>
            <a:ext cx="1148861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Testing Potential Treatments using IVSA and Progressive Ratio Breakpoints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A3EFD8-759C-0442-DC78-7909629CBFF4}"/>
              </a:ext>
            </a:extLst>
          </p:cNvPr>
          <p:cNvSpPr txBox="1">
            <a:spLocks/>
          </p:cNvSpPr>
          <p:nvPr/>
        </p:nvSpPr>
        <p:spPr>
          <a:xfrm>
            <a:off x="89022" y="1543050"/>
            <a:ext cx="7026154" cy="53149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Background</a:t>
            </a:r>
            <a:endParaRPr lang="en-AU" b="1" dirty="0"/>
          </a:p>
          <a:p>
            <a:r>
              <a:rPr lang="en-AU" dirty="0"/>
              <a:t>Cocaine is a dopamine “agonist” (i.e., increases dopamine activity in the brain)</a:t>
            </a:r>
          </a:p>
          <a:p>
            <a:r>
              <a:rPr lang="en-AU" dirty="0"/>
              <a:t>There are 5 subtypes of dopamine receptor in the brain (D1-D5). They are expressed in different areas and do different things when dopamine binds to them.</a:t>
            </a:r>
          </a:p>
          <a:p>
            <a:r>
              <a:rPr lang="en-AU" dirty="0"/>
              <a:t>Some drugs selectively block activity at specific dopamine receptor subtypes</a:t>
            </a:r>
          </a:p>
          <a:p>
            <a:pPr lvl="1"/>
            <a:r>
              <a:rPr lang="en-AU" dirty="0"/>
              <a:t>Haloperidol (mostly blocks D2)</a:t>
            </a:r>
          </a:p>
          <a:p>
            <a:pPr lvl="1"/>
            <a:r>
              <a:rPr lang="en-AU" dirty="0"/>
              <a:t>SB-277011A (blocks D3)</a:t>
            </a:r>
          </a:p>
          <a:p>
            <a:pPr lvl="1"/>
            <a:endParaRPr lang="en-AU" dirty="0"/>
          </a:p>
        </p:txBody>
      </p:sp>
      <p:pic>
        <p:nvPicPr>
          <p:cNvPr id="6" name="Picture 5" descr="Explainer: What is neurotransmission?">
            <a:extLst>
              <a:ext uri="{FF2B5EF4-FFF2-40B4-BE49-F238E27FC236}">
                <a16:creationId xmlns:a16="http://schemas.microsoft.com/office/drawing/2014/main" id="{FA045B63-0ED2-AF6D-0F9E-5A936E95B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708" y="1317905"/>
            <a:ext cx="4354191" cy="246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059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C7DFD-3CA1-C985-1B00-861AE5E2C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g. 3">
            <a:extLst>
              <a:ext uri="{FF2B5EF4-FFF2-40B4-BE49-F238E27FC236}">
                <a16:creationId xmlns:a16="http://schemas.microsoft.com/office/drawing/2014/main" id="{704B3BDE-6BDC-F22A-1E39-28067A65B1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711"/>
          <a:stretch>
            <a:fillRect/>
          </a:stretch>
        </p:blipFill>
        <p:spPr>
          <a:xfrm>
            <a:off x="0" y="1504920"/>
            <a:ext cx="6317158" cy="2938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FB5060-4C86-0B41-D334-634C503C488B}"/>
              </a:ext>
            </a:extLst>
          </p:cNvPr>
          <p:cNvSpPr txBox="1"/>
          <p:nvPr/>
        </p:nvSpPr>
        <p:spPr>
          <a:xfrm>
            <a:off x="5672138" y="6460092"/>
            <a:ext cx="3370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Xi et al., 2013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1354E5-4A8A-F905-0474-175623E86B2D}"/>
              </a:ext>
            </a:extLst>
          </p:cNvPr>
          <p:cNvSpPr txBox="1">
            <a:spLocks/>
          </p:cNvSpPr>
          <p:nvPr/>
        </p:nvSpPr>
        <p:spPr>
          <a:xfrm>
            <a:off x="0" y="28576"/>
            <a:ext cx="1148861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Testing Potential Treatments using IVSA and Progressive Ratio Breakpoints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B0B067-B784-96C4-B23A-4E145BA198CF}"/>
              </a:ext>
            </a:extLst>
          </p:cNvPr>
          <p:cNvSpPr txBox="1">
            <a:spLocks/>
          </p:cNvSpPr>
          <p:nvPr/>
        </p:nvSpPr>
        <p:spPr>
          <a:xfrm>
            <a:off x="100745" y="4745729"/>
            <a:ext cx="5771417" cy="18858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Pre-treatment with the D3 antagonist decreased motivation to work for cocaine (i.e., dramatically lowered the breakpoint).</a:t>
            </a:r>
          </a:p>
        </p:txBody>
      </p:sp>
    </p:spTree>
    <p:extLst>
      <p:ext uri="{BB962C8B-B14F-4D97-AF65-F5344CB8AC3E}">
        <p14:creationId xmlns:p14="http://schemas.microsoft.com/office/powerpoint/2010/main" val="3501204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g. 5">
            <a:extLst>
              <a:ext uri="{FF2B5EF4-FFF2-40B4-BE49-F238E27FC236}">
                <a16:creationId xmlns:a16="http://schemas.microsoft.com/office/drawing/2014/main" id="{8C5A1FE7-E885-BE9F-4827-8B5C01E5DA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99"/>
          <a:stretch>
            <a:fillRect/>
          </a:stretch>
        </p:blipFill>
        <p:spPr>
          <a:xfrm>
            <a:off x="0" y="1564380"/>
            <a:ext cx="6646317" cy="23503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4E0BC8-0ECC-CA6E-D0FD-09814CD1F56F}"/>
              </a:ext>
            </a:extLst>
          </p:cNvPr>
          <p:cNvSpPr txBox="1"/>
          <p:nvPr/>
        </p:nvSpPr>
        <p:spPr>
          <a:xfrm>
            <a:off x="5846217" y="6274356"/>
            <a:ext cx="3370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Xi et al., 2013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1CB71-A287-B09A-46A3-C70E6A327DC4}"/>
              </a:ext>
            </a:extLst>
          </p:cNvPr>
          <p:cNvSpPr txBox="1">
            <a:spLocks/>
          </p:cNvSpPr>
          <p:nvPr/>
        </p:nvSpPr>
        <p:spPr>
          <a:xfrm>
            <a:off x="0" y="28576"/>
            <a:ext cx="1148861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Testing Potential Treatments using IVSA and Progressive Ratio Breakpoints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2D039C-65FF-8A1B-1680-CD7DDB86D4A3}"/>
              </a:ext>
            </a:extLst>
          </p:cNvPr>
          <p:cNvSpPr txBox="1">
            <a:spLocks/>
          </p:cNvSpPr>
          <p:nvPr/>
        </p:nvSpPr>
        <p:spPr>
          <a:xfrm>
            <a:off x="115033" y="4125016"/>
            <a:ext cx="6385780" cy="251867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Pre-treatment with the D3 antagonist had no impact on locomotor activity. </a:t>
            </a:r>
          </a:p>
          <a:p>
            <a:r>
              <a:rPr lang="en-AU" dirty="0"/>
              <a:t>Locomotor activity was significantly reduced with the D2 antagonist.</a:t>
            </a:r>
          </a:p>
        </p:txBody>
      </p:sp>
    </p:spTree>
    <p:extLst>
      <p:ext uri="{BB962C8B-B14F-4D97-AF65-F5344CB8AC3E}">
        <p14:creationId xmlns:p14="http://schemas.microsoft.com/office/powerpoint/2010/main" val="3554216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2B11C-612E-96FB-7115-32464753D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AU" dirty="0"/>
              <a:t>But what about sex??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F678E-D61E-07C2-6E89-65670A897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54163"/>
            <a:ext cx="6719888" cy="4351338"/>
          </a:xfrm>
        </p:spPr>
        <p:txBody>
          <a:bodyPr/>
          <a:lstStyle/>
          <a:p>
            <a:r>
              <a:rPr lang="en-AU" dirty="0"/>
              <a:t>Impacts of alcohol and stimulants on male sexual behaviour/decision-making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4178230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254A7-BAC3-FAB8-6EBA-105AD87E0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77220-EC3E-8F60-4E09-E28F1702C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6649"/>
            <a:ext cx="6719888" cy="580160"/>
          </a:xfrm>
        </p:spPr>
        <p:txBody>
          <a:bodyPr/>
          <a:lstStyle/>
          <a:p>
            <a:pPr marL="0" indent="0" algn="ctr">
              <a:buNone/>
            </a:pPr>
            <a:r>
              <a:rPr lang="en-AU" dirty="0"/>
              <a:t>Training</a:t>
            </a:r>
          </a:p>
        </p:txBody>
      </p:sp>
      <p:pic>
        <p:nvPicPr>
          <p:cNvPr id="4" name="Picture 3" descr="LE(Long-Evans)">
            <a:extLst>
              <a:ext uri="{FF2B5EF4-FFF2-40B4-BE49-F238E27FC236}">
                <a16:creationId xmlns:a16="http://schemas.microsoft.com/office/drawing/2014/main" id="{163EACE9-8E2E-E1C9-E0FD-9DC754CEE1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5724" y="890588"/>
            <a:ext cx="3402806" cy="153279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44A67DBB-D055-D10E-B7C1-28250926D3D2}"/>
              </a:ext>
            </a:extLst>
          </p:cNvPr>
          <p:cNvGrpSpPr/>
          <p:nvPr/>
        </p:nvGrpSpPr>
        <p:grpSpPr>
          <a:xfrm>
            <a:off x="4848226" y="344487"/>
            <a:ext cx="3402806" cy="3231056"/>
            <a:chOff x="4848226" y="344487"/>
            <a:chExt cx="3402806" cy="3231056"/>
          </a:xfrm>
        </p:grpSpPr>
        <p:pic>
          <p:nvPicPr>
            <p:cNvPr id="5" name="Picture 4" descr="LE(Long-Evans)">
              <a:extLst>
                <a:ext uri="{FF2B5EF4-FFF2-40B4-BE49-F238E27FC236}">
                  <a16:creationId xmlns:a16="http://schemas.microsoft.com/office/drawing/2014/main" id="{F514AF6A-6096-FEE5-B2DF-99B60AB85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 flipH="1">
              <a:off x="4848226" y="344487"/>
              <a:ext cx="3402806" cy="1532795"/>
            </a:xfrm>
            <a:prstGeom prst="rect">
              <a:avLst/>
            </a:prstGeom>
          </p:spPr>
        </p:pic>
        <p:pic>
          <p:nvPicPr>
            <p:cNvPr id="6" name="Picture 5" descr="LE(Long-Evans)">
              <a:extLst>
                <a:ext uri="{FF2B5EF4-FFF2-40B4-BE49-F238E27FC236}">
                  <a16:creationId xmlns:a16="http://schemas.microsoft.com/office/drawing/2014/main" id="{E8580EDA-71AB-5DE3-BC5E-66BE70BE8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 flipH="1">
              <a:off x="4848226" y="2042748"/>
              <a:ext cx="3402806" cy="1532795"/>
            </a:xfrm>
            <a:prstGeom prst="rect">
              <a:avLst/>
            </a:prstGeom>
          </p:spPr>
        </p:pic>
        <p:pic>
          <p:nvPicPr>
            <p:cNvPr id="10" name="Picture 9" descr="Pink bow by V-Phantomhive on DeviantArt">
              <a:extLst>
                <a:ext uri="{FF2B5EF4-FFF2-40B4-BE49-F238E27FC236}">
                  <a16:creationId xmlns:a16="http://schemas.microsoft.com/office/drawing/2014/main" id="{78A2464E-7225-0CAB-F417-4B764C40D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7986" t="27373" r="18576" b="31528"/>
            <a:stretch>
              <a:fillRect/>
            </a:stretch>
          </p:blipFill>
          <p:spPr>
            <a:xfrm>
              <a:off x="5700713" y="543918"/>
              <a:ext cx="578644" cy="374880"/>
            </a:xfrm>
            <a:prstGeom prst="rect">
              <a:avLst/>
            </a:prstGeom>
          </p:spPr>
        </p:pic>
        <p:pic>
          <p:nvPicPr>
            <p:cNvPr id="12" name="Picture 11" descr="Pink bow by V-Phantomhive on DeviantArt">
              <a:extLst>
                <a:ext uri="{FF2B5EF4-FFF2-40B4-BE49-F238E27FC236}">
                  <a16:creationId xmlns:a16="http://schemas.microsoft.com/office/drawing/2014/main" id="{770198D2-409F-4286-FF5C-85BE798E3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7986" t="27373" r="18576" b="31528"/>
            <a:stretch>
              <a:fillRect/>
            </a:stretch>
          </p:blipFill>
          <p:spPr>
            <a:xfrm>
              <a:off x="5700713" y="2222318"/>
              <a:ext cx="578644" cy="374880"/>
            </a:xfrm>
            <a:prstGeom prst="rect">
              <a:avLst/>
            </a:prstGeom>
          </p:spPr>
        </p:pic>
        <p:pic>
          <p:nvPicPr>
            <p:cNvPr id="14" name="Picture 13" descr="Almond Png Picture Transparent HQ PNG Download | FreePNGimg">
              <a:extLst>
                <a:ext uri="{FF2B5EF4-FFF2-40B4-BE49-F238E27FC236}">
                  <a16:creationId xmlns:a16="http://schemas.microsoft.com/office/drawing/2014/main" id="{49DB6426-138D-08D2-1A5B-3F091523D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6302375" y="1814783"/>
              <a:ext cx="1270000" cy="1016000"/>
            </a:xfrm>
            <a:prstGeom prst="rect">
              <a:avLst/>
            </a:prstGeom>
          </p:spPr>
        </p:pic>
      </p:grpSp>
      <p:sp>
        <p:nvSpPr>
          <p:cNvPr id="19" name="Oval Callout 18">
            <a:extLst>
              <a:ext uri="{FF2B5EF4-FFF2-40B4-BE49-F238E27FC236}">
                <a16:creationId xmlns:a16="http://schemas.microsoft.com/office/drawing/2014/main" id="{D604D609-8BF6-2FFC-0DD5-8FBCDA28BD3F}"/>
              </a:ext>
            </a:extLst>
          </p:cNvPr>
          <p:cNvSpPr/>
          <p:nvPr/>
        </p:nvSpPr>
        <p:spPr>
          <a:xfrm>
            <a:off x="3904727" y="1072180"/>
            <a:ext cx="1113758" cy="541323"/>
          </a:xfrm>
          <a:prstGeom prst="wedgeEllipseCallout">
            <a:avLst>
              <a:gd name="adj1" fmla="val 67889"/>
              <a:gd name="adj2" fmla="val -4944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rgbClr val="00B050"/>
                </a:solidFill>
              </a:rPr>
              <a:t>YES!</a:t>
            </a:r>
          </a:p>
        </p:txBody>
      </p:sp>
      <p:sp>
        <p:nvSpPr>
          <p:cNvPr id="20" name="Oval Callout 19">
            <a:extLst>
              <a:ext uri="{FF2B5EF4-FFF2-40B4-BE49-F238E27FC236}">
                <a16:creationId xmlns:a16="http://schemas.microsoft.com/office/drawing/2014/main" id="{EB6C90AD-4441-EB2F-3732-23D296993427}"/>
              </a:ext>
            </a:extLst>
          </p:cNvPr>
          <p:cNvSpPr/>
          <p:nvPr/>
        </p:nvSpPr>
        <p:spPr>
          <a:xfrm>
            <a:off x="3478138" y="2193760"/>
            <a:ext cx="1338536" cy="541323"/>
          </a:xfrm>
          <a:prstGeom prst="wedgeEllipseCallout">
            <a:avLst>
              <a:gd name="adj1" fmla="val 84769"/>
              <a:gd name="adj2" fmla="val 452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rgbClr val="FF0000"/>
                </a:solidFill>
              </a:rPr>
              <a:t>Nope.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A93062A-61B3-51DB-382F-4A20A82A00B0}"/>
              </a:ext>
            </a:extLst>
          </p:cNvPr>
          <p:cNvSpPr txBox="1">
            <a:spLocks/>
          </p:cNvSpPr>
          <p:nvPr/>
        </p:nvSpPr>
        <p:spPr>
          <a:xfrm>
            <a:off x="0" y="4073202"/>
            <a:ext cx="6719888" cy="580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dirty="0"/>
              <a:t>Test</a:t>
            </a:r>
          </a:p>
        </p:txBody>
      </p:sp>
      <p:pic>
        <p:nvPicPr>
          <p:cNvPr id="22" name="Picture 21" descr="LE(Long-Evans)">
            <a:extLst>
              <a:ext uri="{FF2B5EF4-FFF2-40B4-BE49-F238E27FC236}">
                <a16:creationId xmlns:a16="http://schemas.microsoft.com/office/drawing/2014/main" id="{A3B20929-699F-AC24-113D-29BFF98B90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5724" y="5103378"/>
            <a:ext cx="3402806" cy="1532795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EAE3AF9-A7AF-9ED6-96BB-657C90B03113}"/>
              </a:ext>
            </a:extLst>
          </p:cNvPr>
          <p:cNvGrpSpPr/>
          <p:nvPr/>
        </p:nvGrpSpPr>
        <p:grpSpPr>
          <a:xfrm>
            <a:off x="4461606" y="3793852"/>
            <a:ext cx="3402806" cy="3231056"/>
            <a:chOff x="4848226" y="344487"/>
            <a:chExt cx="3402806" cy="3231056"/>
          </a:xfrm>
        </p:grpSpPr>
        <p:pic>
          <p:nvPicPr>
            <p:cNvPr id="25" name="Picture 24" descr="LE(Long-Evans)">
              <a:extLst>
                <a:ext uri="{FF2B5EF4-FFF2-40B4-BE49-F238E27FC236}">
                  <a16:creationId xmlns:a16="http://schemas.microsoft.com/office/drawing/2014/main" id="{E83BA1FD-F590-06AA-FA70-C9187B765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 flipH="1">
              <a:off x="4848226" y="344487"/>
              <a:ext cx="3402806" cy="1532795"/>
            </a:xfrm>
            <a:prstGeom prst="rect">
              <a:avLst/>
            </a:prstGeom>
          </p:spPr>
        </p:pic>
        <p:pic>
          <p:nvPicPr>
            <p:cNvPr id="26" name="Picture 25" descr="LE(Long-Evans)">
              <a:extLst>
                <a:ext uri="{FF2B5EF4-FFF2-40B4-BE49-F238E27FC236}">
                  <a16:creationId xmlns:a16="http://schemas.microsoft.com/office/drawing/2014/main" id="{C3CEB0D0-B6E9-3C5D-7F7F-642F21DF7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 flipH="1">
              <a:off x="4848226" y="2042748"/>
              <a:ext cx="3402806" cy="1532795"/>
            </a:xfrm>
            <a:prstGeom prst="rect">
              <a:avLst/>
            </a:prstGeom>
          </p:spPr>
        </p:pic>
        <p:pic>
          <p:nvPicPr>
            <p:cNvPr id="27" name="Picture 26" descr="Pink bow by V-Phantomhive on DeviantArt">
              <a:extLst>
                <a:ext uri="{FF2B5EF4-FFF2-40B4-BE49-F238E27FC236}">
                  <a16:creationId xmlns:a16="http://schemas.microsoft.com/office/drawing/2014/main" id="{1B233F0A-1E95-8AF4-8F5D-C65C6D2A6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7986" t="27373" r="18576" b="31528"/>
            <a:stretch>
              <a:fillRect/>
            </a:stretch>
          </p:blipFill>
          <p:spPr>
            <a:xfrm>
              <a:off x="5700713" y="543918"/>
              <a:ext cx="578644" cy="374880"/>
            </a:xfrm>
            <a:prstGeom prst="rect">
              <a:avLst/>
            </a:prstGeom>
          </p:spPr>
        </p:pic>
        <p:pic>
          <p:nvPicPr>
            <p:cNvPr id="28" name="Picture 27" descr="Pink bow by V-Phantomhive on DeviantArt">
              <a:extLst>
                <a:ext uri="{FF2B5EF4-FFF2-40B4-BE49-F238E27FC236}">
                  <a16:creationId xmlns:a16="http://schemas.microsoft.com/office/drawing/2014/main" id="{9D161093-A019-66D0-4D8A-51B5C96C5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17986" t="27373" r="18576" b="31528"/>
            <a:stretch>
              <a:fillRect/>
            </a:stretch>
          </p:blipFill>
          <p:spPr>
            <a:xfrm>
              <a:off x="5700713" y="2222318"/>
              <a:ext cx="578644" cy="374880"/>
            </a:xfrm>
            <a:prstGeom prst="rect">
              <a:avLst/>
            </a:prstGeom>
          </p:spPr>
        </p:pic>
        <p:pic>
          <p:nvPicPr>
            <p:cNvPr id="29" name="Picture 28" descr="Almond Png Picture Transparent HQ PNG Download | FreePNGimg">
              <a:extLst>
                <a:ext uri="{FF2B5EF4-FFF2-40B4-BE49-F238E27FC236}">
                  <a16:creationId xmlns:a16="http://schemas.microsoft.com/office/drawing/2014/main" id="{4722494F-5CBD-5F95-5701-E7A7B6CA5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6302375" y="1814783"/>
              <a:ext cx="1270000" cy="1016000"/>
            </a:xfrm>
            <a:prstGeom prst="rect">
              <a:avLst/>
            </a:prstGeom>
          </p:spPr>
        </p:pic>
      </p:grpSp>
      <p:sp>
        <p:nvSpPr>
          <p:cNvPr id="30" name="Oval Callout 29">
            <a:extLst>
              <a:ext uri="{FF2B5EF4-FFF2-40B4-BE49-F238E27FC236}">
                <a16:creationId xmlns:a16="http://schemas.microsoft.com/office/drawing/2014/main" id="{F3385BB4-77DB-3B8A-630B-3AEA9D07BBC5}"/>
              </a:ext>
            </a:extLst>
          </p:cNvPr>
          <p:cNvSpPr/>
          <p:nvPr/>
        </p:nvSpPr>
        <p:spPr>
          <a:xfrm>
            <a:off x="3478138" y="4562055"/>
            <a:ext cx="1113758" cy="541323"/>
          </a:xfrm>
          <a:prstGeom prst="wedgeEllipseCallout">
            <a:avLst>
              <a:gd name="adj1" fmla="val 67889"/>
              <a:gd name="adj2" fmla="val -4944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rgbClr val="00B050"/>
                </a:solidFill>
              </a:rPr>
              <a:t>YES!</a:t>
            </a:r>
          </a:p>
        </p:txBody>
      </p:sp>
      <p:sp>
        <p:nvSpPr>
          <p:cNvPr id="31" name="Oval Callout 30">
            <a:extLst>
              <a:ext uri="{FF2B5EF4-FFF2-40B4-BE49-F238E27FC236}">
                <a16:creationId xmlns:a16="http://schemas.microsoft.com/office/drawing/2014/main" id="{06569F28-0630-7865-0541-52211DE54BD3}"/>
              </a:ext>
            </a:extLst>
          </p:cNvPr>
          <p:cNvSpPr/>
          <p:nvPr/>
        </p:nvSpPr>
        <p:spPr>
          <a:xfrm>
            <a:off x="3324830" y="5748016"/>
            <a:ext cx="1113758" cy="541323"/>
          </a:xfrm>
          <a:prstGeom prst="wedgeEllipseCallout">
            <a:avLst>
              <a:gd name="adj1" fmla="val 76099"/>
              <a:gd name="adj2" fmla="val 293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rgbClr val="00B050"/>
                </a:solidFill>
              </a:rPr>
              <a:t>YES!</a:t>
            </a:r>
          </a:p>
        </p:txBody>
      </p:sp>
    </p:spTree>
    <p:extLst>
      <p:ext uri="{BB962C8B-B14F-4D97-AF65-F5344CB8AC3E}">
        <p14:creationId xmlns:p14="http://schemas.microsoft.com/office/powerpoint/2010/main" val="358268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FD765-76FF-97EE-B577-C18639A36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F326A6-AEF4-55BB-BE9A-35C8D8A0D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19" y="1578356"/>
            <a:ext cx="5210858" cy="38775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971D3D-D31A-756B-6090-70634ABABBD5}"/>
              </a:ext>
            </a:extLst>
          </p:cNvPr>
          <p:cNvSpPr txBox="1"/>
          <p:nvPr/>
        </p:nvSpPr>
        <p:spPr>
          <a:xfrm>
            <a:off x="2354878" y="6351755"/>
            <a:ext cx="3370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Germe and </a:t>
            </a:r>
            <a:r>
              <a:rPr lang="en-AU" dirty="0" err="1"/>
              <a:t>Pfaus</a:t>
            </a:r>
            <a:r>
              <a:rPr lang="en-AU" dirty="0"/>
              <a:t>, 2024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E6118-CAE2-5EA0-F765-0F95C51A8F57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117092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Impacts of alcohol on learned sexual inhibition</a:t>
            </a:r>
          </a:p>
        </p:txBody>
      </p:sp>
    </p:spTree>
    <p:extLst>
      <p:ext uri="{BB962C8B-B14F-4D97-AF65-F5344CB8AC3E}">
        <p14:creationId xmlns:p14="http://schemas.microsoft.com/office/powerpoint/2010/main" val="710528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94DDC-6987-DB02-797B-AE78F01B4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4C4FF9-D1DF-BEBE-184F-A42E6E8ABA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21" r="11884" b="24285"/>
          <a:stretch>
            <a:fillRect/>
          </a:stretch>
        </p:blipFill>
        <p:spPr>
          <a:xfrm>
            <a:off x="320040" y="1343818"/>
            <a:ext cx="7437051" cy="23981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0020AD-3876-DC01-4502-3E476BB6AA52}"/>
              </a:ext>
            </a:extLst>
          </p:cNvPr>
          <p:cNvSpPr txBox="1"/>
          <p:nvPr/>
        </p:nvSpPr>
        <p:spPr>
          <a:xfrm>
            <a:off x="4386094" y="3741974"/>
            <a:ext cx="3370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dirty="0"/>
              <a:t>Germe et al., 2025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20CF6-2FBA-C1AE-6BBE-E40C4C7BF48A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117092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Impacts of amphetamine on learned sexual inhibition</a:t>
            </a:r>
          </a:p>
        </p:txBody>
      </p:sp>
    </p:spTree>
    <p:extLst>
      <p:ext uri="{BB962C8B-B14F-4D97-AF65-F5344CB8AC3E}">
        <p14:creationId xmlns:p14="http://schemas.microsoft.com/office/powerpoint/2010/main" val="2644734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1918</TotalTime>
  <Words>784</Words>
  <Application>Microsoft Macintosh PowerPoint</Application>
  <PresentationFormat>Widescreen</PresentationFormat>
  <Paragraphs>104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Bad Drugs (Animal Models of Addiction)</vt:lpstr>
      <vt:lpstr>Why study drugs of addiction in animal models?</vt:lpstr>
      <vt:lpstr>Step 1: Get your rat hooked on drugs</vt:lpstr>
      <vt:lpstr>Alcohol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Stimulants </vt:lpstr>
      <vt:lpstr>Option 1: Experimenter-Administered</vt:lpstr>
      <vt:lpstr>Option 2: Intravenous Self-Administration (IVSA)</vt:lpstr>
      <vt:lpstr>Animal models of drug-seeking behaviour</vt:lpstr>
      <vt:lpstr>Animal models of drug-seeking behaviour</vt:lpstr>
      <vt:lpstr>PowerPoint Presentation</vt:lpstr>
      <vt:lpstr>PowerPoint Presentation</vt:lpstr>
      <vt:lpstr>PowerPoint Presentation</vt:lpstr>
      <vt:lpstr>But what about sex??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Kelsey Zimmermann</dc:creator>
  <cp:lastModifiedBy>Microsoft Office User</cp:lastModifiedBy>
  <cp:revision>20</cp:revision>
  <dcterms:created xsi:type="dcterms:W3CDTF">2026-10-04T10:44:27Z</dcterms:created>
  <dcterms:modified xsi:type="dcterms:W3CDTF">2026-10-05T21:35:21Z</dcterms:modified>
</cp:coreProperties>
</file>