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365" r:id="rId5"/>
    <p:sldId id="316" r:id="rId6"/>
    <p:sldId id="367" r:id="rId7"/>
    <p:sldId id="411" r:id="rId8"/>
    <p:sldId id="376" r:id="rId9"/>
    <p:sldId id="375" r:id="rId10"/>
    <p:sldId id="371" r:id="rId11"/>
    <p:sldId id="372" r:id="rId12"/>
    <p:sldId id="369" r:id="rId13"/>
    <p:sldId id="412" r:id="rId14"/>
    <p:sldId id="415" r:id="rId15"/>
    <p:sldId id="413" r:id="rId16"/>
    <p:sldId id="41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4D2A"/>
    <a:srgbClr val="FE836A"/>
    <a:srgbClr val="FE6A4C"/>
    <a:srgbClr val="F89B56"/>
    <a:srgbClr val="FEC422"/>
    <a:srgbClr val="FF6600"/>
    <a:srgbClr val="DC97FF"/>
    <a:srgbClr val="F9A62B"/>
    <a:srgbClr val="F0EA00"/>
    <a:srgbClr val="C84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28" autoAdjust="0"/>
    <p:restoredTop sz="88672"/>
  </p:normalViewPr>
  <p:slideViewPr>
    <p:cSldViewPr snapToGrid="0">
      <p:cViewPr varScale="1">
        <p:scale>
          <a:sx n="91" d="100"/>
          <a:sy n="91" d="100"/>
        </p:scale>
        <p:origin x="22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198C32-9701-7B42-8C65-37ADA0C43D94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CBF29-3099-3B47-9DF1-CC615D0DD0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719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CBF29-3099-3B47-9DF1-CC615D0DD098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5601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6429A-7C8B-3BDF-B48D-888C3E24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CC182-7BEA-EC06-90D1-0B43AC245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C95A6-F61E-2F68-08EA-92B283353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C3939-0270-0FAD-0227-820586624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CBF29-3099-3B47-9DF1-CC615D0DD098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3223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201D8-51E4-FDCE-040C-DB3D31B4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67BB6-C15D-5156-B76F-5E42BB23D6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C8048-A224-EE01-8B49-0B0CF7962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6E2BC-C228-E428-76CC-AB6104D8A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CBF29-3099-3B47-9DF1-CC615D0DD098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671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8582C-9664-2138-CD1F-1CCBB220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174-4866-B824-6F52-C89076A76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1B9EB-25CF-E757-3A99-4876B32E7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8A564-4AC7-0AF2-078F-0FE8BFEF8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CBF29-3099-3B47-9DF1-CC615D0DD098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971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7F5E2-A9CF-A531-8CC5-63F442D5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00D2E-432C-7586-1271-0757EFA0B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EFF73-CF69-6CC1-2A7D-2168BBB6A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40DB2-3B81-7DD3-0E5C-9F59160E8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CBF29-3099-3B47-9DF1-CC615D0DD098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1635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20CA-E419-174A-98C3-56435504D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F11D1-E477-E3D4-B7C7-B311A8BCA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928E9-F5EF-C709-1874-CB2E70065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BCB90-7ACA-624E-B69C-29AD58FBDAAB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F39FF-D2BB-7966-7384-03AF4899F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43268-7ED7-71D4-D3E4-EC1233B2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BC2D-E513-BF4F-986B-0A9D2EF542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7609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59DF-03AF-614C-D305-DBC02A8B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76DB0-32F6-3391-5AF4-90269C202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36A2F-ECB6-7C9C-42F8-0C94AB4B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BCB90-7ACA-624E-B69C-29AD58FBDAAB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55C6D-AD28-2036-91B2-92589D0ED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A4B42-54FB-708C-2987-38E88708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BC2D-E513-BF4F-986B-0A9D2EF542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0285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6596-233C-7634-3F40-8C15425AD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E9D74-97E9-9888-6F4B-BFD4E5090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A11CB-D5F4-9273-02FE-8B68BBC94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BCB90-7ACA-624E-B69C-29AD58FBDAAB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E83A5-6872-EB83-512C-5A2F317E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4D3D5-091A-7DC3-6926-A37C5498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BC2D-E513-BF4F-986B-0A9D2EF542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135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C9E4-3A78-1085-3A84-82FCE15D4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CA0B-5046-4092-3343-997DAF480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E790E-4AD9-282E-9BFE-5C631F427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B7EB7-6896-554B-7F98-5BE52D0D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BCB90-7ACA-624E-B69C-29AD58FBDAAB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E64CF-2C26-2969-7C7A-8D8C5DCCA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0F747-5102-4702-4C54-C99D0D83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BC2D-E513-BF4F-986B-0A9D2EF542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9937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E3F79-1822-97D5-4CF1-188999C78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BE7EC-CD26-5B5E-C35B-E2163A3B8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33212-F71A-7351-CA0D-300067342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1325A-9AAD-CC68-2624-DC10C842F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A379E-B55C-930D-B093-E0C711901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3A5701-6122-7929-0E7C-269F52E04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BCB90-7ACA-624E-B69C-29AD58FBDAAB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612E8F-DF9F-06A7-6CC3-1BA2DC29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C79B60-8318-A7B1-DF14-0FA744D8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BC2D-E513-BF4F-986B-0A9D2EF542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32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90CD-4470-22A1-6BEA-0C8E8E4CC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D503F4-4187-56DF-1D17-89E8E5229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BCB90-7ACA-624E-B69C-29AD58FBDAAB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13A90F-C93F-C1E5-AF58-36ED37D2A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24ECD-4C6D-F231-8910-934BE678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BC2D-E513-BF4F-986B-0A9D2EF542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0250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5AB58E-2A25-F9C2-5095-89F0469F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BCB90-7ACA-624E-B69C-29AD58FBDAAB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4A9FC-647D-620C-F9F5-CBD38E6A9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08CB1-48CF-0D3C-91C9-E76DED679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BC2D-E513-BF4F-986B-0A9D2EF542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0706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5812E-4F40-8B82-192B-C4FBBD60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30B52-8C59-6898-E2B8-1AFDDBBF1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0A95E-1917-69F5-AAED-48E171622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DFD12-DF74-39A1-98A5-57C18B03B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BCB90-7ACA-624E-B69C-29AD58FBDAAB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FBD19-A73F-5387-1C89-16707116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31960-CF27-7BE5-D54D-A4B66A7E1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BC2D-E513-BF4F-986B-0A9D2EF542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1672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13B06-2C5C-12A5-FF75-FA83622B3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95FB4-C303-53E2-8DE9-F802E0687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B1AC5-6516-BBAD-B506-183C87CE1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38F39-4704-14AB-760E-2C052ED0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BCB90-7ACA-624E-B69C-29AD58FBDAAB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BBE33-30B7-A511-063F-6732866E9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AC179-C2DA-F598-6F97-EA4469A3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BC2D-E513-BF4F-986B-0A9D2EF542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883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E760-FD51-5188-4365-B307A2818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1178D-9B05-EB18-F6C5-FCDB2344F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A5826-3778-0779-6851-9C3A686C9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BCB90-7ACA-624E-B69C-29AD58FBDAAB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2A71F-FA1F-F32D-5F2B-21C18DFC3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AF152-663A-34F7-BED9-22F97EC2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BC2D-E513-BF4F-986B-0A9D2EF542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459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80137A-2AEA-0A93-94BE-4F57F435C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F4B40-B1F1-F966-8CAE-EE3C1F377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B8FDA-87D6-1198-3162-ABE28094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BCB90-7ACA-624E-B69C-29AD58FBDAAB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007C1-BCE7-7907-96DA-3D07E210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286A3-C6EF-EAD0-C903-031C2B0E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3BC2D-E513-BF4F-986B-0A9D2EF542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8510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D219F-5708-B17C-DD1D-4397F38F3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74EB5-5B46-D1DA-E27A-8B03BF36C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02272-D71F-E6C8-089D-DA6C4E138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BCB90-7ACA-624E-B69C-29AD58FBDAAB}" type="datetimeFigureOut">
              <a:rPr lang="en-AU" smtClean="0"/>
              <a:t>31/8/2026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1EBC1-84FD-158A-528B-E0A6D05B7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084A1-19FF-E585-AD3C-84620BA20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53BC2D-E513-BF4F-986B-0A9D2EF542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80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nexplores.org/article/explainer-what-is-a-neuron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cower.mit.edu/events/dendrites-molecules-structure-and-function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urses.lumenlearning.com/boundless-ap/chapter/nerves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books.lib.msu.edu/neuroscience/chapter/synapse-structure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books.lib.msu.edu/neuroscience/chapter/synapse-structure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books.lib.msu.edu/neuroscience/chapter/synapse-structure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books.lib.msu.edu/neuroscience/chapter/synapse-structu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2F1A-A09C-5CDF-1D7E-A18888587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2A59-D835-6F71-420F-4772CA939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7679" y="86627"/>
            <a:ext cx="7406501" cy="2776889"/>
          </a:xfrm>
        </p:spPr>
        <p:txBody>
          <a:bodyPr anchor="b">
            <a:normAutofit fontScale="90000"/>
          </a:bodyPr>
          <a:lstStyle/>
          <a:p>
            <a:pPr algn="l"/>
            <a:br>
              <a:rPr lang="en-AU" sz="5000" b="1" dirty="0">
                <a:latin typeface="Bangla Sangam MN" panose="02000000000000000000" pitchFamily="2" charset="0"/>
                <a:cs typeface="Bangla Sangam MN" panose="02000000000000000000" pitchFamily="2" charset="0"/>
              </a:rPr>
            </a:br>
            <a:r>
              <a:rPr lang="en-AU" sz="5000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Neuron Primer</a:t>
            </a:r>
            <a:br>
              <a:rPr lang="en-AU" sz="5000" b="1" dirty="0">
                <a:latin typeface="Bangla Sangam MN" panose="02000000000000000000" pitchFamily="2" charset="0"/>
                <a:cs typeface="Bangla Sangam MN" panose="02000000000000000000" pitchFamily="2" charset="0"/>
              </a:rPr>
            </a:br>
            <a:r>
              <a:rPr lang="en-AU" sz="44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Neurons and Action Potentials</a:t>
            </a:r>
            <a:br>
              <a:rPr lang="en-AU" sz="5000" b="1" dirty="0">
                <a:latin typeface="Bangla Sangam MN" panose="02000000000000000000" pitchFamily="2" charset="0"/>
                <a:cs typeface="Bangla Sangam MN" panose="02000000000000000000" pitchFamily="2" charset="0"/>
              </a:rPr>
            </a:br>
            <a:r>
              <a:rPr lang="en-AU" sz="3200" i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PSYC1003</a:t>
            </a:r>
            <a:br>
              <a:rPr lang="en-AU" sz="3200" i="1" dirty="0">
                <a:latin typeface="Bangla Sangam MN" panose="02000000000000000000" pitchFamily="2" charset="0"/>
                <a:cs typeface="Bangla Sangam MN" panose="02000000000000000000" pitchFamily="2" charset="0"/>
              </a:rPr>
            </a:br>
            <a:endParaRPr lang="en-AU" sz="5000" i="1" dirty="0">
              <a:latin typeface="Bangla Sangam MN" panose="02000000000000000000" pitchFamily="2" charset="0"/>
              <a:cs typeface="Bangla Sangam MN" panose="02000000000000000000" pitchFamily="2" charset="0"/>
            </a:endParaRPr>
          </a:p>
        </p:txBody>
      </p:sp>
      <p:pic>
        <p:nvPicPr>
          <p:cNvPr id="2052" name="Picture 4" descr="Why the First Drawings of Neurons Were Defaced | Quanta Magazine">
            <a:extLst>
              <a:ext uri="{FF2B5EF4-FFF2-40B4-BE49-F238E27FC236}">
                <a16:creationId xmlns:a16="http://schemas.microsoft.com/office/drawing/2014/main" id="{F6F79EA5-F8C4-F752-0196-0B88100231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1" t="5339" r="5044" b="3358"/>
          <a:stretch/>
        </p:blipFill>
        <p:spPr bwMode="auto">
          <a:xfrm>
            <a:off x="0" y="0"/>
            <a:ext cx="4657679" cy="6975647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045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27AA3-4466-4CC6-3C6E-0F9639CD1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7ED54A92-DF08-48E2-9102-4B798C303C1B}"/>
              </a:ext>
            </a:extLst>
          </p:cNvPr>
          <p:cNvSpPr txBox="1"/>
          <p:nvPr/>
        </p:nvSpPr>
        <p:spPr>
          <a:xfrm>
            <a:off x="92075" y="45240"/>
            <a:ext cx="10975318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4400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Terminology: Brain Composition </a:t>
            </a:r>
            <a:endParaRPr lang="en-AU" sz="3600" b="1" dirty="0">
              <a:latin typeface="Bangla Sangam MN" panose="02000000000000000000" pitchFamily="2" charset="0"/>
              <a:cs typeface="Bangla Sangam MN" panose="02000000000000000000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F17D9A3-F67B-36B8-A66F-39103A5047D6}"/>
              </a:ext>
            </a:extLst>
          </p:cNvPr>
          <p:cNvSpPr txBox="1">
            <a:spLocks/>
          </p:cNvSpPr>
          <p:nvPr/>
        </p:nvSpPr>
        <p:spPr>
          <a:xfrm>
            <a:off x="166766" y="1068597"/>
            <a:ext cx="4961583" cy="389703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Gray Matter</a:t>
            </a:r>
          </a:p>
          <a:p>
            <a:pPr lvl="1"/>
            <a:r>
              <a:rPr lang="en-AU" sz="28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Neurons (dendrites and cell bodies)</a:t>
            </a:r>
            <a:endParaRPr lang="en-AU" dirty="0">
              <a:latin typeface="Bangla Sangam MN" panose="02000000000000000000" pitchFamily="2" charset="0"/>
              <a:cs typeface="Bangla Sangam MN" panose="02000000000000000000" pitchFamily="2" charset="0"/>
            </a:endParaRPr>
          </a:p>
          <a:p>
            <a:r>
              <a:rPr lang="en-AU" sz="32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White Matter</a:t>
            </a:r>
          </a:p>
          <a:p>
            <a:pPr lvl="1"/>
            <a:r>
              <a:rPr lang="en-AU" sz="28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Myelin (axons)</a:t>
            </a:r>
          </a:p>
          <a:p>
            <a:r>
              <a:rPr lang="en-AU" sz="32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Ventricles</a:t>
            </a:r>
          </a:p>
          <a:p>
            <a:pPr lvl="1"/>
            <a:r>
              <a:rPr lang="en-AU" sz="28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Cavities containing cerebrospinal fluid (CSF)</a:t>
            </a:r>
          </a:p>
        </p:txBody>
      </p:sp>
      <p:pic>
        <p:nvPicPr>
          <p:cNvPr id="4" name="Picture 3" descr="Normal Coronal T1 Brain 8 of 25 | Stock Image - Science Source Images">
            <a:extLst>
              <a:ext uri="{FF2B5EF4-FFF2-40B4-BE49-F238E27FC236}">
                <a16:creationId xmlns:a16="http://schemas.microsoft.com/office/drawing/2014/main" id="{3B0F1CF9-A16E-8DE1-DF20-023473256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5" t="6896" r="6183" b="16552"/>
          <a:stretch/>
        </p:blipFill>
        <p:spPr bwMode="auto">
          <a:xfrm>
            <a:off x="4768556" y="2305622"/>
            <a:ext cx="3460855" cy="316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946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euron&#10;&#10;Description automatically generated">
            <a:extLst>
              <a:ext uri="{FF2B5EF4-FFF2-40B4-BE49-F238E27FC236}">
                <a16:creationId xmlns:a16="http://schemas.microsoft.com/office/drawing/2014/main" id="{AFA0CF2F-AD04-91B9-6BA3-94F31467B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4466" y="2959100"/>
            <a:ext cx="6540500" cy="3898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39D37C-3A14-5977-E9FF-61A3F9871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38" y="232121"/>
            <a:ext cx="10515600" cy="1325563"/>
          </a:xfrm>
        </p:spPr>
        <p:txBody>
          <a:bodyPr/>
          <a:lstStyle/>
          <a:p>
            <a:r>
              <a:rPr lang="en-AU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Anatomy of a Neuron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6B32F-00FA-A1F4-BEE9-8C909B25C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938" y="1409094"/>
            <a:ext cx="10515600" cy="4351338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Main Components</a:t>
            </a:r>
          </a:p>
          <a:p>
            <a:pPr lvl="1"/>
            <a:r>
              <a:rPr lang="en-AU" sz="32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Dendrites</a:t>
            </a:r>
          </a:p>
          <a:p>
            <a:pPr lvl="1"/>
            <a:r>
              <a:rPr lang="en-AU" sz="32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Cell Bodies (Soma)</a:t>
            </a:r>
          </a:p>
          <a:p>
            <a:pPr lvl="1"/>
            <a:r>
              <a:rPr lang="en-AU" sz="32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Axons</a:t>
            </a:r>
          </a:p>
        </p:txBody>
      </p:sp>
    </p:spTree>
    <p:extLst>
      <p:ext uri="{BB962C8B-B14F-4D97-AF65-F5344CB8AC3E}">
        <p14:creationId xmlns:p14="http://schemas.microsoft.com/office/powerpoint/2010/main" val="313833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7AE6D-3577-F309-0FB1-B1B25617F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055532BB-3B5D-0189-F404-1858903F082A}"/>
              </a:ext>
            </a:extLst>
          </p:cNvPr>
          <p:cNvSpPr txBox="1"/>
          <p:nvPr/>
        </p:nvSpPr>
        <p:spPr>
          <a:xfrm>
            <a:off x="92075" y="45240"/>
            <a:ext cx="10975318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4400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Neurons we care about (for the moment)</a:t>
            </a:r>
            <a:endParaRPr lang="en-AU" sz="3600" b="1" dirty="0">
              <a:latin typeface="Bangla Sangam MN" panose="02000000000000000000" pitchFamily="2" charset="0"/>
              <a:cs typeface="Bangla Sangam MN" panose="02000000000000000000" pitchFamily="2" charset="0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0CA0539-8655-0FB9-B975-511379BD47D9}"/>
              </a:ext>
            </a:extLst>
          </p:cNvPr>
          <p:cNvSpPr/>
          <p:nvPr/>
        </p:nvSpPr>
        <p:spPr>
          <a:xfrm>
            <a:off x="3052916" y="1371600"/>
            <a:ext cx="4527755" cy="5220929"/>
          </a:xfrm>
          <a:custGeom>
            <a:avLst/>
            <a:gdLst>
              <a:gd name="connsiteX0" fmla="*/ 3524865 w 4527755"/>
              <a:gd name="connsiteY0" fmla="*/ 324465 h 5220929"/>
              <a:gd name="connsiteX1" fmla="*/ 1814052 w 4527755"/>
              <a:gd name="connsiteY1" fmla="*/ 0 h 5220929"/>
              <a:gd name="connsiteX2" fmla="*/ 0 w 4527755"/>
              <a:gd name="connsiteY2" fmla="*/ 2035277 h 5220929"/>
              <a:gd name="connsiteX3" fmla="*/ 265471 w 4527755"/>
              <a:gd name="connsiteY3" fmla="*/ 5220929 h 5220929"/>
              <a:gd name="connsiteX4" fmla="*/ 3701845 w 4527755"/>
              <a:gd name="connsiteY4" fmla="*/ 5029200 h 5220929"/>
              <a:gd name="connsiteX5" fmla="*/ 4232787 w 4527755"/>
              <a:gd name="connsiteY5" fmla="*/ 4616245 h 5220929"/>
              <a:gd name="connsiteX6" fmla="*/ 4144297 w 4527755"/>
              <a:gd name="connsiteY6" fmla="*/ 3790335 h 5220929"/>
              <a:gd name="connsiteX7" fmla="*/ 3849329 w 4527755"/>
              <a:gd name="connsiteY7" fmla="*/ 3613355 h 5220929"/>
              <a:gd name="connsiteX8" fmla="*/ 3849329 w 4527755"/>
              <a:gd name="connsiteY8" fmla="*/ 3288890 h 5220929"/>
              <a:gd name="connsiteX9" fmla="*/ 4041058 w 4527755"/>
              <a:gd name="connsiteY9" fmla="*/ 2905432 h 5220929"/>
              <a:gd name="connsiteX10" fmla="*/ 4527755 w 4527755"/>
              <a:gd name="connsiteY10" fmla="*/ 2197510 h 5220929"/>
              <a:gd name="connsiteX11" fmla="*/ 3524865 w 4527755"/>
              <a:gd name="connsiteY11" fmla="*/ 324465 h 5220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527755" h="5220929">
                <a:moveTo>
                  <a:pt x="3524865" y="324465"/>
                </a:moveTo>
                <a:lnTo>
                  <a:pt x="1814052" y="0"/>
                </a:lnTo>
                <a:lnTo>
                  <a:pt x="0" y="2035277"/>
                </a:lnTo>
                <a:lnTo>
                  <a:pt x="265471" y="5220929"/>
                </a:lnTo>
                <a:lnTo>
                  <a:pt x="3701845" y="5029200"/>
                </a:lnTo>
                <a:lnTo>
                  <a:pt x="4232787" y="4616245"/>
                </a:lnTo>
                <a:lnTo>
                  <a:pt x="4144297" y="3790335"/>
                </a:lnTo>
                <a:lnTo>
                  <a:pt x="3849329" y="3613355"/>
                </a:lnTo>
                <a:lnTo>
                  <a:pt x="3849329" y="3288890"/>
                </a:lnTo>
                <a:lnTo>
                  <a:pt x="4041058" y="2905432"/>
                </a:lnTo>
                <a:lnTo>
                  <a:pt x="4527755" y="2197510"/>
                </a:lnTo>
                <a:lnTo>
                  <a:pt x="3524865" y="3244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A2A3B82-3E36-5D00-5414-2E70C08FD33F}"/>
              </a:ext>
            </a:extLst>
          </p:cNvPr>
          <p:cNvSpPr txBox="1">
            <a:spLocks/>
          </p:cNvSpPr>
          <p:nvPr/>
        </p:nvSpPr>
        <p:spPr>
          <a:xfrm>
            <a:off x="421947" y="1479007"/>
            <a:ext cx="6294737" cy="389703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Excitatory</a:t>
            </a:r>
          </a:p>
          <a:p>
            <a:r>
              <a:rPr lang="en-AU" sz="3200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Inhibitory</a:t>
            </a:r>
          </a:p>
        </p:txBody>
      </p:sp>
    </p:spTree>
    <p:extLst>
      <p:ext uri="{BB962C8B-B14F-4D97-AF65-F5344CB8AC3E}">
        <p14:creationId xmlns:p14="http://schemas.microsoft.com/office/powerpoint/2010/main" val="2000314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AA106-0F83-E21C-BBEB-663DA9DC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41A401C7-6B77-D314-DE2E-64F71323F9FB}"/>
              </a:ext>
            </a:extLst>
          </p:cNvPr>
          <p:cNvSpPr txBox="1"/>
          <p:nvPr/>
        </p:nvSpPr>
        <p:spPr>
          <a:xfrm>
            <a:off x="92075" y="45240"/>
            <a:ext cx="10975318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4400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Neurons we care about (for the moment)</a:t>
            </a:r>
            <a:endParaRPr lang="en-AU" sz="3600" b="1" dirty="0">
              <a:latin typeface="Bangla Sangam MN" panose="02000000000000000000" pitchFamily="2" charset="0"/>
              <a:cs typeface="Bangla Sangam MN" panose="02000000000000000000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3F461A-D442-051F-D6F8-9D87ED2B97F8}"/>
              </a:ext>
            </a:extLst>
          </p:cNvPr>
          <p:cNvGrpSpPr>
            <a:grpSpLocks noChangeAspect="1"/>
          </p:cNvGrpSpPr>
          <p:nvPr/>
        </p:nvGrpSpPr>
        <p:grpSpPr>
          <a:xfrm>
            <a:off x="957805" y="2735519"/>
            <a:ext cx="4967840" cy="3818395"/>
            <a:chOff x="3052916" y="908397"/>
            <a:chExt cx="7491157" cy="5757874"/>
          </a:xfrm>
        </p:grpSpPr>
        <p:pic>
          <p:nvPicPr>
            <p:cNvPr id="57348" name="Picture 4" descr="1. Typical morphology of projection neurons. Reproduced from Fig. 3.1,... |  Download Scientific Diagram">
              <a:extLst>
                <a:ext uri="{FF2B5EF4-FFF2-40B4-BE49-F238E27FC236}">
                  <a16:creationId xmlns:a16="http://schemas.microsoft.com/office/drawing/2014/main" id="{51683725-16D8-8F7E-8647-26E39508AC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9315" y="908397"/>
              <a:ext cx="6974758" cy="57578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39437D83-7154-3FC1-F3BB-9F3055B96A5F}"/>
                </a:ext>
              </a:extLst>
            </p:cNvPr>
            <p:cNvSpPr/>
            <p:nvPr/>
          </p:nvSpPr>
          <p:spPr>
            <a:xfrm>
              <a:off x="3052916" y="1371600"/>
              <a:ext cx="4527755" cy="5220929"/>
            </a:xfrm>
            <a:custGeom>
              <a:avLst/>
              <a:gdLst>
                <a:gd name="connsiteX0" fmla="*/ 3524865 w 4527755"/>
                <a:gd name="connsiteY0" fmla="*/ 324465 h 5220929"/>
                <a:gd name="connsiteX1" fmla="*/ 1814052 w 4527755"/>
                <a:gd name="connsiteY1" fmla="*/ 0 h 5220929"/>
                <a:gd name="connsiteX2" fmla="*/ 0 w 4527755"/>
                <a:gd name="connsiteY2" fmla="*/ 2035277 h 5220929"/>
                <a:gd name="connsiteX3" fmla="*/ 265471 w 4527755"/>
                <a:gd name="connsiteY3" fmla="*/ 5220929 h 5220929"/>
                <a:gd name="connsiteX4" fmla="*/ 3701845 w 4527755"/>
                <a:gd name="connsiteY4" fmla="*/ 5029200 h 5220929"/>
                <a:gd name="connsiteX5" fmla="*/ 4232787 w 4527755"/>
                <a:gd name="connsiteY5" fmla="*/ 4616245 h 5220929"/>
                <a:gd name="connsiteX6" fmla="*/ 4144297 w 4527755"/>
                <a:gd name="connsiteY6" fmla="*/ 3790335 h 5220929"/>
                <a:gd name="connsiteX7" fmla="*/ 3849329 w 4527755"/>
                <a:gd name="connsiteY7" fmla="*/ 3613355 h 5220929"/>
                <a:gd name="connsiteX8" fmla="*/ 3849329 w 4527755"/>
                <a:gd name="connsiteY8" fmla="*/ 3288890 h 5220929"/>
                <a:gd name="connsiteX9" fmla="*/ 4041058 w 4527755"/>
                <a:gd name="connsiteY9" fmla="*/ 2905432 h 5220929"/>
                <a:gd name="connsiteX10" fmla="*/ 4527755 w 4527755"/>
                <a:gd name="connsiteY10" fmla="*/ 2197510 h 5220929"/>
                <a:gd name="connsiteX11" fmla="*/ 3524865 w 4527755"/>
                <a:gd name="connsiteY11" fmla="*/ 324465 h 522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27755" h="5220929">
                  <a:moveTo>
                    <a:pt x="3524865" y="324465"/>
                  </a:moveTo>
                  <a:lnTo>
                    <a:pt x="1814052" y="0"/>
                  </a:lnTo>
                  <a:lnTo>
                    <a:pt x="0" y="2035277"/>
                  </a:lnTo>
                  <a:lnTo>
                    <a:pt x="265471" y="5220929"/>
                  </a:lnTo>
                  <a:lnTo>
                    <a:pt x="3701845" y="5029200"/>
                  </a:lnTo>
                  <a:lnTo>
                    <a:pt x="4232787" y="4616245"/>
                  </a:lnTo>
                  <a:lnTo>
                    <a:pt x="4144297" y="3790335"/>
                  </a:lnTo>
                  <a:lnTo>
                    <a:pt x="3849329" y="3613355"/>
                  </a:lnTo>
                  <a:lnTo>
                    <a:pt x="3849329" y="3288890"/>
                  </a:lnTo>
                  <a:lnTo>
                    <a:pt x="4041058" y="2905432"/>
                  </a:lnTo>
                  <a:lnTo>
                    <a:pt x="4527755" y="2197510"/>
                  </a:lnTo>
                  <a:lnTo>
                    <a:pt x="3524865" y="32446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A8894F1-A001-B38D-B7AD-7F395382F5F8}"/>
              </a:ext>
            </a:extLst>
          </p:cNvPr>
          <p:cNvSpPr txBox="1">
            <a:spLocks/>
          </p:cNvSpPr>
          <p:nvPr/>
        </p:nvSpPr>
        <p:spPr>
          <a:xfrm>
            <a:off x="294357" y="1244695"/>
            <a:ext cx="6294737" cy="389703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Excitatory</a:t>
            </a:r>
          </a:p>
          <a:p>
            <a:pPr lvl="1"/>
            <a:r>
              <a:rPr lang="en-AU" sz="28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Tells other neurons to fire </a:t>
            </a:r>
          </a:p>
          <a:p>
            <a:pPr lvl="1"/>
            <a:r>
              <a:rPr lang="en-AU" sz="2800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Primary Neurotransmitter: </a:t>
            </a:r>
            <a:r>
              <a:rPr lang="en-AU" sz="2800" b="1" i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Glutamate</a:t>
            </a:r>
            <a:endParaRPr lang="en-AU" b="1" i="1" dirty="0">
              <a:latin typeface="Bangla Sangam MN" panose="02000000000000000000" pitchFamily="2" charset="0"/>
              <a:cs typeface="Bangla Sangam M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55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84E1B-2AED-8187-9B88-CBF056C1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B2B8DA45-B193-4089-DFA9-2066980DE822}"/>
              </a:ext>
            </a:extLst>
          </p:cNvPr>
          <p:cNvSpPr txBox="1"/>
          <p:nvPr/>
        </p:nvSpPr>
        <p:spPr>
          <a:xfrm>
            <a:off x="92075" y="45240"/>
            <a:ext cx="10975318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4400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Main Types of Neurons</a:t>
            </a:r>
            <a:endParaRPr lang="en-AU" sz="3600" b="1" dirty="0">
              <a:latin typeface="Bangla Sangam MN" panose="02000000000000000000" pitchFamily="2" charset="0"/>
              <a:cs typeface="Bangla Sangam MN" panose="02000000000000000000" pitchFamily="2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C22203B-CE62-7A52-FBAA-AD96D402160E}"/>
              </a:ext>
            </a:extLst>
          </p:cNvPr>
          <p:cNvSpPr txBox="1">
            <a:spLocks/>
          </p:cNvSpPr>
          <p:nvPr/>
        </p:nvSpPr>
        <p:spPr>
          <a:xfrm>
            <a:off x="92075" y="1274582"/>
            <a:ext cx="5897245" cy="389703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Inhibitory</a:t>
            </a:r>
          </a:p>
          <a:p>
            <a:pPr lvl="1"/>
            <a:r>
              <a:rPr lang="en-AU" sz="28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Tells other neurons </a:t>
            </a:r>
            <a:r>
              <a:rPr lang="en-AU" sz="2800" i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not</a:t>
            </a:r>
            <a:r>
              <a:rPr lang="en-AU" sz="28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 to fire</a:t>
            </a:r>
          </a:p>
          <a:p>
            <a:pPr lvl="1"/>
            <a:r>
              <a:rPr lang="en-AU" sz="2800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Primary Neurotransmitter: </a:t>
            </a:r>
            <a:r>
              <a:rPr lang="en-AU" sz="2800" b="1" i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GABA</a:t>
            </a:r>
          </a:p>
        </p:txBody>
      </p:sp>
      <p:pic>
        <p:nvPicPr>
          <p:cNvPr id="57350" name="Picture 6" descr="Scientists discover two proteins that control chandelier cell architecture  | Cold Spring Harbor Laboratory">
            <a:extLst>
              <a:ext uri="{FF2B5EF4-FFF2-40B4-BE49-F238E27FC236}">
                <a16:creationId xmlns:a16="http://schemas.microsoft.com/office/drawing/2014/main" id="{C8A32FCB-2FE3-C605-8E7B-463F3EF41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91" y="2936020"/>
            <a:ext cx="5228029" cy="326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81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1DA9A-1E35-C6B4-26BA-C7B31208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0BD7-FFFA-3C02-2EBA-4B5EC1420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387"/>
            <a:ext cx="10515600" cy="1325563"/>
          </a:xfrm>
        </p:spPr>
        <p:txBody>
          <a:bodyPr/>
          <a:lstStyle/>
          <a:p>
            <a:r>
              <a:rPr lang="en-AU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Dendrites</a:t>
            </a:r>
          </a:p>
        </p:txBody>
      </p:sp>
      <p:pic>
        <p:nvPicPr>
          <p:cNvPr id="6" name="Picture 5" descr="A close-up of a nerve cell&#10;&#10;Description automatically generated">
            <a:extLst>
              <a:ext uri="{FF2B5EF4-FFF2-40B4-BE49-F238E27FC236}">
                <a16:creationId xmlns:a16="http://schemas.microsoft.com/office/drawing/2014/main" id="{8025C825-6DA1-73C7-37E0-F70658E19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9923" y="3429000"/>
            <a:ext cx="6422063" cy="33680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DB3D8-3D84-D4DE-FF61-24D1E95B4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14" y="1029836"/>
            <a:ext cx="6551375" cy="4351338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Receive input from other neurons</a:t>
            </a:r>
          </a:p>
          <a:p>
            <a:r>
              <a:rPr lang="en-AU" sz="32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Information is integrated to determine whether neuron will “fire an action potential” (i.e., send a signal to other neurons)</a:t>
            </a:r>
            <a:endParaRPr lang="en-AU" sz="2400" dirty="0">
              <a:latin typeface="Bangla Sangam MN" panose="02000000000000000000" pitchFamily="2" charset="0"/>
              <a:cs typeface="Bangla Sangam MN" panose="02000000000000000000" pitchFamily="2" charset="0"/>
            </a:endParaRPr>
          </a:p>
          <a:p>
            <a:pPr marL="457200" lvl="1" indent="0">
              <a:buNone/>
            </a:pPr>
            <a:endParaRPr lang="en-AU" dirty="0">
              <a:latin typeface="Bangla Sangam MN" panose="02000000000000000000" pitchFamily="2" charset="0"/>
              <a:cs typeface="Bangla Sangam M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645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61855-B09B-9749-6A90-A3CB8256E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3E61F-D86B-5398-C67C-F88C6E38E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1440"/>
            <a:ext cx="6757748" cy="4351338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Dendritic Spines</a:t>
            </a:r>
          </a:p>
          <a:p>
            <a:pPr lvl="1"/>
            <a:r>
              <a:rPr lang="en-AU" dirty="0"/>
              <a:t>Tiny, highly plastic “bumps” on dendrite branches that receive excitatory input from other neurons</a:t>
            </a:r>
          </a:p>
          <a:p>
            <a:pPr lvl="1"/>
            <a:r>
              <a:rPr lang="en-AU" dirty="0"/>
              <a:t>Major site of learning-dependent neuroplasticity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A483C8B-16B1-BAB3-7322-4CFDDA32E61D}"/>
              </a:ext>
            </a:extLst>
          </p:cNvPr>
          <p:cNvSpPr txBox="1">
            <a:spLocks/>
          </p:cNvSpPr>
          <p:nvPr/>
        </p:nvSpPr>
        <p:spPr>
          <a:xfrm>
            <a:off x="120188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Dendrites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873FF7-CFAC-A04F-4CD6-D3AE097C90B0}"/>
              </a:ext>
            </a:extLst>
          </p:cNvPr>
          <p:cNvSpPr txBox="1">
            <a:spLocks/>
          </p:cNvSpPr>
          <p:nvPr/>
        </p:nvSpPr>
        <p:spPr>
          <a:xfrm>
            <a:off x="6877936" y="148648"/>
            <a:ext cx="5277117" cy="3157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000" b="1" i="1" dirty="0">
                <a:solidFill>
                  <a:srgbClr val="FF0000"/>
                </a:solidFill>
              </a:rPr>
              <a:t>Learning-Dependent Neuroplasticity: </a:t>
            </a:r>
            <a:r>
              <a:rPr lang="en-AU" sz="2000" i="1" dirty="0">
                <a:solidFill>
                  <a:srgbClr val="FF0000"/>
                </a:solidFill>
              </a:rPr>
              <a:t>Experience-dependent changes in the structure or function of neurons that facilitate learning retention and memory recall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000" i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2000" b="1" i="1" dirty="0">
                <a:solidFill>
                  <a:srgbClr val="FF0000"/>
                </a:solidFill>
              </a:rPr>
              <a:t>NOTE: </a:t>
            </a:r>
            <a:r>
              <a:rPr lang="en-AU" sz="2000" i="1" dirty="0">
                <a:solidFill>
                  <a:srgbClr val="FF0000"/>
                </a:solidFill>
              </a:rPr>
              <a:t>Growth vs retraction of dendrites and dendritic spines are the main reason that grey matter volume differences in specific brain regions are observed (i.e., more spines and dendritic branching = larger regional volume)</a:t>
            </a:r>
          </a:p>
        </p:txBody>
      </p:sp>
      <p:pic>
        <p:nvPicPr>
          <p:cNvPr id="6" name="Picture 5" descr="Figure 1 from Epac2-mediated dendritic spine remodeling: implications for  disease | Semantic Scholar">
            <a:extLst>
              <a:ext uri="{FF2B5EF4-FFF2-40B4-BE49-F238E27FC236}">
                <a16:creationId xmlns:a16="http://schemas.microsoft.com/office/drawing/2014/main" id="{A15F2544-1059-3A4B-7A03-FA531C252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4207"/>
            <a:ext cx="5368765" cy="30562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84875E-1B0A-641D-562B-55EC85400A74}"/>
              </a:ext>
            </a:extLst>
          </p:cNvPr>
          <p:cNvSpPr txBox="1"/>
          <p:nvPr/>
        </p:nvSpPr>
        <p:spPr>
          <a:xfrm>
            <a:off x="2124222" y="6470413"/>
            <a:ext cx="299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dirty="0"/>
              <a:t>Penzes et al., 2010</a:t>
            </a:r>
          </a:p>
        </p:txBody>
      </p:sp>
    </p:spTree>
    <p:extLst>
      <p:ext uri="{BB962C8B-B14F-4D97-AF65-F5344CB8AC3E}">
        <p14:creationId xmlns:p14="http://schemas.microsoft.com/office/powerpoint/2010/main" val="179502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A7A8F-D6BA-D791-F05B-C0EEDA253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75CAF-FB6C-ECF1-872C-431B44169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AU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Axons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7EA287-2806-6427-921F-D822AF2A7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38" y="1150461"/>
            <a:ext cx="7434890" cy="4351338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Project from the cell body</a:t>
            </a:r>
          </a:p>
          <a:p>
            <a:r>
              <a:rPr lang="en-AU" sz="3200" dirty="0">
                <a:latin typeface="Bangla Sangam MN" panose="02000000000000000000" pitchFamily="2" charset="0"/>
                <a:cs typeface="Bangla Sangam MN" panose="02000000000000000000" pitchFamily="2" charset="0"/>
              </a:rPr>
              <a:t>Send signals to other neurons (within or between brain regions)</a:t>
            </a:r>
          </a:p>
          <a:p>
            <a:endParaRPr lang="en-AU" dirty="0">
              <a:latin typeface="Bangla Sangam MN" panose="02000000000000000000" pitchFamily="2" charset="0"/>
              <a:cs typeface="Bangla Sangam MN" panose="020000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0979C2-F853-70C8-0B8F-A11A3A8AE359}"/>
              </a:ext>
            </a:extLst>
          </p:cNvPr>
          <p:cNvSpPr/>
          <p:nvPr/>
        </p:nvSpPr>
        <p:spPr>
          <a:xfrm>
            <a:off x="8197486" y="4465619"/>
            <a:ext cx="694944" cy="358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 descr="A close up of a brain&#10;&#10;AI-generated content may be incorrect.">
            <a:extLst>
              <a:ext uri="{FF2B5EF4-FFF2-40B4-BE49-F238E27FC236}">
                <a16:creationId xmlns:a16="http://schemas.microsoft.com/office/drawing/2014/main" id="{0EA91650-381A-3E4E-0E32-CD6E00491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6264" b="90696" l="63581" r="87449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60598" t="15916" r="9567"/>
          <a:stretch/>
        </p:blipFill>
        <p:spPr>
          <a:xfrm rot="16200000">
            <a:off x="2785805" y="-363864"/>
            <a:ext cx="2927914" cy="82517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AAFD3A-C45C-3778-DE4B-8EB55A4CCA85}"/>
              </a:ext>
            </a:extLst>
          </p:cNvPr>
          <p:cNvSpPr/>
          <p:nvPr/>
        </p:nvSpPr>
        <p:spPr>
          <a:xfrm>
            <a:off x="6343579" y="2618215"/>
            <a:ext cx="755119" cy="1636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8ABBAC-C2ED-9DF2-3110-29BB03148398}"/>
              </a:ext>
            </a:extLst>
          </p:cNvPr>
          <p:cNvSpPr txBox="1"/>
          <p:nvPr/>
        </p:nvSpPr>
        <p:spPr>
          <a:xfrm>
            <a:off x="7117817" y="3266583"/>
            <a:ext cx="1941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Axon Terminals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DF3548-2354-0375-0396-7557F97BE4FD}"/>
              </a:ext>
            </a:extLst>
          </p:cNvPr>
          <p:cNvSpPr/>
          <p:nvPr/>
        </p:nvSpPr>
        <p:spPr>
          <a:xfrm>
            <a:off x="1524920" y="3635915"/>
            <a:ext cx="4570762" cy="92105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6A40A6-CBD8-35CD-4627-EEFC4A2A084C}"/>
              </a:ext>
            </a:extLst>
          </p:cNvPr>
          <p:cNvSpPr txBox="1"/>
          <p:nvPr/>
        </p:nvSpPr>
        <p:spPr>
          <a:xfrm>
            <a:off x="3307097" y="3266583"/>
            <a:ext cx="1941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Axon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460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FFD67-6BB2-CC8E-14D1-DD7A6A1F1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4C95-6E82-A3AF-7C10-E8C218719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AU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Action Potentials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4F068E-91B5-F1BA-259B-B10C74BF8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98628" y="2684990"/>
            <a:ext cx="6164161" cy="3437242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02952C6-69E6-80A3-FDF0-EC7932C74530}"/>
              </a:ext>
            </a:extLst>
          </p:cNvPr>
          <p:cNvGrpSpPr/>
          <p:nvPr/>
        </p:nvGrpSpPr>
        <p:grpSpPr>
          <a:xfrm>
            <a:off x="1375888" y="2926912"/>
            <a:ext cx="3093720" cy="3121228"/>
            <a:chOff x="1492847" y="3479800"/>
            <a:chExt cx="3093720" cy="312122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0E4ECA-2450-F83A-DCBD-7360340B98FE}"/>
                </a:ext>
              </a:extLst>
            </p:cNvPr>
            <p:cNvSpPr/>
            <p:nvPr/>
          </p:nvSpPr>
          <p:spPr>
            <a:xfrm>
              <a:off x="2600960" y="347980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DD47289-F2C0-0C55-6290-D197FC2C0E6F}"/>
                </a:ext>
              </a:extLst>
            </p:cNvPr>
            <p:cNvSpPr/>
            <p:nvPr/>
          </p:nvSpPr>
          <p:spPr>
            <a:xfrm>
              <a:off x="3738880" y="422656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FAFE21-9005-46D2-B759-AED217B35CD1}"/>
                </a:ext>
              </a:extLst>
            </p:cNvPr>
            <p:cNvSpPr/>
            <p:nvPr/>
          </p:nvSpPr>
          <p:spPr>
            <a:xfrm>
              <a:off x="4408767" y="426212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DF0F2A-7D6E-5390-7ACE-E05128D2CA5A}"/>
                </a:ext>
              </a:extLst>
            </p:cNvPr>
            <p:cNvSpPr/>
            <p:nvPr/>
          </p:nvSpPr>
          <p:spPr>
            <a:xfrm>
              <a:off x="1848447" y="453136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8F3AA28-5089-BBEC-714D-F54C4B72DC48}"/>
                </a:ext>
              </a:extLst>
            </p:cNvPr>
            <p:cNvSpPr/>
            <p:nvPr/>
          </p:nvSpPr>
          <p:spPr>
            <a:xfrm>
              <a:off x="2168487" y="5343872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967F208-2B3F-FDCF-B2EE-37C1121B9360}"/>
                </a:ext>
              </a:extLst>
            </p:cNvPr>
            <p:cNvSpPr/>
            <p:nvPr/>
          </p:nvSpPr>
          <p:spPr>
            <a:xfrm>
              <a:off x="1492847" y="5643592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B7251AA-F91A-71C5-FE8E-AFBC2648A1C9}"/>
                </a:ext>
              </a:extLst>
            </p:cNvPr>
            <p:cNvSpPr/>
            <p:nvPr/>
          </p:nvSpPr>
          <p:spPr>
            <a:xfrm>
              <a:off x="2600960" y="6108268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C452ED7-DE61-AA1E-FB81-A35173EC41BE}"/>
                </a:ext>
              </a:extLst>
            </p:cNvPr>
            <p:cNvSpPr/>
            <p:nvPr/>
          </p:nvSpPr>
          <p:spPr>
            <a:xfrm>
              <a:off x="3124200" y="6433388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4AA16CE-33DB-8873-5A02-06F262F54EF3}"/>
              </a:ext>
            </a:extLst>
          </p:cNvPr>
          <p:cNvSpPr txBox="1"/>
          <p:nvPr/>
        </p:nvSpPr>
        <p:spPr>
          <a:xfrm>
            <a:off x="101718" y="2663602"/>
            <a:ext cx="1807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FE836A"/>
                </a:solidFill>
              </a:rPr>
              <a:t>1) Excitatory input onto dendrites</a:t>
            </a:r>
            <a:endParaRPr lang="en-AU" sz="1400" b="1" i="1" dirty="0">
              <a:solidFill>
                <a:srgbClr val="FE83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46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326FB-D35D-21B5-17AB-DB6EDDD1E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8E55-C2C1-C554-7A99-28E1D6060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AU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Action Potentials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203CC3-38B8-D51D-20CC-66DC85D927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98628" y="2684990"/>
            <a:ext cx="6164161" cy="3437242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51B40B08-B1A7-33EC-89E7-2AD2040A9843}"/>
              </a:ext>
            </a:extLst>
          </p:cNvPr>
          <p:cNvGrpSpPr/>
          <p:nvPr/>
        </p:nvGrpSpPr>
        <p:grpSpPr>
          <a:xfrm>
            <a:off x="1375888" y="2926912"/>
            <a:ext cx="3093720" cy="3121228"/>
            <a:chOff x="1492847" y="3479800"/>
            <a:chExt cx="3093720" cy="312122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3776F6D-61A4-6CA2-BD4C-FE9CA20D58C3}"/>
                </a:ext>
              </a:extLst>
            </p:cNvPr>
            <p:cNvSpPr/>
            <p:nvPr/>
          </p:nvSpPr>
          <p:spPr>
            <a:xfrm>
              <a:off x="2600960" y="347980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3EBA555-6705-CA0F-AB3D-92B2D0AD3252}"/>
                </a:ext>
              </a:extLst>
            </p:cNvPr>
            <p:cNvSpPr/>
            <p:nvPr/>
          </p:nvSpPr>
          <p:spPr>
            <a:xfrm>
              <a:off x="3738880" y="422656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E86BBA7-41E1-8A8C-61F5-C75DD9709A60}"/>
                </a:ext>
              </a:extLst>
            </p:cNvPr>
            <p:cNvSpPr/>
            <p:nvPr/>
          </p:nvSpPr>
          <p:spPr>
            <a:xfrm>
              <a:off x="4408767" y="426212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6188870-633F-E85C-4FBA-DD07F058C763}"/>
                </a:ext>
              </a:extLst>
            </p:cNvPr>
            <p:cNvSpPr/>
            <p:nvPr/>
          </p:nvSpPr>
          <p:spPr>
            <a:xfrm>
              <a:off x="1848447" y="453136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F1737C9-D74A-7048-82FA-2E5A205560BF}"/>
                </a:ext>
              </a:extLst>
            </p:cNvPr>
            <p:cNvSpPr/>
            <p:nvPr/>
          </p:nvSpPr>
          <p:spPr>
            <a:xfrm>
              <a:off x="2168487" y="5343872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309E9E3-FB5F-65E6-A9D4-A4BD706E0118}"/>
                </a:ext>
              </a:extLst>
            </p:cNvPr>
            <p:cNvSpPr/>
            <p:nvPr/>
          </p:nvSpPr>
          <p:spPr>
            <a:xfrm>
              <a:off x="1492847" y="5643592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FBC1CDA-15CC-9FF5-3538-C47CA30DBA49}"/>
                </a:ext>
              </a:extLst>
            </p:cNvPr>
            <p:cNvSpPr/>
            <p:nvPr/>
          </p:nvSpPr>
          <p:spPr>
            <a:xfrm>
              <a:off x="2600960" y="6108268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A3DD52C-B418-5C8A-96B0-7826C1A2C501}"/>
                </a:ext>
              </a:extLst>
            </p:cNvPr>
            <p:cNvSpPr/>
            <p:nvPr/>
          </p:nvSpPr>
          <p:spPr>
            <a:xfrm>
              <a:off x="3124200" y="6433388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F5D5852-940B-6EBF-B9C9-D63302889630}"/>
              </a:ext>
            </a:extLst>
          </p:cNvPr>
          <p:cNvSpPr/>
          <p:nvPr/>
        </p:nvSpPr>
        <p:spPr>
          <a:xfrm>
            <a:off x="2626241" y="4260509"/>
            <a:ext cx="1168400" cy="1001533"/>
          </a:xfrm>
          <a:custGeom>
            <a:avLst/>
            <a:gdLst>
              <a:gd name="connsiteX0" fmla="*/ 1168400 w 1168400"/>
              <a:gd name="connsiteY0" fmla="*/ 866043 h 1001533"/>
              <a:gd name="connsiteX1" fmla="*/ 924560 w 1168400"/>
              <a:gd name="connsiteY1" fmla="*/ 683163 h 1001533"/>
              <a:gd name="connsiteX2" fmla="*/ 924560 w 1168400"/>
              <a:gd name="connsiteY2" fmla="*/ 683163 h 1001533"/>
              <a:gd name="connsiteX3" fmla="*/ 904240 w 1168400"/>
              <a:gd name="connsiteY3" fmla="*/ 352963 h 1001533"/>
              <a:gd name="connsiteX4" fmla="*/ 690880 w 1168400"/>
              <a:gd name="connsiteY4" fmla="*/ 73563 h 1001533"/>
              <a:gd name="connsiteX5" fmla="*/ 690880 w 1168400"/>
              <a:gd name="connsiteY5" fmla="*/ 73563 h 1001533"/>
              <a:gd name="connsiteX6" fmla="*/ 121920 w 1168400"/>
              <a:gd name="connsiteY6" fmla="*/ 2443 h 1001533"/>
              <a:gd name="connsiteX7" fmla="*/ 0 w 1168400"/>
              <a:gd name="connsiteY7" fmla="*/ 175163 h 1001533"/>
              <a:gd name="connsiteX8" fmla="*/ 0 w 1168400"/>
              <a:gd name="connsiteY8" fmla="*/ 175163 h 1001533"/>
              <a:gd name="connsiteX9" fmla="*/ 40640 w 1168400"/>
              <a:gd name="connsiteY9" fmla="*/ 627283 h 1001533"/>
              <a:gd name="connsiteX10" fmla="*/ 299720 w 1168400"/>
              <a:gd name="connsiteY10" fmla="*/ 830483 h 1001533"/>
              <a:gd name="connsiteX11" fmla="*/ 299720 w 1168400"/>
              <a:gd name="connsiteY11" fmla="*/ 830483 h 1001533"/>
              <a:gd name="connsiteX12" fmla="*/ 472440 w 1168400"/>
              <a:gd name="connsiteY12" fmla="*/ 942243 h 1001533"/>
              <a:gd name="connsiteX13" fmla="*/ 762000 w 1168400"/>
              <a:gd name="connsiteY13" fmla="*/ 850803 h 1001533"/>
              <a:gd name="connsiteX14" fmla="*/ 1041400 w 1168400"/>
              <a:gd name="connsiteY14" fmla="*/ 962563 h 1001533"/>
              <a:gd name="connsiteX15" fmla="*/ 1041400 w 1168400"/>
              <a:gd name="connsiteY15" fmla="*/ 962563 h 1001533"/>
              <a:gd name="connsiteX16" fmla="*/ 1107440 w 1168400"/>
              <a:gd name="connsiteY16" fmla="*/ 998123 h 1001533"/>
              <a:gd name="connsiteX17" fmla="*/ 1168400 w 1168400"/>
              <a:gd name="connsiteY17" fmla="*/ 866043 h 1001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68400" h="1001533">
                <a:moveTo>
                  <a:pt x="1168400" y="866043"/>
                </a:moveTo>
                <a:lnTo>
                  <a:pt x="924560" y="683163"/>
                </a:lnTo>
                <a:lnTo>
                  <a:pt x="924560" y="683163"/>
                </a:lnTo>
                <a:cubicBezTo>
                  <a:pt x="921173" y="628130"/>
                  <a:pt x="943187" y="454563"/>
                  <a:pt x="904240" y="352963"/>
                </a:cubicBezTo>
                <a:cubicBezTo>
                  <a:pt x="865293" y="251363"/>
                  <a:pt x="690880" y="73563"/>
                  <a:pt x="690880" y="73563"/>
                </a:cubicBezTo>
                <a:lnTo>
                  <a:pt x="690880" y="73563"/>
                </a:lnTo>
                <a:cubicBezTo>
                  <a:pt x="596054" y="61710"/>
                  <a:pt x="237067" y="-14490"/>
                  <a:pt x="121920" y="2443"/>
                </a:cubicBezTo>
                <a:cubicBezTo>
                  <a:pt x="6773" y="19376"/>
                  <a:pt x="0" y="175163"/>
                  <a:pt x="0" y="175163"/>
                </a:cubicBezTo>
                <a:lnTo>
                  <a:pt x="0" y="175163"/>
                </a:lnTo>
                <a:cubicBezTo>
                  <a:pt x="6773" y="250516"/>
                  <a:pt x="-9313" y="518063"/>
                  <a:pt x="40640" y="627283"/>
                </a:cubicBezTo>
                <a:cubicBezTo>
                  <a:pt x="90593" y="736503"/>
                  <a:pt x="299720" y="830483"/>
                  <a:pt x="299720" y="830483"/>
                </a:cubicBezTo>
                <a:lnTo>
                  <a:pt x="299720" y="830483"/>
                </a:lnTo>
                <a:cubicBezTo>
                  <a:pt x="328507" y="849110"/>
                  <a:pt x="395393" y="938856"/>
                  <a:pt x="472440" y="942243"/>
                </a:cubicBezTo>
                <a:cubicBezTo>
                  <a:pt x="549487" y="945630"/>
                  <a:pt x="667173" y="847416"/>
                  <a:pt x="762000" y="850803"/>
                </a:cubicBezTo>
                <a:cubicBezTo>
                  <a:pt x="856827" y="854190"/>
                  <a:pt x="1041400" y="962563"/>
                  <a:pt x="1041400" y="962563"/>
                </a:cubicBezTo>
                <a:lnTo>
                  <a:pt x="1041400" y="962563"/>
                </a:lnTo>
                <a:cubicBezTo>
                  <a:pt x="1052407" y="968490"/>
                  <a:pt x="1085427" y="1014210"/>
                  <a:pt x="1107440" y="998123"/>
                </a:cubicBezTo>
                <a:cubicBezTo>
                  <a:pt x="1129453" y="982036"/>
                  <a:pt x="1151466" y="924039"/>
                  <a:pt x="1168400" y="866043"/>
                </a:cubicBezTo>
                <a:close/>
              </a:path>
            </a:pathLst>
          </a:cu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550B92-1A69-EA15-9D62-558CAF7E4751}"/>
              </a:ext>
            </a:extLst>
          </p:cNvPr>
          <p:cNvSpPr txBox="1"/>
          <p:nvPr/>
        </p:nvSpPr>
        <p:spPr>
          <a:xfrm>
            <a:off x="101718" y="2663602"/>
            <a:ext cx="1807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FE836A"/>
                </a:solidFill>
              </a:rPr>
              <a:t>1) Excitatory input onto dendrites</a:t>
            </a:r>
            <a:endParaRPr lang="en-AU" sz="1400" b="1" i="1" dirty="0">
              <a:solidFill>
                <a:srgbClr val="FE836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1FE8B-711D-6D08-7CAA-3107FF5925EF}"/>
              </a:ext>
            </a:extLst>
          </p:cNvPr>
          <p:cNvSpPr txBox="1"/>
          <p:nvPr/>
        </p:nvSpPr>
        <p:spPr>
          <a:xfrm>
            <a:off x="2012338" y="6290717"/>
            <a:ext cx="169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FE836A"/>
                </a:solidFill>
              </a:rPr>
              <a:t>2) Action potential generated</a:t>
            </a:r>
            <a:endParaRPr lang="en-AU" sz="1400" b="1" i="1" dirty="0">
              <a:solidFill>
                <a:srgbClr val="FE83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38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3DED9-C3D6-D46A-3815-F26461CFA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7302D-7615-ED4B-F1B6-63A4C8206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AU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Action Potentials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CE7D1EE-780A-7F8A-9A7A-D9D221D86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98628" y="2684990"/>
            <a:ext cx="6164161" cy="3437242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1970468E-6C27-6D79-0D50-169ACA1CF410}"/>
              </a:ext>
            </a:extLst>
          </p:cNvPr>
          <p:cNvGrpSpPr/>
          <p:nvPr/>
        </p:nvGrpSpPr>
        <p:grpSpPr>
          <a:xfrm>
            <a:off x="1375888" y="2926912"/>
            <a:ext cx="3093720" cy="3121228"/>
            <a:chOff x="1492847" y="3479800"/>
            <a:chExt cx="3093720" cy="312122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F3FF926-5D1B-E615-8D89-11B8D0FDE943}"/>
                </a:ext>
              </a:extLst>
            </p:cNvPr>
            <p:cNvSpPr/>
            <p:nvPr/>
          </p:nvSpPr>
          <p:spPr>
            <a:xfrm>
              <a:off x="2600960" y="347980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32FCC02-A940-B5C0-13BB-92E610576D13}"/>
                </a:ext>
              </a:extLst>
            </p:cNvPr>
            <p:cNvSpPr/>
            <p:nvPr/>
          </p:nvSpPr>
          <p:spPr>
            <a:xfrm>
              <a:off x="3738880" y="422656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07943C3-D8FA-B649-6B7F-01B9CE1EABEA}"/>
                </a:ext>
              </a:extLst>
            </p:cNvPr>
            <p:cNvSpPr/>
            <p:nvPr/>
          </p:nvSpPr>
          <p:spPr>
            <a:xfrm>
              <a:off x="4408767" y="426212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F9DE840-9F39-8F73-8041-E23004E287AC}"/>
                </a:ext>
              </a:extLst>
            </p:cNvPr>
            <p:cNvSpPr/>
            <p:nvPr/>
          </p:nvSpPr>
          <p:spPr>
            <a:xfrm>
              <a:off x="1848447" y="453136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A6996D7-162A-A32B-2DCA-685A7DF350B8}"/>
                </a:ext>
              </a:extLst>
            </p:cNvPr>
            <p:cNvSpPr/>
            <p:nvPr/>
          </p:nvSpPr>
          <p:spPr>
            <a:xfrm>
              <a:off x="2168487" y="5343872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114B0A2-7011-3795-F5CE-7DB535721701}"/>
                </a:ext>
              </a:extLst>
            </p:cNvPr>
            <p:cNvSpPr/>
            <p:nvPr/>
          </p:nvSpPr>
          <p:spPr>
            <a:xfrm>
              <a:off x="1492847" y="5643592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4C4C830-9ACF-BCB0-8E9D-EDDFBB0A53E1}"/>
                </a:ext>
              </a:extLst>
            </p:cNvPr>
            <p:cNvSpPr/>
            <p:nvPr/>
          </p:nvSpPr>
          <p:spPr>
            <a:xfrm>
              <a:off x="2600960" y="6108268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F66FC87-4BDA-A801-48E8-88728A7ED558}"/>
                </a:ext>
              </a:extLst>
            </p:cNvPr>
            <p:cNvSpPr/>
            <p:nvPr/>
          </p:nvSpPr>
          <p:spPr>
            <a:xfrm>
              <a:off x="3124200" y="6433388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F38C094-0EE8-7245-8077-71B35B23704A}"/>
              </a:ext>
            </a:extLst>
          </p:cNvPr>
          <p:cNvSpPr/>
          <p:nvPr/>
        </p:nvSpPr>
        <p:spPr>
          <a:xfrm>
            <a:off x="2626241" y="4260509"/>
            <a:ext cx="1168400" cy="1001533"/>
          </a:xfrm>
          <a:custGeom>
            <a:avLst/>
            <a:gdLst>
              <a:gd name="connsiteX0" fmla="*/ 1168400 w 1168400"/>
              <a:gd name="connsiteY0" fmla="*/ 866043 h 1001533"/>
              <a:gd name="connsiteX1" fmla="*/ 924560 w 1168400"/>
              <a:gd name="connsiteY1" fmla="*/ 683163 h 1001533"/>
              <a:gd name="connsiteX2" fmla="*/ 924560 w 1168400"/>
              <a:gd name="connsiteY2" fmla="*/ 683163 h 1001533"/>
              <a:gd name="connsiteX3" fmla="*/ 904240 w 1168400"/>
              <a:gd name="connsiteY3" fmla="*/ 352963 h 1001533"/>
              <a:gd name="connsiteX4" fmla="*/ 690880 w 1168400"/>
              <a:gd name="connsiteY4" fmla="*/ 73563 h 1001533"/>
              <a:gd name="connsiteX5" fmla="*/ 690880 w 1168400"/>
              <a:gd name="connsiteY5" fmla="*/ 73563 h 1001533"/>
              <a:gd name="connsiteX6" fmla="*/ 121920 w 1168400"/>
              <a:gd name="connsiteY6" fmla="*/ 2443 h 1001533"/>
              <a:gd name="connsiteX7" fmla="*/ 0 w 1168400"/>
              <a:gd name="connsiteY7" fmla="*/ 175163 h 1001533"/>
              <a:gd name="connsiteX8" fmla="*/ 0 w 1168400"/>
              <a:gd name="connsiteY8" fmla="*/ 175163 h 1001533"/>
              <a:gd name="connsiteX9" fmla="*/ 40640 w 1168400"/>
              <a:gd name="connsiteY9" fmla="*/ 627283 h 1001533"/>
              <a:gd name="connsiteX10" fmla="*/ 299720 w 1168400"/>
              <a:gd name="connsiteY10" fmla="*/ 830483 h 1001533"/>
              <a:gd name="connsiteX11" fmla="*/ 299720 w 1168400"/>
              <a:gd name="connsiteY11" fmla="*/ 830483 h 1001533"/>
              <a:gd name="connsiteX12" fmla="*/ 472440 w 1168400"/>
              <a:gd name="connsiteY12" fmla="*/ 942243 h 1001533"/>
              <a:gd name="connsiteX13" fmla="*/ 762000 w 1168400"/>
              <a:gd name="connsiteY13" fmla="*/ 850803 h 1001533"/>
              <a:gd name="connsiteX14" fmla="*/ 1041400 w 1168400"/>
              <a:gd name="connsiteY14" fmla="*/ 962563 h 1001533"/>
              <a:gd name="connsiteX15" fmla="*/ 1041400 w 1168400"/>
              <a:gd name="connsiteY15" fmla="*/ 962563 h 1001533"/>
              <a:gd name="connsiteX16" fmla="*/ 1107440 w 1168400"/>
              <a:gd name="connsiteY16" fmla="*/ 998123 h 1001533"/>
              <a:gd name="connsiteX17" fmla="*/ 1168400 w 1168400"/>
              <a:gd name="connsiteY17" fmla="*/ 866043 h 1001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68400" h="1001533">
                <a:moveTo>
                  <a:pt x="1168400" y="866043"/>
                </a:moveTo>
                <a:lnTo>
                  <a:pt x="924560" y="683163"/>
                </a:lnTo>
                <a:lnTo>
                  <a:pt x="924560" y="683163"/>
                </a:lnTo>
                <a:cubicBezTo>
                  <a:pt x="921173" y="628130"/>
                  <a:pt x="943187" y="454563"/>
                  <a:pt x="904240" y="352963"/>
                </a:cubicBezTo>
                <a:cubicBezTo>
                  <a:pt x="865293" y="251363"/>
                  <a:pt x="690880" y="73563"/>
                  <a:pt x="690880" y="73563"/>
                </a:cubicBezTo>
                <a:lnTo>
                  <a:pt x="690880" y="73563"/>
                </a:lnTo>
                <a:cubicBezTo>
                  <a:pt x="596054" y="61710"/>
                  <a:pt x="237067" y="-14490"/>
                  <a:pt x="121920" y="2443"/>
                </a:cubicBezTo>
                <a:cubicBezTo>
                  <a:pt x="6773" y="19376"/>
                  <a:pt x="0" y="175163"/>
                  <a:pt x="0" y="175163"/>
                </a:cubicBezTo>
                <a:lnTo>
                  <a:pt x="0" y="175163"/>
                </a:lnTo>
                <a:cubicBezTo>
                  <a:pt x="6773" y="250516"/>
                  <a:pt x="-9313" y="518063"/>
                  <a:pt x="40640" y="627283"/>
                </a:cubicBezTo>
                <a:cubicBezTo>
                  <a:pt x="90593" y="736503"/>
                  <a:pt x="299720" y="830483"/>
                  <a:pt x="299720" y="830483"/>
                </a:cubicBezTo>
                <a:lnTo>
                  <a:pt x="299720" y="830483"/>
                </a:lnTo>
                <a:cubicBezTo>
                  <a:pt x="328507" y="849110"/>
                  <a:pt x="395393" y="938856"/>
                  <a:pt x="472440" y="942243"/>
                </a:cubicBezTo>
                <a:cubicBezTo>
                  <a:pt x="549487" y="945630"/>
                  <a:pt x="667173" y="847416"/>
                  <a:pt x="762000" y="850803"/>
                </a:cubicBezTo>
                <a:cubicBezTo>
                  <a:pt x="856827" y="854190"/>
                  <a:pt x="1041400" y="962563"/>
                  <a:pt x="1041400" y="962563"/>
                </a:cubicBezTo>
                <a:lnTo>
                  <a:pt x="1041400" y="962563"/>
                </a:lnTo>
                <a:cubicBezTo>
                  <a:pt x="1052407" y="968490"/>
                  <a:pt x="1085427" y="1014210"/>
                  <a:pt x="1107440" y="998123"/>
                </a:cubicBezTo>
                <a:cubicBezTo>
                  <a:pt x="1129453" y="982036"/>
                  <a:pt x="1151466" y="924039"/>
                  <a:pt x="1168400" y="866043"/>
                </a:cubicBezTo>
                <a:close/>
              </a:path>
            </a:pathLst>
          </a:cu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64A36EB-DA78-090C-D8AE-2D89F8B4C105}"/>
              </a:ext>
            </a:extLst>
          </p:cNvPr>
          <p:cNvSpPr/>
          <p:nvPr/>
        </p:nvSpPr>
        <p:spPr>
          <a:xfrm rot="1402967">
            <a:off x="3788659" y="5221167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81B3274-93B4-B65B-94EC-268E27C79446}"/>
              </a:ext>
            </a:extLst>
          </p:cNvPr>
          <p:cNvSpPr/>
          <p:nvPr/>
        </p:nvSpPr>
        <p:spPr>
          <a:xfrm rot="1402967">
            <a:off x="4197176" y="5422068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EB89B9A-99CC-4C14-B215-E522164BD10D}"/>
              </a:ext>
            </a:extLst>
          </p:cNvPr>
          <p:cNvSpPr/>
          <p:nvPr/>
        </p:nvSpPr>
        <p:spPr>
          <a:xfrm rot="922375">
            <a:off x="4659946" y="5601030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8E1EA3C-4127-9F6C-E761-D929293EF8A9}"/>
              </a:ext>
            </a:extLst>
          </p:cNvPr>
          <p:cNvSpPr/>
          <p:nvPr/>
        </p:nvSpPr>
        <p:spPr>
          <a:xfrm rot="316632">
            <a:off x="5183185" y="5698013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1DCF16B-BB46-EEE4-0C89-12CC0DF98DB5}"/>
              </a:ext>
            </a:extLst>
          </p:cNvPr>
          <p:cNvSpPr/>
          <p:nvPr/>
        </p:nvSpPr>
        <p:spPr>
          <a:xfrm rot="20130609">
            <a:off x="5637457" y="5616766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580E024-DBB3-CCB3-8797-F57F935738A2}"/>
              </a:ext>
            </a:extLst>
          </p:cNvPr>
          <p:cNvSpPr/>
          <p:nvPr/>
        </p:nvSpPr>
        <p:spPr>
          <a:xfrm rot="19404586">
            <a:off x="6043857" y="5426689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17FCF3A-D611-9540-EC25-E2B4BD90E6C6}"/>
              </a:ext>
            </a:extLst>
          </p:cNvPr>
          <p:cNvSpPr/>
          <p:nvPr/>
        </p:nvSpPr>
        <p:spPr>
          <a:xfrm rot="18549672">
            <a:off x="6375991" y="5123499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D67576-3951-0A33-D034-AC08B572ACC1}"/>
              </a:ext>
            </a:extLst>
          </p:cNvPr>
          <p:cNvSpPr txBox="1"/>
          <p:nvPr/>
        </p:nvSpPr>
        <p:spPr>
          <a:xfrm>
            <a:off x="101718" y="2663602"/>
            <a:ext cx="1807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FE836A"/>
                </a:solidFill>
              </a:rPr>
              <a:t>1) Excitatory input onto dendrites</a:t>
            </a:r>
            <a:endParaRPr lang="en-AU" sz="1400" b="1" i="1" dirty="0">
              <a:solidFill>
                <a:srgbClr val="FE836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213C8-68AC-CAF8-2A7D-BF04D2B76DA8}"/>
              </a:ext>
            </a:extLst>
          </p:cNvPr>
          <p:cNvSpPr txBox="1"/>
          <p:nvPr/>
        </p:nvSpPr>
        <p:spPr>
          <a:xfrm>
            <a:off x="2012338" y="6290717"/>
            <a:ext cx="169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FE836A"/>
                </a:solidFill>
              </a:rPr>
              <a:t>2) Action potential generated</a:t>
            </a:r>
            <a:endParaRPr lang="en-AU" sz="1400" b="1" i="1" dirty="0">
              <a:solidFill>
                <a:srgbClr val="FE836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A9D0E9-8155-5394-EA20-AA31066D66A6}"/>
              </a:ext>
            </a:extLst>
          </p:cNvPr>
          <p:cNvSpPr txBox="1"/>
          <p:nvPr/>
        </p:nvSpPr>
        <p:spPr>
          <a:xfrm>
            <a:off x="4682312" y="6095811"/>
            <a:ext cx="169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FE836A"/>
                </a:solidFill>
              </a:rPr>
              <a:t>3) Action potential travels down axon</a:t>
            </a:r>
            <a:endParaRPr lang="en-AU" sz="1400" b="1" i="1" dirty="0">
              <a:solidFill>
                <a:srgbClr val="FE83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82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6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27AE-1F18-AAF4-A05D-0A02B473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8BCC3-E8A3-F492-57E2-E7667DB9C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AU" b="1" dirty="0">
                <a:latin typeface="Bangla Sangam MN" panose="02000000000000000000" pitchFamily="2" charset="0"/>
                <a:cs typeface="Bangla Sangam MN" panose="02000000000000000000" pitchFamily="2" charset="0"/>
              </a:rPr>
              <a:t>Action Potentials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D74ADA-B3CD-3243-9358-78D0E4C60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98628" y="2684990"/>
            <a:ext cx="6164161" cy="3437242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C85743FC-DD07-5C79-0F78-A7AC42E149EC}"/>
              </a:ext>
            </a:extLst>
          </p:cNvPr>
          <p:cNvGrpSpPr/>
          <p:nvPr/>
        </p:nvGrpSpPr>
        <p:grpSpPr>
          <a:xfrm>
            <a:off x="1375888" y="2926912"/>
            <a:ext cx="3093720" cy="3121228"/>
            <a:chOff x="1492847" y="3479800"/>
            <a:chExt cx="3093720" cy="312122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68DA84B-5481-30EB-D93B-A229090A932B}"/>
                </a:ext>
              </a:extLst>
            </p:cNvPr>
            <p:cNvSpPr/>
            <p:nvPr/>
          </p:nvSpPr>
          <p:spPr>
            <a:xfrm>
              <a:off x="2600960" y="347980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2E94806-0B9E-2365-D8E1-D2C691F006DB}"/>
                </a:ext>
              </a:extLst>
            </p:cNvPr>
            <p:cNvSpPr/>
            <p:nvPr/>
          </p:nvSpPr>
          <p:spPr>
            <a:xfrm>
              <a:off x="3738880" y="422656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527B5B8-514C-C0F8-BC42-196524775225}"/>
                </a:ext>
              </a:extLst>
            </p:cNvPr>
            <p:cNvSpPr/>
            <p:nvPr/>
          </p:nvSpPr>
          <p:spPr>
            <a:xfrm>
              <a:off x="4408767" y="426212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95ADAB3-1F27-CA13-159D-886237067821}"/>
                </a:ext>
              </a:extLst>
            </p:cNvPr>
            <p:cNvSpPr/>
            <p:nvPr/>
          </p:nvSpPr>
          <p:spPr>
            <a:xfrm>
              <a:off x="1848447" y="4531360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E39B300-99FC-06B1-BF59-9003071EA88B}"/>
                </a:ext>
              </a:extLst>
            </p:cNvPr>
            <p:cNvSpPr/>
            <p:nvPr/>
          </p:nvSpPr>
          <p:spPr>
            <a:xfrm>
              <a:off x="2168487" y="5343872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EF21815-2383-77FD-1F34-87803ACAB541}"/>
                </a:ext>
              </a:extLst>
            </p:cNvPr>
            <p:cNvSpPr/>
            <p:nvPr/>
          </p:nvSpPr>
          <p:spPr>
            <a:xfrm>
              <a:off x="1492847" y="5643592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1C39881-84C5-145E-D741-A77D1EECADFA}"/>
                </a:ext>
              </a:extLst>
            </p:cNvPr>
            <p:cNvSpPr/>
            <p:nvPr/>
          </p:nvSpPr>
          <p:spPr>
            <a:xfrm>
              <a:off x="2600960" y="6108268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54DEB79-A496-3FDE-D150-6EEF60C05B97}"/>
                </a:ext>
              </a:extLst>
            </p:cNvPr>
            <p:cNvSpPr/>
            <p:nvPr/>
          </p:nvSpPr>
          <p:spPr>
            <a:xfrm>
              <a:off x="3124200" y="6433388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9B56D73-39EF-B91E-B0AC-503A3B4E5CCC}"/>
              </a:ext>
            </a:extLst>
          </p:cNvPr>
          <p:cNvSpPr/>
          <p:nvPr/>
        </p:nvSpPr>
        <p:spPr>
          <a:xfrm>
            <a:off x="2626241" y="4260509"/>
            <a:ext cx="1168400" cy="1001533"/>
          </a:xfrm>
          <a:custGeom>
            <a:avLst/>
            <a:gdLst>
              <a:gd name="connsiteX0" fmla="*/ 1168400 w 1168400"/>
              <a:gd name="connsiteY0" fmla="*/ 866043 h 1001533"/>
              <a:gd name="connsiteX1" fmla="*/ 924560 w 1168400"/>
              <a:gd name="connsiteY1" fmla="*/ 683163 h 1001533"/>
              <a:gd name="connsiteX2" fmla="*/ 924560 w 1168400"/>
              <a:gd name="connsiteY2" fmla="*/ 683163 h 1001533"/>
              <a:gd name="connsiteX3" fmla="*/ 904240 w 1168400"/>
              <a:gd name="connsiteY3" fmla="*/ 352963 h 1001533"/>
              <a:gd name="connsiteX4" fmla="*/ 690880 w 1168400"/>
              <a:gd name="connsiteY4" fmla="*/ 73563 h 1001533"/>
              <a:gd name="connsiteX5" fmla="*/ 690880 w 1168400"/>
              <a:gd name="connsiteY5" fmla="*/ 73563 h 1001533"/>
              <a:gd name="connsiteX6" fmla="*/ 121920 w 1168400"/>
              <a:gd name="connsiteY6" fmla="*/ 2443 h 1001533"/>
              <a:gd name="connsiteX7" fmla="*/ 0 w 1168400"/>
              <a:gd name="connsiteY7" fmla="*/ 175163 h 1001533"/>
              <a:gd name="connsiteX8" fmla="*/ 0 w 1168400"/>
              <a:gd name="connsiteY8" fmla="*/ 175163 h 1001533"/>
              <a:gd name="connsiteX9" fmla="*/ 40640 w 1168400"/>
              <a:gd name="connsiteY9" fmla="*/ 627283 h 1001533"/>
              <a:gd name="connsiteX10" fmla="*/ 299720 w 1168400"/>
              <a:gd name="connsiteY10" fmla="*/ 830483 h 1001533"/>
              <a:gd name="connsiteX11" fmla="*/ 299720 w 1168400"/>
              <a:gd name="connsiteY11" fmla="*/ 830483 h 1001533"/>
              <a:gd name="connsiteX12" fmla="*/ 472440 w 1168400"/>
              <a:gd name="connsiteY12" fmla="*/ 942243 h 1001533"/>
              <a:gd name="connsiteX13" fmla="*/ 762000 w 1168400"/>
              <a:gd name="connsiteY13" fmla="*/ 850803 h 1001533"/>
              <a:gd name="connsiteX14" fmla="*/ 1041400 w 1168400"/>
              <a:gd name="connsiteY14" fmla="*/ 962563 h 1001533"/>
              <a:gd name="connsiteX15" fmla="*/ 1041400 w 1168400"/>
              <a:gd name="connsiteY15" fmla="*/ 962563 h 1001533"/>
              <a:gd name="connsiteX16" fmla="*/ 1107440 w 1168400"/>
              <a:gd name="connsiteY16" fmla="*/ 998123 h 1001533"/>
              <a:gd name="connsiteX17" fmla="*/ 1168400 w 1168400"/>
              <a:gd name="connsiteY17" fmla="*/ 866043 h 1001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68400" h="1001533">
                <a:moveTo>
                  <a:pt x="1168400" y="866043"/>
                </a:moveTo>
                <a:lnTo>
                  <a:pt x="924560" y="683163"/>
                </a:lnTo>
                <a:lnTo>
                  <a:pt x="924560" y="683163"/>
                </a:lnTo>
                <a:cubicBezTo>
                  <a:pt x="921173" y="628130"/>
                  <a:pt x="943187" y="454563"/>
                  <a:pt x="904240" y="352963"/>
                </a:cubicBezTo>
                <a:cubicBezTo>
                  <a:pt x="865293" y="251363"/>
                  <a:pt x="690880" y="73563"/>
                  <a:pt x="690880" y="73563"/>
                </a:cubicBezTo>
                <a:lnTo>
                  <a:pt x="690880" y="73563"/>
                </a:lnTo>
                <a:cubicBezTo>
                  <a:pt x="596054" y="61710"/>
                  <a:pt x="237067" y="-14490"/>
                  <a:pt x="121920" y="2443"/>
                </a:cubicBezTo>
                <a:cubicBezTo>
                  <a:pt x="6773" y="19376"/>
                  <a:pt x="0" y="175163"/>
                  <a:pt x="0" y="175163"/>
                </a:cubicBezTo>
                <a:lnTo>
                  <a:pt x="0" y="175163"/>
                </a:lnTo>
                <a:cubicBezTo>
                  <a:pt x="6773" y="250516"/>
                  <a:pt x="-9313" y="518063"/>
                  <a:pt x="40640" y="627283"/>
                </a:cubicBezTo>
                <a:cubicBezTo>
                  <a:pt x="90593" y="736503"/>
                  <a:pt x="299720" y="830483"/>
                  <a:pt x="299720" y="830483"/>
                </a:cubicBezTo>
                <a:lnTo>
                  <a:pt x="299720" y="830483"/>
                </a:lnTo>
                <a:cubicBezTo>
                  <a:pt x="328507" y="849110"/>
                  <a:pt x="395393" y="938856"/>
                  <a:pt x="472440" y="942243"/>
                </a:cubicBezTo>
                <a:cubicBezTo>
                  <a:pt x="549487" y="945630"/>
                  <a:pt x="667173" y="847416"/>
                  <a:pt x="762000" y="850803"/>
                </a:cubicBezTo>
                <a:cubicBezTo>
                  <a:pt x="856827" y="854190"/>
                  <a:pt x="1041400" y="962563"/>
                  <a:pt x="1041400" y="962563"/>
                </a:cubicBezTo>
                <a:lnTo>
                  <a:pt x="1041400" y="962563"/>
                </a:lnTo>
                <a:cubicBezTo>
                  <a:pt x="1052407" y="968490"/>
                  <a:pt x="1085427" y="1014210"/>
                  <a:pt x="1107440" y="998123"/>
                </a:cubicBezTo>
                <a:cubicBezTo>
                  <a:pt x="1129453" y="982036"/>
                  <a:pt x="1151466" y="924039"/>
                  <a:pt x="1168400" y="866043"/>
                </a:cubicBezTo>
                <a:close/>
              </a:path>
            </a:pathLst>
          </a:cu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FAA6142-A58B-3524-AB8F-DD1F6E95FEBB}"/>
              </a:ext>
            </a:extLst>
          </p:cNvPr>
          <p:cNvSpPr/>
          <p:nvPr/>
        </p:nvSpPr>
        <p:spPr>
          <a:xfrm rot="1402967">
            <a:off x="3788659" y="5221167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01BE22C-9DAD-C2AE-BCFA-7E28D890AF61}"/>
              </a:ext>
            </a:extLst>
          </p:cNvPr>
          <p:cNvSpPr/>
          <p:nvPr/>
        </p:nvSpPr>
        <p:spPr>
          <a:xfrm rot="1402967">
            <a:off x="4197176" y="5422068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0403825-A022-511E-62FC-0DB58E026B53}"/>
              </a:ext>
            </a:extLst>
          </p:cNvPr>
          <p:cNvSpPr/>
          <p:nvPr/>
        </p:nvSpPr>
        <p:spPr>
          <a:xfrm rot="922375">
            <a:off x="4659946" y="5601030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480BF4D-8EEE-951A-9F88-5088F27CDC64}"/>
              </a:ext>
            </a:extLst>
          </p:cNvPr>
          <p:cNvSpPr/>
          <p:nvPr/>
        </p:nvSpPr>
        <p:spPr>
          <a:xfrm rot="316632">
            <a:off x="5183185" y="5698013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EDD2250-A383-B7B4-FBBD-068B4DB75284}"/>
              </a:ext>
            </a:extLst>
          </p:cNvPr>
          <p:cNvSpPr/>
          <p:nvPr/>
        </p:nvSpPr>
        <p:spPr>
          <a:xfrm rot="20130609">
            <a:off x="5637457" y="5616766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5077177-C4A2-A3EB-B1EC-10891DD7541A}"/>
              </a:ext>
            </a:extLst>
          </p:cNvPr>
          <p:cNvSpPr/>
          <p:nvPr/>
        </p:nvSpPr>
        <p:spPr>
          <a:xfrm rot="19404586">
            <a:off x="6043857" y="5426689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AFC10E5-33F9-44F1-6A37-C13EE6908C10}"/>
              </a:ext>
            </a:extLst>
          </p:cNvPr>
          <p:cNvSpPr/>
          <p:nvPr/>
        </p:nvSpPr>
        <p:spPr>
          <a:xfrm rot="18549672">
            <a:off x="6375991" y="5123499"/>
            <a:ext cx="326923" cy="141689"/>
          </a:xfrm>
          <a:prstGeom prst="roundRect">
            <a:avLst/>
          </a:prstGeom>
          <a:solidFill>
            <a:srgbClr val="FE83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383E03F-4305-6B14-972F-882C7FF8A135}"/>
              </a:ext>
            </a:extLst>
          </p:cNvPr>
          <p:cNvGrpSpPr/>
          <p:nvPr/>
        </p:nvGrpSpPr>
        <p:grpSpPr>
          <a:xfrm>
            <a:off x="6193612" y="4331019"/>
            <a:ext cx="1324178" cy="914912"/>
            <a:chOff x="6310571" y="4883907"/>
            <a:chExt cx="1324178" cy="914912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533A7EF-24C8-EBBF-D551-ED5A694D513D}"/>
                </a:ext>
              </a:extLst>
            </p:cNvPr>
            <p:cNvSpPr/>
            <p:nvPr/>
          </p:nvSpPr>
          <p:spPr>
            <a:xfrm>
              <a:off x="6310571" y="5230343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FA32894-7AC9-8B43-EC24-B430F25A6EA7}"/>
                </a:ext>
              </a:extLst>
            </p:cNvPr>
            <p:cNvSpPr/>
            <p:nvPr/>
          </p:nvSpPr>
          <p:spPr>
            <a:xfrm>
              <a:off x="6408854" y="5049723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9B441DB-C551-3921-51CF-2AE8ED6930C5}"/>
                </a:ext>
              </a:extLst>
            </p:cNvPr>
            <p:cNvSpPr/>
            <p:nvPr/>
          </p:nvSpPr>
          <p:spPr>
            <a:xfrm>
              <a:off x="7272454" y="4883907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D01FD0A-C765-6017-ADCD-B7EA4B77BA0F}"/>
                </a:ext>
              </a:extLst>
            </p:cNvPr>
            <p:cNvSpPr/>
            <p:nvPr/>
          </p:nvSpPr>
          <p:spPr>
            <a:xfrm>
              <a:off x="7272454" y="5062703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9591E68-10B9-F5F2-D9E8-DE6358616449}"/>
                </a:ext>
              </a:extLst>
            </p:cNvPr>
            <p:cNvSpPr/>
            <p:nvPr/>
          </p:nvSpPr>
          <p:spPr>
            <a:xfrm>
              <a:off x="7424854" y="5172768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ED75E1B-AAB2-67DF-2EAD-78D12BF7AD0A}"/>
                </a:ext>
              </a:extLst>
            </p:cNvPr>
            <p:cNvSpPr/>
            <p:nvPr/>
          </p:nvSpPr>
          <p:spPr>
            <a:xfrm>
              <a:off x="7450254" y="5393899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E050EBA-A4CA-F1C2-51AB-9A1837E3B632}"/>
                </a:ext>
              </a:extLst>
            </p:cNvPr>
            <p:cNvSpPr/>
            <p:nvPr/>
          </p:nvSpPr>
          <p:spPr>
            <a:xfrm>
              <a:off x="7456949" y="5631179"/>
              <a:ext cx="177800" cy="167640"/>
            </a:xfrm>
            <a:prstGeom prst="ellipse">
              <a:avLst/>
            </a:prstGeom>
            <a:solidFill>
              <a:srgbClr val="FE83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0DC5430-70AE-83F5-92DA-CB0522A33EFA}"/>
              </a:ext>
            </a:extLst>
          </p:cNvPr>
          <p:cNvSpPr txBox="1"/>
          <p:nvPr/>
        </p:nvSpPr>
        <p:spPr>
          <a:xfrm>
            <a:off x="6675562" y="3247490"/>
            <a:ext cx="2283817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FE836A"/>
                </a:solidFill>
              </a:rPr>
              <a:t>4) Axon terminals release neurotransmitter (type depends on neuron)</a:t>
            </a:r>
            <a:endParaRPr lang="en-AU" sz="1400" b="1" i="1" dirty="0">
              <a:solidFill>
                <a:srgbClr val="FE836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AF704A-235D-CC67-6777-8E680900E728}"/>
              </a:ext>
            </a:extLst>
          </p:cNvPr>
          <p:cNvSpPr txBox="1"/>
          <p:nvPr/>
        </p:nvSpPr>
        <p:spPr>
          <a:xfrm>
            <a:off x="101718" y="2663602"/>
            <a:ext cx="1807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FE836A"/>
                </a:solidFill>
              </a:rPr>
              <a:t>1) Excitatory input onto dendrites</a:t>
            </a:r>
            <a:endParaRPr lang="en-AU" sz="1400" b="1" i="1" dirty="0">
              <a:solidFill>
                <a:srgbClr val="FE836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FDD063-31E7-0E4B-6E8B-9117765FA4AC}"/>
              </a:ext>
            </a:extLst>
          </p:cNvPr>
          <p:cNvSpPr txBox="1"/>
          <p:nvPr/>
        </p:nvSpPr>
        <p:spPr>
          <a:xfrm>
            <a:off x="2012338" y="6290717"/>
            <a:ext cx="169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FE836A"/>
                </a:solidFill>
              </a:rPr>
              <a:t>2) Action potential generated</a:t>
            </a:r>
            <a:endParaRPr lang="en-AU" sz="1400" b="1" i="1" dirty="0">
              <a:solidFill>
                <a:srgbClr val="FE836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8DBA7-4DF1-A98A-CACB-BC7A8D090B9C}"/>
              </a:ext>
            </a:extLst>
          </p:cNvPr>
          <p:cNvSpPr txBox="1"/>
          <p:nvPr/>
        </p:nvSpPr>
        <p:spPr>
          <a:xfrm>
            <a:off x="4682312" y="6095811"/>
            <a:ext cx="1698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FE836A"/>
                </a:solidFill>
              </a:rPr>
              <a:t>3) Action potential travels down axon</a:t>
            </a:r>
            <a:endParaRPr lang="en-AU" sz="1400" b="1" i="1" dirty="0">
              <a:solidFill>
                <a:srgbClr val="FE83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27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5" grpId="0" animBg="1"/>
      <p:bldP spid="6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fdd065e-f6b3-4bcc-a857-abffdedb4f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9990ADAB373E48B35130C7534AB927" ma:contentTypeVersion="10" ma:contentTypeDescription="Create a new document." ma:contentTypeScope="" ma:versionID="377fc79e3bb8051daff81495921ea569">
  <xsd:schema xmlns:xsd="http://www.w3.org/2001/XMLSchema" xmlns:xs="http://www.w3.org/2001/XMLSchema" xmlns:p="http://schemas.microsoft.com/office/2006/metadata/properties" xmlns:ns3="dfdd065e-f6b3-4bcc-a857-abffdedb4f84" targetNamespace="http://schemas.microsoft.com/office/2006/metadata/properties" ma:root="true" ma:fieldsID="eaf0514310e2e41a540e36d48d2e4236" ns3:_="">
    <xsd:import namespace="dfdd065e-f6b3-4bcc-a857-abffdedb4f8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dd065e-f6b3-4bcc-a857-abffdedb4f8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40F06F-EEA9-4EA0-801F-518CCBA777F2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dfdd065e-f6b3-4bcc-a857-abffdedb4f84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62CE2C1-30D4-447B-A72F-7A2E50BB94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378D6F-585D-4331-8B9B-CF91AAE257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dd065e-f6b3-4bcc-a857-abffdedb4f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32581</TotalTime>
  <Words>316</Words>
  <Application>Microsoft Macintosh PowerPoint</Application>
  <PresentationFormat>Widescreen</PresentationFormat>
  <Paragraphs>59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Bangla Sangam MN</vt:lpstr>
      <vt:lpstr>Office Theme</vt:lpstr>
      <vt:lpstr> Neuron Primer Neurons and Action Potentials PSYC1003 </vt:lpstr>
      <vt:lpstr>PowerPoint Presentation</vt:lpstr>
      <vt:lpstr>Anatomy of a Neuron</vt:lpstr>
      <vt:lpstr>PowerPoint Presentation</vt:lpstr>
      <vt:lpstr>PowerPoint Presentation</vt:lpstr>
      <vt:lpstr>PowerPoint Presentation</vt:lpstr>
      <vt:lpstr>Dendrites</vt:lpstr>
      <vt:lpstr>PowerPoint Presentation</vt:lpstr>
      <vt:lpstr>Axons</vt:lpstr>
      <vt:lpstr>Action Potentials</vt:lpstr>
      <vt:lpstr>Action Potentials</vt:lpstr>
      <vt:lpstr>Action Potentials</vt:lpstr>
      <vt:lpstr>Action Potentials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Kelsey Zimmermann</dc:creator>
  <cp:lastModifiedBy>Microsoft Office User</cp:lastModifiedBy>
  <cp:revision>63</cp:revision>
  <dcterms:created xsi:type="dcterms:W3CDTF">2024-12-26T23:01:42Z</dcterms:created>
  <dcterms:modified xsi:type="dcterms:W3CDTF">2026-08-31T00:47:47Z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0x0101006D9990ADAB373E48B35130C7534AB927</vt:lpwstr>
  </property>
</Properties>
</file>