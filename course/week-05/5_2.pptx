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99" r:id="rId5"/>
    <p:sldId id="272" r:id="rId6"/>
    <p:sldId id="286" r:id="rId7"/>
    <p:sldId id="284" r:id="rId8"/>
    <p:sldId id="283" r:id="rId9"/>
    <p:sldId id="261" r:id="rId10"/>
    <p:sldId id="280" r:id="rId11"/>
    <p:sldId id="278" r:id="rId12"/>
    <p:sldId id="290" r:id="rId13"/>
    <p:sldId id="263" r:id="rId14"/>
    <p:sldId id="288" r:id="rId15"/>
    <p:sldId id="279" r:id="rId16"/>
    <p:sldId id="289" r:id="rId17"/>
    <p:sldId id="291" r:id="rId18"/>
    <p:sldId id="293" r:id="rId19"/>
    <p:sldId id="292" r:id="rId20"/>
    <p:sldId id="294" r:id="rId21"/>
    <p:sldId id="295" r:id="rId22"/>
    <p:sldId id="281" r:id="rId23"/>
    <p:sldId id="276" r:id="rId24"/>
    <p:sldId id="277" r:id="rId25"/>
    <p:sldId id="297" r:id="rId26"/>
    <p:sldId id="267" r:id="rId27"/>
    <p:sldId id="266" r:id="rId28"/>
    <p:sldId id="300" r:id="rId29"/>
    <p:sldId id="301" r:id="rId30"/>
    <p:sldId id="302" r:id="rId31"/>
    <p:sldId id="30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38"/>
    <p:restoredTop sz="94661"/>
  </p:normalViewPr>
  <p:slideViewPr>
    <p:cSldViewPr snapToGrid="0">
      <p:cViewPr varScale="1">
        <p:scale>
          <a:sx n="111" d="100"/>
          <a:sy n="111" d="100"/>
        </p:scale>
        <p:origin x="240"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173F5-CF2B-0A83-B5E6-398464718A3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10964E5F-E0DF-6795-CF52-46569D4551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73C1D8DF-AFA0-E8E9-A051-326D7B98D31D}"/>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5" name="Footer Placeholder 4">
            <a:extLst>
              <a:ext uri="{FF2B5EF4-FFF2-40B4-BE49-F238E27FC236}">
                <a16:creationId xmlns:a16="http://schemas.microsoft.com/office/drawing/2014/main" id="{B45EEDC2-CDF8-2235-887A-C92E5FF91B6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A11A8C9-1828-91F6-C00D-BDC47686DECF}"/>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2768579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119D9-DF94-D73B-EEBB-F24DB19F4B9D}"/>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1A9793CC-5F42-91D4-0FF2-2EC82648BBD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67D43F2F-A274-B9EC-B685-59CEFFD2D359}"/>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5" name="Footer Placeholder 4">
            <a:extLst>
              <a:ext uri="{FF2B5EF4-FFF2-40B4-BE49-F238E27FC236}">
                <a16:creationId xmlns:a16="http://schemas.microsoft.com/office/drawing/2014/main" id="{74F92428-0FAF-5D02-66FB-E3C98CC3A2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5CDE36C-2C08-5DD4-6A43-28775D412671}"/>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2884136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A0AE5-6AD4-4828-F00D-D3B1BDF92BF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697BB384-9BD8-2FFA-A982-7D75B4D4DC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E75515B-2215-6638-2011-B8D4E9769DB2}"/>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5" name="Footer Placeholder 4">
            <a:extLst>
              <a:ext uri="{FF2B5EF4-FFF2-40B4-BE49-F238E27FC236}">
                <a16:creationId xmlns:a16="http://schemas.microsoft.com/office/drawing/2014/main" id="{2C775F23-45ED-DC38-178D-5558C1D6DB6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366A8A4-D40D-B3BE-0542-ECF8AC73733B}"/>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2698581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DE49-BA6A-2962-969D-825711132CDA}"/>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0046E52F-DE49-5CB2-A901-4985ACEA473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A78BBD59-1851-DFE1-24FF-3BFB4224BEA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50C9BACB-7FCF-7AC9-D9C3-05021CE3D7AB}"/>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6" name="Footer Placeholder 5">
            <a:extLst>
              <a:ext uri="{FF2B5EF4-FFF2-40B4-BE49-F238E27FC236}">
                <a16:creationId xmlns:a16="http://schemas.microsoft.com/office/drawing/2014/main" id="{8D60CB49-AC96-6455-A54F-786E38B9D6E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E3C0644-A6BF-44ED-8687-2C2052BBB43D}"/>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1330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44CF2-DAB9-5208-FFA9-6AE40EB8A0A9}"/>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4A4894AA-1914-A432-C1CC-F9FBC8A95B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1C0C64E-D2CF-619E-FAD9-3DD90E8B4E9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ADFF1DF2-BB29-87BC-EBD1-A2E2F22A0D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63DC7F-E155-5817-E8BB-E9D906BC444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33796F69-5D83-825D-6C83-D1F77B10CC1D}"/>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8" name="Footer Placeholder 7">
            <a:extLst>
              <a:ext uri="{FF2B5EF4-FFF2-40B4-BE49-F238E27FC236}">
                <a16:creationId xmlns:a16="http://schemas.microsoft.com/office/drawing/2014/main" id="{B07404D6-E119-6D09-B38A-9A7FD1D2D9B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D00FA5E5-D28C-82B6-1F16-D3B7C9B11E96}"/>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285244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18047-27DB-9D39-8D38-BFCA3FC3244A}"/>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685A8281-05AC-EBE0-36A9-6531A44DBDB9}"/>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4" name="Footer Placeholder 3">
            <a:extLst>
              <a:ext uri="{FF2B5EF4-FFF2-40B4-BE49-F238E27FC236}">
                <a16:creationId xmlns:a16="http://schemas.microsoft.com/office/drawing/2014/main" id="{E49FEAEA-D2BD-A96E-B6AB-FDAF5DA883DC}"/>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C6A7B79-5A15-BE71-1FA0-10D0DDA64E70}"/>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1541571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B98D40-B6E8-A828-50B0-4F43821D7B60}"/>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3" name="Footer Placeholder 2">
            <a:extLst>
              <a:ext uri="{FF2B5EF4-FFF2-40B4-BE49-F238E27FC236}">
                <a16:creationId xmlns:a16="http://schemas.microsoft.com/office/drawing/2014/main" id="{625FD84D-884B-0028-A725-5D74D9DCBCE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A27F52E-0AF3-8C39-C0B4-0B903B767837}"/>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2644007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4158A-BC13-A6F3-0C0B-0079DAA3534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ED8A71DE-8DAA-F1AB-307B-1808CB68B4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048ADB21-08EC-60B8-6B0A-184EC7E54A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1BAE729-8A4E-22BB-6B39-EC843E54CCC9}"/>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6" name="Footer Placeholder 5">
            <a:extLst>
              <a:ext uri="{FF2B5EF4-FFF2-40B4-BE49-F238E27FC236}">
                <a16:creationId xmlns:a16="http://schemas.microsoft.com/office/drawing/2014/main" id="{20035E40-FD90-30C8-EA2B-EC9684D7E48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B994716-CA9A-921A-11EA-E56FDF584F05}"/>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3431741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1C905-D8F9-90E8-0D70-F0B3EFD87F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89204885-7291-0303-EA48-23FB96D2AA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3BCF78F-B77F-BE69-CC7F-DA0985972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9DCCDD-8D5A-5BCA-AEA3-7379A604A7F6}"/>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6" name="Footer Placeholder 5">
            <a:extLst>
              <a:ext uri="{FF2B5EF4-FFF2-40B4-BE49-F238E27FC236}">
                <a16:creationId xmlns:a16="http://schemas.microsoft.com/office/drawing/2014/main" id="{05F3D1DF-F143-5930-80B3-373D86B4AC4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71011E-FE4F-8036-9848-97B759064E9D}"/>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3325430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192FA-C803-2284-E8F1-CA999CAFE55B}"/>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259049DE-5A17-8D69-A227-981347FEC78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2AAF3F0-F14D-E46F-E0B5-D1D761E00DE4}"/>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5" name="Footer Placeholder 4">
            <a:extLst>
              <a:ext uri="{FF2B5EF4-FFF2-40B4-BE49-F238E27FC236}">
                <a16:creationId xmlns:a16="http://schemas.microsoft.com/office/drawing/2014/main" id="{6022456D-52ED-9DB9-1E05-2F53A4E88C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87F49B-1562-92FB-509F-8AD8F1A8E620}"/>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98181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EE056B-F542-B899-2D76-CC499BFD2CA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C520BC15-A4C2-EF3E-5365-F14F964BDB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9B9C60B-A7D8-2331-84B8-1E2DC7AEA68E}"/>
              </a:ext>
            </a:extLst>
          </p:cNvPr>
          <p:cNvSpPr>
            <a:spLocks noGrp="1"/>
          </p:cNvSpPr>
          <p:nvPr>
            <p:ph type="dt" sz="half" idx="10"/>
          </p:nvPr>
        </p:nvSpPr>
        <p:spPr/>
        <p:txBody>
          <a:bodyPr/>
          <a:lstStyle/>
          <a:p>
            <a:fld id="{0AA251C0-A066-7A40-AD8F-12801C8FA969}" type="datetimeFigureOut">
              <a:rPr lang="en-AU" smtClean="0"/>
              <a:t>2/9/2026</a:t>
            </a:fld>
            <a:endParaRPr lang="en-AU"/>
          </a:p>
        </p:txBody>
      </p:sp>
      <p:sp>
        <p:nvSpPr>
          <p:cNvPr id="5" name="Footer Placeholder 4">
            <a:extLst>
              <a:ext uri="{FF2B5EF4-FFF2-40B4-BE49-F238E27FC236}">
                <a16:creationId xmlns:a16="http://schemas.microsoft.com/office/drawing/2014/main" id="{336903F8-B339-F6B2-A624-625365701F2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DE24B9F-7490-9032-5038-49F9438087F5}"/>
              </a:ext>
            </a:extLst>
          </p:cNvPr>
          <p:cNvSpPr>
            <a:spLocks noGrp="1"/>
          </p:cNvSpPr>
          <p:nvPr>
            <p:ph type="sldNum" sz="quarter" idx="12"/>
          </p:nvPr>
        </p:nvSpPr>
        <p:spPr/>
        <p:txBody>
          <a:bodyPr/>
          <a:lstStyle/>
          <a:p>
            <a:fld id="{A9033D25-0744-BD40-8E13-BC2658D0FA4C}" type="slidenum">
              <a:rPr lang="en-AU" smtClean="0"/>
              <a:t>‹#›</a:t>
            </a:fld>
            <a:endParaRPr lang="en-AU"/>
          </a:p>
        </p:txBody>
      </p:sp>
    </p:spTree>
    <p:extLst>
      <p:ext uri="{BB962C8B-B14F-4D97-AF65-F5344CB8AC3E}">
        <p14:creationId xmlns:p14="http://schemas.microsoft.com/office/powerpoint/2010/main" val="496572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B984D2-4CD3-3CA4-2905-29F5CDFCB1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D3D99113-AC02-8423-40F0-8DF48BA248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80E2871C-BF78-4BB2-AB20-08BF2DF095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A251C0-A066-7A40-AD8F-12801C8FA969}" type="datetimeFigureOut">
              <a:rPr lang="en-AU" smtClean="0"/>
              <a:t>2/9/2026</a:t>
            </a:fld>
            <a:endParaRPr lang="en-AU"/>
          </a:p>
        </p:txBody>
      </p:sp>
      <p:sp>
        <p:nvSpPr>
          <p:cNvPr id="5" name="Footer Placeholder 4">
            <a:extLst>
              <a:ext uri="{FF2B5EF4-FFF2-40B4-BE49-F238E27FC236}">
                <a16:creationId xmlns:a16="http://schemas.microsoft.com/office/drawing/2014/main" id="{C05F8012-7384-4606-309C-DAAE6497D4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C0F272E6-DBFC-576E-2C03-5636800C39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033D25-0744-BD40-8E13-BC2658D0FA4C}" type="slidenum">
              <a:rPr lang="en-AU" smtClean="0"/>
              <a:t>‹#›</a:t>
            </a:fld>
            <a:endParaRPr lang="en-AU"/>
          </a:p>
        </p:txBody>
      </p:sp>
    </p:spTree>
    <p:extLst>
      <p:ext uri="{BB962C8B-B14F-4D97-AF65-F5344CB8AC3E}">
        <p14:creationId xmlns:p14="http://schemas.microsoft.com/office/powerpoint/2010/main" val="1970109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uman Brain: Facts, Functions &amp; Anatomy | Live Science">
            <a:extLst>
              <a:ext uri="{FF2B5EF4-FFF2-40B4-BE49-F238E27FC236}">
                <a16:creationId xmlns:a16="http://schemas.microsoft.com/office/drawing/2014/main" id="{8C33F950-7E7D-738A-A628-1EA64A7601FD}"/>
              </a:ext>
            </a:extLst>
          </p:cNvPr>
          <p:cNvPicPr>
            <a:picLocks noChangeAspect="1"/>
          </p:cNvPicPr>
          <p:nvPr/>
        </p:nvPicPr>
        <p:blipFill>
          <a:blip r:embed="rId2"/>
          <a:srcRect l="8878" r="16513"/>
          <a:stretch>
            <a:fillRect/>
          </a:stretch>
        </p:blipFill>
        <p:spPr>
          <a:xfrm>
            <a:off x="-3047" y="0"/>
            <a:ext cx="7694341"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618638-A49A-9CF4-6554-89A029C89E17}"/>
              </a:ext>
            </a:extLst>
          </p:cNvPr>
          <p:cNvSpPr>
            <a:spLocks noGrp="1"/>
          </p:cNvSpPr>
          <p:nvPr>
            <p:ph type="ctrTitle"/>
          </p:nvPr>
        </p:nvSpPr>
        <p:spPr>
          <a:xfrm>
            <a:off x="8134992" y="0"/>
            <a:ext cx="3445765" cy="2158650"/>
          </a:xfrm>
          <a:noFill/>
        </p:spPr>
        <p:txBody>
          <a:bodyPr>
            <a:normAutofit fontScale="90000"/>
          </a:bodyPr>
          <a:lstStyle/>
          <a:p>
            <a:br>
              <a:rPr lang="en-AU" sz="4400" dirty="0"/>
            </a:br>
            <a:r>
              <a:rPr lang="en-AU" sz="4400" b="1" dirty="0"/>
              <a:t>PSYC1003</a:t>
            </a:r>
            <a:br>
              <a:rPr lang="en-AU" sz="4400" dirty="0"/>
            </a:br>
            <a:r>
              <a:rPr lang="en-AU" sz="4400" i="1" dirty="0"/>
              <a:t>Week 5:</a:t>
            </a:r>
            <a:r>
              <a:rPr lang="en-AU" sz="4400" dirty="0"/>
              <a:t> </a:t>
            </a:r>
            <a:r>
              <a:rPr lang="en-AU" sz="4400" i="1" dirty="0"/>
              <a:t>Neuroscience</a:t>
            </a:r>
          </a:p>
        </p:txBody>
      </p:sp>
    </p:spTree>
    <p:extLst>
      <p:ext uri="{BB962C8B-B14F-4D97-AF65-F5344CB8AC3E}">
        <p14:creationId xmlns:p14="http://schemas.microsoft.com/office/powerpoint/2010/main" val="3880742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11A70-0D6C-914D-4AB6-E58EF88D7A0F}"/>
              </a:ext>
            </a:extLst>
          </p:cNvPr>
          <p:cNvSpPr>
            <a:spLocks noGrp="1"/>
          </p:cNvSpPr>
          <p:nvPr>
            <p:ph type="title"/>
          </p:nvPr>
        </p:nvSpPr>
        <p:spPr>
          <a:xfrm>
            <a:off x="0" y="0"/>
            <a:ext cx="10515600" cy="1325563"/>
          </a:xfrm>
        </p:spPr>
        <p:txBody>
          <a:bodyPr/>
          <a:lstStyle/>
          <a:p>
            <a:r>
              <a:rPr lang="en-AU" dirty="0"/>
              <a:t>Outline</a:t>
            </a:r>
          </a:p>
        </p:txBody>
      </p:sp>
      <p:sp>
        <p:nvSpPr>
          <p:cNvPr id="3" name="Content Placeholder 2">
            <a:extLst>
              <a:ext uri="{FF2B5EF4-FFF2-40B4-BE49-F238E27FC236}">
                <a16:creationId xmlns:a16="http://schemas.microsoft.com/office/drawing/2014/main" id="{D5F32B35-27D6-8660-3503-815F5384E54D}"/>
              </a:ext>
            </a:extLst>
          </p:cNvPr>
          <p:cNvSpPr>
            <a:spLocks noGrp="1"/>
          </p:cNvSpPr>
          <p:nvPr>
            <p:ph idx="1"/>
          </p:nvPr>
        </p:nvSpPr>
        <p:spPr>
          <a:xfrm>
            <a:off x="135674" y="1106373"/>
            <a:ext cx="5484542" cy="4351338"/>
          </a:xfrm>
        </p:spPr>
        <p:txBody>
          <a:bodyPr>
            <a:normAutofit/>
          </a:bodyPr>
          <a:lstStyle/>
          <a:p>
            <a:r>
              <a:rPr lang="en-AU" sz="2400" dirty="0"/>
              <a:t>Historical/Cultural Impacts of Neuroscience Research</a:t>
            </a:r>
          </a:p>
          <a:p>
            <a:r>
              <a:rPr lang="en-AU" sz="2400" dirty="0"/>
              <a:t>Sensations and Learning</a:t>
            </a:r>
          </a:p>
          <a:p>
            <a:r>
              <a:rPr lang="en-AU" sz="2400" dirty="0"/>
              <a:t>Emotions and Memory</a:t>
            </a:r>
          </a:p>
          <a:p>
            <a:r>
              <a:rPr lang="en-AU" sz="2400" dirty="0"/>
              <a:t>Neuroscience Methods</a:t>
            </a:r>
          </a:p>
        </p:txBody>
      </p:sp>
      <p:pic>
        <p:nvPicPr>
          <p:cNvPr id="5" name="Picture 4" descr="2: Mouse brain neurons stained with brainbow technique (adapted from... |  Download Scientific Diagram">
            <a:extLst>
              <a:ext uri="{FF2B5EF4-FFF2-40B4-BE49-F238E27FC236}">
                <a16:creationId xmlns:a16="http://schemas.microsoft.com/office/drawing/2014/main" id="{793DF56E-8EF6-5B1B-86ED-9680871A8769}"/>
              </a:ext>
            </a:extLst>
          </p:cNvPr>
          <p:cNvPicPr>
            <a:picLocks noChangeAspect="1"/>
          </p:cNvPicPr>
          <p:nvPr/>
        </p:nvPicPr>
        <p:blipFill>
          <a:blip r:embed="rId2"/>
          <a:stretch>
            <a:fillRect/>
          </a:stretch>
        </p:blipFill>
        <p:spPr>
          <a:xfrm>
            <a:off x="0" y="3649664"/>
            <a:ext cx="6419220" cy="2628104"/>
          </a:xfrm>
          <a:prstGeom prst="rect">
            <a:avLst/>
          </a:prstGeom>
        </p:spPr>
      </p:pic>
      <p:sp>
        <p:nvSpPr>
          <p:cNvPr id="6" name="TextBox 5">
            <a:extLst>
              <a:ext uri="{FF2B5EF4-FFF2-40B4-BE49-F238E27FC236}">
                <a16:creationId xmlns:a16="http://schemas.microsoft.com/office/drawing/2014/main" id="{53BCB520-19FB-0101-EAD3-00049652E210}"/>
              </a:ext>
            </a:extLst>
          </p:cNvPr>
          <p:cNvSpPr txBox="1"/>
          <p:nvPr/>
        </p:nvSpPr>
        <p:spPr>
          <a:xfrm>
            <a:off x="2366547" y="6379418"/>
            <a:ext cx="4052673" cy="369332"/>
          </a:xfrm>
          <a:prstGeom prst="rect">
            <a:avLst/>
          </a:prstGeom>
          <a:noFill/>
        </p:spPr>
        <p:txBody>
          <a:bodyPr wrap="square" rtlCol="0">
            <a:spAutoFit/>
          </a:bodyPr>
          <a:lstStyle/>
          <a:p>
            <a:pPr algn="r"/>
            <a:r>
              <a:rPr lang="en-AU" i="1" dirty="0"/>
              <a:t>Castagnola, 2014</a:t>
            </a:r>
          </a:p>
        </p:txBody>
      </p:sp>
    </p:spTree>
    <p:extLst>
      <p:ext uri="{BB962C8B-B14F-4D97-AF65-F5344CB8AC3E}">
        <p14:creationId xmlns:p14="http://schemas.microsoft.com/office/powerpoint/2010/main" val="886232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B4E00-F867-7BE9-07E9-2521D2DAA9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EFF8F-D704-94E5-D099-621712F104FD}"/>
              </a:ext>
            </a:extLst>
          </p:cNvPr>
          <p:cNvSpPr>
            <a:spLocks noGrp="1"/>
          </p:cNvSpPr>
          <p:nvPr>
            <p:ph idx="1"/>
          </p:nvPr>
        </p:nvSpPr>
        <p:spPr>
          <a:xfrm>
            <a:off x="424718" y="2362471"/>
            <a:ext cx="5874481" cy="3065872"/>
          </a:xfrm>
        </p:spPr>
        <p:txBody>
          <a:bodyPr>
            <a:normAutofit/>
          </a:bodyPr>
          <a:lstStyle/>
          <a:p>
            <a:pPr marL="0" indent="0">
              <a:buNone/>
            </a:pPr>
            <a:r>
              <a:rPr lang="en-AU" sz="3200" i="1" dirty="0"/>
              <a:t>What were (and are) the implications of attributing our ideas, emotions, and memories to basic biological processes?</a:t>
            </a:r>
          </a:p>
        </p:txBody>
      </p:sp>
    </p:spTree>
    <p:extLst>
      <p:ext uri="{BB962C8B-B14F-4D97-AF65-F5344CB8AC3E}">
        <p14:creationId xmlns:p14="http://schemas.microsoft.com/office/powerpoint/2010/main" val="1441614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D5AEA-499C-9026-6841-FBEAD51292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C3B427-54B7-9623-B08E-E50410B0F357}"/>
              </a:ext>
            </a:extLst>
          </p:cNvPr>
          <p:cNvSpPr txBox="1"/>
          <p:nvPr/>
        </p:nvSpPr>
        <p:spPr>
          <a:xfrm>
            <a:off x="-532718" y="5148943"/>
            <a:ext cx="3889829" cy="369332"/>
          </a:xfrm>
          <a:prstGeom prst="rect">
            <a:avLst/>
          </a:prstGeom>
          <a:noFill/>
        </p:spPr>
        <p:txBody>
          <a:bodyPr wrap="square" rtlCol="0">
            <a:spAutoFit/>
          </a:bodyPr>
          <a:lstStyle/>
          <a:p>
            <a:pPr algn="r"/>
            <a:r>
              <a:rPr lang="en-AU" dirty="0"/>
              <a:t>1878</a:t>
            </a:r>
          </a:p>
        </p:txBody>
      </p:sp>
      <p:pic>
        <p:nvPicPr>
          <p:cNvPr id="3" name="Picture 2" descr="Anna Karenina : Tolstoy, Leo: Amazon.com.au: Books">
            <a:extLst>
              <a:ext uri="{FF2B5EF4-FFF2-40B4-BE49-F238E27FC236}">
                <a16:creationId xmlns:a16="http://schemas.microsoft.com/office/drawing/2014/main" id="{9D5591A5-5FE9-A4F6-CA26-2884F909E03F}"/>
              </a:ext>
            </a:extLst>
          </p:cNvPr>
          <p:cNvPicPr>
            <a:picLocks noChangeAspect="1"/>
          </p:cNvPicPr>
          <p:nvPr/>
        </p:nvPicPr>
        <p:blipFill>
          <a:blip r:embed="rId2"/>
          <a:stretch>
            <a:fillRect/>
          </a:stretch>
        </p:blipFill>
        <p:spPr>
          <a:xfrm>
            <a:off x="0" y="0"/>
            <a:ext cx="3357111" cy="5148943"/>
          </a:xfrm>
          <a:prstGeom prst="rect">
            <a:avLst/>
          </a:prstGeom>
        </p:spPr>
      </p:pic>
      <p:sp>
        <p:nvSpPr>
          <p:cNvPr id="5" name="Content Placeholder 2">
            <a:extLst>
              <a:ext uri="{FF2B5EF4-FFF2-40B4-BE49-F238E27FC236}">
                <a16:creationId xmlns:a16="http://schemas.microsoft.com/office/drawing/2014/main" id="{8DDBF542-14FA-5B66-C4A4-59E10BA61D4C}"/>
              </a:ext>
            </a:extLst>
          </p:cNvPr>
          <p:cNvSpPr>
            <a:spLocks noGrp="1"/>
          </p:cNvSpPr>
          <p:nvPr>
            <p:ph idx="1"/>
          </p:nvPr>
        </p:nvSpPr>
        <p:spPr>
          <a:xfrm>
            <a:off x="3629500" y="0"/>
            <a:ext cx="5383871" cy="1114119"/>
          </a:xfrm>
        </p:spPr>
        <p:txBody>
          <a:bodyPr>
            <a:normAutofit/>
          </a:bodyPr>
          <a:lstStyle/>
          <a:p>
            <a:pPr marL="0" indent="0">
              <a:buNone/>
            </a:pPr>
            <a:r>
              <a:rPr lang="en-AU" sz="1800" i="1" dirty="0"/>
              <a:t>“The discussion was about a fashionable question: is there a borderline between psychological and physiological phenomena in human activity, and where does it lie?</a:t>
            </a:r>
            <a:r>
              <a:rPr lang="en-AU" sz="1800" i="1" baseline="30000" dirty="0"/>
              <a:t>12”</a:t>
            </a:r>
          </a:p>
          <a:p>
            <a:pPr marL="0" indent="0">
              <a:buNone/>
            </a:pPr>
            <a:endParaRPr lang="en-AU" sz="1800" i="1" dirty="0"/>
          </a:p>
        </p:txBody>
      </p:sp>
      <p:pic>
        <p:nvPicPr>
          <p:cNvPr id="6" name="Picture 5">
            <a:extLst>
              <a:ext uri="{FF2B5EF4-FFF2-40B4-BE49-F238E27FC236}">
                <a16:creationId xmlns:a16="http://schemas.microsoft.com/office/drawing/2014/main" id="{3C367C45-45C2-0F8E-AA49-4AD9E4FF1CF1}"/>
              </a:ext>
            </a:extLst>
          </p:cNvPr>
          <p:cNvPicPr>
            <a:picLocks noChangeAspect="1"/>
          </p:cNvPicPr>
          <p:nvPr/>
        </p:nvPicPr>
        <p:blipFill>
          <a:blip r:embed="rId3"/>
          <a:stretch>
            <a:fillRect/>
          </a:stretch>
        </p:blipFill>
        <p:spPr>
          <a:xfrm>
            <a:off x="3357111" y="1220071"/>
            <a:ext cx="7772400" cy="1930399"/>
          </a:xfrm>
          <a:prstGeom prst="rect">
            <a:avLst/>
          </a:prstGeom>
        </p:spPr>
      </p:pic>
      <p:sp>
        <p:nvSpPr>
          <p:cNvPr id="7" name="Content Placeholder 2">
            <a:extLst>
              <a:ext uri="{FF2B5EF4-FFF2-40B4-BE49-F238E27FC236}">
                <a16:creationId xmlns:a16="http://schemas.microsoft.com/office/drawing/2014/main" id="{F91AD4C8-CB20-DF08-C1A9-E6AF9D2BF711}"/>
              </a:ext>
            </a:extLst>
          </p:cNvPr>
          <p:cNvSpPr txBox="1">
            <a:spLocks/>
          </p:cNvSpPr>
          <p:nvPr/>
        </p:nvSpPr>
        <p:spPr>
          <a:xfrm>
            <a:off x="3357111" y="3256423"/>
            <a:ext cx="4190318" cy="2607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1800" i="1" dirty="0"/>
              <a:t>“I can by no means agree…that my whole notion of the external world stems from sense impressions. The fundamental concept of being itself is not received through the senses for there exists no special organ for conveying that concept.</a:t>
            </a:r>
            <a:r>
              <a:rPr lang="en-AU" sz="1800" i="1" dirty="0">
                <a:solidFill>
                  <a:srgbClr val="FF0000"/>
                </a:solidFill>
              </a:rPr>
              <a:t>*</a:t>
            </a:r>
            <a:r>
              <a:rPr lang="en-AU" sz="1800" i="1" dirty="0"/>
              <a:t>”</a:t>
            </a:r>
            <a:endParaRPr lang="en-AU" sz="1800" i="1" baseline="30000" dirty="0"/>
          </a:p>
          <a:p>
            <a:pPr marL="0" indent="0">
              <a:buFont typeface="Arial" panose="020B0604020202020204" pitchFamily="34" charset="0"/>
              <a:buNone/>
            </a:pPr>
            <a:endParaRPr lang="en-AU" sz="1800" i="1" dirty="0"/>
          </a:p>
          <a:p>
            <a:pPr marL="0" indent="0">
              <a:buFont typeface="Arial" panose="020B0604020202020204" pitchFamily="34" charset="0"/>
              <a:buNone/>
            </a:pPr>
            <a:r>
              <a:rPr lang="en-AU" sz="1800" i="1" dirty="0">
                <a:solidFill>
                  <a:srgbClr val="FF0000"/>
                </a:solidFill>
              </a:rPr>
              <a:t>*(The “organ” exists.)</a:t>
            </a:r>
          </a:p>
          <a:p>
            <a:pPr marL="0" indent="0">
              <a:buFont typeface="Arial" panose="020B0604020202020204" pitchFamily="34" charset="0"/>
              <a:buNone/>
            </a:pPr>
            <a:endParaRPr lang="en-AU" sz="1800" i="1" dirty="0"/>
          </a:p>
        </p:txBody>
      </p:sp>
    </p:spTree>
    <p:extLst>
      <p:ext uri="{BB962C8B-B14F-4D97-AF65-F5344CB8AC3E}">
        <p14:creationId xmlns:p14="http://schemas.microsoft.com/office/powerpoint/2010/main" val="3261652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CD185-EBD3-42FA-74D8-2CCD6A24E05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CA2EDB3-E845-4FEE-61AC-16E4C018459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rcRect r="4625"/>
          <a:stretch>
            <a:fillRect/>
          </a:stretch>
        </p:blipFill>
        <p:spPr>
          <a:xfrm>
            <a:off x="2916769" y="0"/>
            <a:ext cx="5399918" cy="3287486"/>
          </a:xfrm>
          <a:prstGeom prst="rect">
            <a:avLst/>
          </a:prstGeom>
        </p:spPr>
      </p:pic>
      <p:pic>
        <p:nvPicPr>
          <p:cNvPr id="4" name="Picture 3" descr="The Brothers Karamazov : Dostoevsky, Fyodor: Amazon.com.au: Books">
            <a:extLst>
              <a:ext uri="{FF2B5EF4-FFF2-40B4-BE49-F238E27FC236}">
                <a16:creationId xmlns:a16="http://schemas.microsoft.com/office/drawing/2014/main" id="{0CCA0917-3FE1-1E29-7615-2652D4CF5D39}"/>
              </a:ext>
            </a:extLst>
          </p:cNvPr>
          <p:cNvPicPr>
            <a:picLocks noChangeAspect="1"/>
          </p:cNvPicPr>
          <p:nvPr/>
        </p:nvPicPr>
        <p:blipFill>
          <a:blip r:embed="rId4"/>
          <a:stretch>
            <a:fillRect/>
          </a:stretch>
        </p:blipFill>
        <p:spPr>
          <a:xfrm>
            <a:off x="-1" y="1974851"/>
            <a:ext cx="3255433" cy="4883149"/>
          </a:xfrm>
          <a:prstGeom prst="rect">
            <a:avLst/>
          </a:prstGeom>
        </p:spPr>
      </p:pic>
      <p:sp>
        <p:nvSpPr>
          <p:cNvPr id="11" name="TextBox 10">
            <a:extLst>
              <a:ext uri="{FF2B5EF4-FFF2-40B4-BE49-F238E27FC236}">
                <a16:creationId xmlns:a16="http://schemas.microsoft.com/office/drawing/2014/main" id="{54CB07A7-0306-D901-1CB9-7076B7A5863C}"/>
              </a:ext>
            </a:extLst>
          </p:cNvPr>
          <p:cNvSpPr txBox="1"/>
          <p:nvPr/>
        </p:nvSpPr>
        <p:spPr>
          <a:xfrm>
            <a:off x="4426858" y="3298765"/>
            <a:ext cx="3889829" cy="369332"/>
          </a:xfrm>
          <a:prstGeom prst="rect">
            <a:avLst/>
          </a:prstGeom>
          <a:noFill/>
        </p:spPr>
        <p:txBody>
          <a:bodyPr wrap="square" rtlCol="0">
            <a:spAutoFit/>
          </a:bodyPr>
          <a:lstStyle/>
          <a:p>
            <a:pPr algn="r"/>
            <a:r>
              <a:rPr lang="en-AU" dirty="0"/>
              <a:t>1880</a:t>
            </a:r>
          </a:p>
        </p:txBody>
      </p:sp>
    </p:spTree>
    <p:extLst>
      <p:ext uri="{BB962C8B-B14F-4D97-AF65-F5344CB8AC3E}">
        <p14:creationId xmlns:p14="http://schemas.microsoft.com/office/powerpoint/2010/main" val="635965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7A5B-D964-42AD-740C-816A56BE3459}"/>
            </a:ext>
          </a:extLst>
        </p:cNvPr>
        <p:cNvGrpSpPr/>
        <p:nvPr/>
      </p:nvGrpSpPr>
      <p:grpSpPr>
        <a:xfrm>
          <a:off x="0" y="0"/>
          <a:ext cx="0" cy="0"/>
          <a:chOff x="0" y="0"/>
          <a:chExt cx="0" cy="0"/>
        </a:xfrm>
      </p:grpSpPr>
      <p:pic>
        <p:nvPicPr>
          <p:cNvPr id="2" name="Picture 1" descr="Who was Sigmund Freud? - Freud Museum London">
            <a:extLst>
              <a:ext uri="{FF2B5EF4-FFF2-40B4-BE49-F238E27FC236}">
                <a16:creationId xmlns:a16="http://schemas.microsoft.com/office/drawing/2014/main" id="{CA0BCC42-5974-F618-B031-B0CF676E4A33}"/>
              </a:ext>
            </a:extLst>
          </p:cNvPr>
          <p:cNvPicPr>
            <a:picLocks noChangeAspect="1"/>
          </p:cNvPicPr>
          <p:nvPr/>
        </p:nvPicPr>
        <p:blipFill>
          <a:blip r:embed="rId2"/>
          <a:stretch>
            <a:fillRect/>
          </a:stretch>
        </p:blipFill>
        <p:spPr>
          <a:xfrm>
            <a:off x="89558" y="511563"/>
            <a:ext cx="3857625" cy="5143500"/>
          </a:xfrm>
          <a:prstGeom prst="rect">
            <a:avLst/>
          </a:prstGeom>
        </p:spPr>
      </p:pic>
      <p:sp>
        <p:nvSpPr>
          <p:cNvPr id="4" name="TextBox 3">
            <a:extLst>
              <a:ext uri="{FF2B5EF4-FFF2-40B4-BE49-F238E27FC236}">
                <a16:creationId xmlns:a16="http://schemas.microsoft.com/office/drawing/2014/main" id="{84B304F6-82A0-99A9-C79F-E65EBFE0285C}"/>
              </a:ext>
            </a:extLst>
          </p:cNvPr>
          <p:cNvSpPr txBox="1"/>
          <p:nvPr/>
        </p:nvSpPr>
        <p:spPr>
          <a:xfrm>
            <a:off x="4050724" y="43215"/>
            <a:ext cx="7145100" cy="2062103"/>
          </a:xfrm>
          <a:prstGeom prst="rect">
            <a:avLst/>
          </a:prstGeom>
          <a:noFill/>
        </p:spPr>
        <p:txBody>
          <a:bodyPr wrap="square" rtlCol="0">
            <a:spAutoFit/>
          </a:bodyPr>
          <a:lstStyle/>
          <a:p>
            <a:r>
              <a:rPr lang="en-AU" sz="2800" b="1" i="1" dirty="0"/>
              <a:t>Freud: The Prodigal Neuroscientist</a:t>
            </a:r>
          </a:p>
          <a:p>
            <a:pPr marL="457200" indent="-457200">
              <a:buFont typeface="Arial" panose="020B0604020202020204" pitchFamily="34" charset="0"/>
              <a:buChar char="•"/>
            </a:pPr>
            <a:r>
              <a:rPr lang="en-AU" sz="2000" dirty="0"/>
              <a:t>Medical training, research focussed on neuroanatomy</a:t>
            </a:r>
          </a:p>
          <a:p>
            <a:pPr marL="457200" indent="-457200">
              <a:buFont typeface="Arial" panose="020B0604020202020204" pitchFamily="34" charset="0"/>
              <a:buChar char="•"/>
            </a:pPr>
            <a:r>
              <a:rPr lang="en-AU" sz="2000" dirty="0"/>
              <a:t>Credited with findings that contributed to the discovery of neurons  </a:t>
            </a:r>
          </a:p>
          <a:p>
            <a:pPr marL="457200" indent="-457200">
              <a:buFont typeface="Arial" panose="020B0604020202020204" pitchFamily="34" charset="0"/>
              <a:buChar char="•"/>
            </a:pPr>
            <a:r>
              <a:rPr lang="en-AU" sz="2000" dirty="0"/>
              <a:t>Desired to understand the physiological phenomena underlying psychoanalysis </a:t>
            </a:r>
          </a:p>
        </p:txBody>
      </p:sp>
      <p:sp>
        <p:nvSpPr>
          <p:cNvPr id="5" name="TextBox 4">
            <a:extLst>
              <a:ext uri="{FF2B5EF4-FFF2-40B4-BE49-F238E27FC236}">
                <a16:creationId xmlns:a16="http://schemas.microsoft.com/office/drawing/2014/main" id="{97AF1998-049C-4E0F-5325-75405DCD44BF}"/>
              </a:ext>
            </a:extLst>
          </p:cNvPr>
          <p:cNvSpPr txBox="1"/>
          <p:nvPr/>
        </p:nvSpPr>
        <p:spPr>
          <a:xfrm>
            <a:off x="57354" y="5655063"/>
            <a:ext cx="3889829" cy="369332"/>
          </a:xfrm>
          <a:prstGeom prst="rect">
            <a:avLst/>
          </a:prstGeom>
          <a:noFill/>
        </p:spPr>
        <p:txBody>
          <a:bodyPr wrap="square" rtlCol="0">
            <a:spAutoFit/>
          </a:bodyPr>
          <a:lstStyle/>
          <a:p>
            <a:pPr algn="r"/>
            <a:r>
              <a:rPr lang="en-AU" i="1" dirty="0"/>
              <a:t>Sigmund Freud, c. 1885</a:t>
            </a:r>
          </a:p>
        </p:txBody>
      </p:sp>
    </p:spTree>
    <p:extLst>
      <p:ext uri="{BB962C8B-B14F-4D97-AF65-F5344CB8AC3E}">
        <p14:creationId xmlns:p14="http://schemas.microsoft.com/office/powerpoint/2010/main" val="311033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B20D-6993-EB63-FEFD-57B60DD312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46B8A6-A710-175A-76A7-EFC4715D88D7}"/>
              </a:ext>
            </a:extLst>
          </p:cNvPr>
          <p:cNvSpPr txBox="1"/>
          <p:nvPr/>
        </p:nvSpPr>
        <p:spPr>
          <a:xfrm>
            <a:off x="57354" y="5655063"/>
            <a:ext cx="3889829" cy="369332"/>
          </a:xfrm>
          <a:prstGeom prst="rect">
            <a:avLst/>
          </a:prstGeom>
          <a:noFill/>
        </p:spPr>
        <p:txBody>
          <a:bodyPr wrap="square" rtlCol="0">
            <a:spAutoFit/>
          </a:bodyPr>
          <a:lstStyle/>
          <a:p>
            <a:pPr algn="r"/>
            <a:r>
              <a:rPr lang="en-AU" i="1" dirty="0"/>
              <a:t>Sigmund Freud, c. 1921</a:t>
            </a:r>
          </a:p>
        </p:txBody>
      </p:sp>
      <p:sp>
        <p:nvSpPr>
          <p:cNvPr id="4" name="TextBox 3">
            <a:extLst>
              <a:ext uri="{FF2B5EF4-FFF2-40B4-BE49-F238E27FC236}">
                <a16:creationId xmlns:a16="http://schemas.microsoft.com/office/drawing/2014/main" id="{105B357F-469E-16B4-6B16-3D6CBA05BC2A}"/>
              </a:ext>
            </a:extLst>
          </p:cNvPr>
          <p:cNvSpPr txBox="1"/>
          <p:nvPr/>
        </p:nvSpPr>
        <p:spPr>
          <a:xfrm>
            <a:off x="3947183" y="356551"/>
            <a:ext cx="7145100" cy="1692771"/>
          </a:xfrm>
          <a:prstGeom prst="rect">
            <a:avLst/>
          </a:prstGeom>
          <a:noFill/>
        </p:spPr>
        <p:txBody>
          <a:bodyPr wrap="square" rtlCol="0">
            <a:spAutoFit/>
          </a:bodyPr>
          <a:lstStyle/>
          <a:p>
            <a:r>
              <a:rPr lang="en-AU" sz="2800" b="1" i="1" dirty="0"/>
              <a:t>Once a neuroscientist, always a neuroscientist…</a:t>
            </a:r>
          </a:p>
          <a:p>
            <a:endParaRPr lang="en-AU" sz="2000" i="1" dirty="0"/>
          </a:p>
          <a:p>
            <a:endParaRPr lang="en-AU" sz="2800" dirty="0"/>
          </a:p>
        </p:txBody>
      </p:sp>
      <p:pic>
        <p:nvPicPr>
          <p:cNvPr id="7" name="Picture 6" descr="Sigmund Freud - Wikipedia">
            <a:extLst>
              <a:ext uri="{FF2B5EF4-FFF2-40B4-BE49-F238E27FC236}">
                <a16:creationId xmlns:a16="http://schemas.microsoft.com/office/drawing/2014/main" id="{3AB65DD6-B6AC-4FEC-FD80-A0450B86C300}"/>
              </a:ext>
            </a:extLst>
          </p:cNvPr>
          <p:cNvPicPr>
            <a:picLocks noChangeAspect="1"/>
          </p:cNvPicPr>
          <p:nvPr/>
        </p:nvPicPr>
        <p:blipFill>
          <a:blip r:embed="rId2"/>
          <a:stretch>
            <a:fillRect/>
          </a:stretch>
        </p:blipFill>
        <p:spPr>
          <a:xfrm>
            <a:off x="57354" y="364896"/>
            <a:ext cx="3889829" cy="5290167"/>
          </a:xfrm>
          <a:prstGeom prst="rect">
            <a:avLst/>
          </a:prstGeom>
        </p:spPr>
      </p:pic>
      <p:pic>
        <p:nvPicPr>
          <p:cNvPr id="8" name="Picture 7">
            <a:extLst>
              <a:ext uri="{FF2B5EF4-FFF2-40B4-BE49-F238E27FC236}">
                <a16:creationId xmlns:a16="http://schemas.microsoft.com/office/drawing/2014/main" id="{E19969B8-5F27-1EF4-73AD-8E6F98CD516A}"/>
              </a:ext>
            </a:extLst>
          </p:cNvPr>
          <p:cNvPicPr>
            <a:picLocks noChangeAspect="1"/>
          </p:cNvPicPr>
          <p:nvPr/>
        </p:nvPicPr>
        <p:blipFill>
          <a:blip r:embed="rId3"/>
          <a:stretch>
            <a:fillRect/>
          </a:stretch>
        </p:blipFill>
        <p:spPr>
          <a:xfrm>
            <a:off x="4086352" y="1589506"/>
            <a:ext cx="4022612" cy="1513458"/>
          </a:xfrm>
          <a:prstGeom prst="rect">
            <a:avLst/>
          </a:prstGeom>
        </p:spPr>
      </p:pic>
      <p:pic>
        <p:nvPicPr>
          <p:cNvPr id="9" name="Picture 8">
            <a:extLst>
              <a:ext uri="{FF2B5EF4-FFF2-40B4-BE49-F238E27FC236}">
                <a16:creationId xmlns:a16="http://schemas.microsoft.com/office/drawing/2014/main" id="{4D038E8F-52F4-255B-635C-64B8307E4AB7}"/>
              </a:ext>
            </a:extLst>
          </p:cNvPr>
          <p:cNvPicPr>
            <a:picLocks noChangeAspect="1"/>
          </p:cNvPicPr>
          <p:nvPr/>
        </p:nvPicPr>
        <p:blipFill>
          <a:blip r:embed="rId4"/>
          <a:stretch>
            <a:fillRect/>
          </a:stretch>
        </p:blipFill>
        <p:spPr>
          <a:xfrm>
            <a:off x="4133714" y="3147367"/>
            <a:ext cx="4024708" cy="1808202"/>
          </a:xfrm>
          <a:prstGeom prst="rect">
            <a:avLst/>
          </a:prstGeom>
        </p:spPr>
      </p:pic>
      <p:sp>
        <p:nvSpPr>
          <p:cNvPr id="2" name="TextBox 1">
            <a:extLst>
              <a:ext uri="{FF2B5EF4-FFF2-40B4-BE49-F238E27FC236}">
                <a16:creationId xmlns:a16="http://schemas.microsoft.com/office/drawing/2014/main" id="{7E4E4230-06D1-4BD4-FCFB-095EC5B7D00D}"/>
              </a:ext>
            </a:extLst>
          </p:cNvPr>
          <p:cNvSpPr txBox="1"/>
          <p:nvPr/>
        </p:nvSpPr>
        <p:spPr>
          <a:xfrm>
            <a:off x="4268593" y="4999972"/>
            <a:ext cx="3889829" cy="369332"/>
          </a:xfrm>
          <a:prstGeom prst="rect">
            <a:avLst/>
          </a:prstGeom>
          <a:noFill/>
        </p:spPr>
        <p:txBody>
          <a:bodyPr wrap="square" rtlCol="0">
            <a:spAutoFit/>
          </a:bodyPr>
          <a:lstStyle/>
          <a:p>
            <a:pPr algn="r"/>
            <a:r>
              <a:rPr lang="en-AU" i="1" dirty="0"/>
              <a:t>-The Question of Lay Analysis</a:t>
            </a:r>
          </a:p>
        </p:txBody>
      </p:sp>
    </p:spTree>
    <p:extLst>
      <p:ext uri="{BB962C8B-B14F-4D97-AF65-F5344CB8AC3E}">
        <p14:creationId xmlns:p14="http://schemas.microsoft.com/office/powerpoint/2010/main" val="947148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6463-7D46-A278-E0CC-D0FB44A444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C9C185-FDC4-36D0-7B66-4B216C3C80B8}"/>
              </a:ext>
            </a:extLst>
          </p:cNvPr>
          <p:cNvSpPr txBox="1"/>
          <p:nvPr/>
        </p:nvSpPr>
        <p:spPr>
          <a:xfrm>
            <a:off x="57354" y="5655063"/>
            <a:ext cx="3889829" cy="369332"/>
          </a:xfrm>
          <a:prstGeom prst="rect">
            <a:avLst/>
          </a:prstGeom>
          <a:noFill/>
        </p:spPr>
        <p:txBody>
          <a:bodyPr wrap="square" rtlCol="0">
            <a:spAutoFit/>
          </a:bodyPr>
          <a:lstStyle/>
          <a:p>
            <a:pPr algn="r"/>
            <a:r>
              <a:rPr lang="en-AU" i="1" dirty="0"/>
              <a:t>Sigmund Freud, c. 1921</a:t>
            </a:r>
          </a:p>
        </p:txBody>
      </p:sp>
      <p:pic>
        <p:nvPicPr>
          <p:cNvPr id="7" name="Picture 6" descr="Sigmund Freud - Wikipedia">
            <a:extLst>
              <a:ext uri="{FF2B5EF4-FFF2-40B4-BE49-F238E27FC236}">
                <a16:creationId xmlns:a16="http://schemas.microsoft.com/office/drawing/2014/main" id="{E4568CBE-ED25-3664-7679-765D02308501}"/>
              </a:ext>
            </a:extLst>
          </p:cNvPr>
          <p:cNvPicPr>
            <a:picLocks noChangeAspect="1"/>
          </p:cNvPicPr>
          <p:nvPr/>
        </p:nvPicPr>
        <p:blipFill>
          <a:blip r:embed="rId2"/>
          <a:stretch>
            <a:fillRect/>
          </a:stretch>
        </p:blipFill>
        <p:spPr>
          <a:xfrm>
            <a:off x="57354" y="364896"/>
            <a:ext cx="3889829" cy="5290167"/>
          </a:xfrm>
          <a:prstGeom prst="rect">
            <a:avLst/>
          </a:prstGeom>
        </p:spPr>
      </p:pic>
      <p:sp>
        <p:nvSpPr>
          <p:cNvPr id="10" name="TextBox 9">
            <a:extLst>
              <a:ext uri="{FF2B5EF4-FFF2-40B4-BE49-F238E27FC236}">
                <a16:creationId xmlns:a16="http://schemas.microsoft.com/office/drawing/2014/main" id="{960EDE5C-E59B-8208-159C-0EC408D4AF14}"/>
              </a:ext>
            </a:extLst>
          </p:cNvPr>
          <p:cNvSpPr txBox="1"/>
          <p:nvPr/>
        </p:nvSpPr>
        <p:spPr>
          <a:xfrm>
            <a:off x="4092314" y="364896"/>
            <a:ext cx="5456419" cy="3908762"/>
          </a:xfrm>
          <a:prstGeom prst="rect">
            <a:avLst/>
          </a:prstGeom>
          <a:noFill/>
        </p:spPr>
        <p:txBody>
          <a:bodyPr wrap="square" rtlCol="0">
            <a:spAutoFit/>
          </a:bodyPr>
          <a:lstStyle/>
          <a:p>
            <a:r>
              <a:rPr lang="en-AU" sz="3200" b="1" dirty="0"/>
              <a:t>Freud’s theory:</a:t>
            </a:r>
          </a:p>
          <a:p>
            <a:pPr marL="285750" indent="-285750">
              <a:buFont typeface="Arial" panose="020B0604020202020204" pitchFamily="34" charset="0"/>
              <a:buChar char="•"/>
            </a:pPr>
            <a:r>
              <a:rPr lang="en-AU" sz="2400" b="1" dirty="0"/>
              <a:t>Id: </a:t>
            </a:r>
            <a:r>
              <a:rPr lang="en-AU" sz="2400" dirty="0"/>
              <a:t>Instinctual, motivational drives (food, sex, safety, etc)</a:t>
            </a:r>
          </a:p>
          <a:p>
            <a:pPr marL="285750" indent="-285750">
              <a:buFont typeface="Arial" panose="020B0604020202020204" pitchFamily="34" charset="0"/>
              <a:buChar char="•"/>
            </a:pPr>
            <a:r>
              <a:rPr lang="en-AU" sz="2400" b="1" dirty="0"/>
              <a:t>Ego: </a:t>
            </a:r>
            <a:r>
              <a:rPr lang="en-AU" sz="2400" dirty="0"/>
              <a:t>Receives sensory input, adapts, learns, helps control the id and direct behaviour so basic motivational drives can be safely achieved </a:t>
            </a:r>
          </a:p>
          <a:p>
            <a:endParaRPr lang="en-AU" sz="2400" dirty="0"/>
          </a:p>
          <a:p>
            <a:endParaRPr lang="en-AU" sz="2400" dirty="0"/>
          </a:p>
          <a:p>
            <a:endParaRPr lang="en-AU" sz="2400" dirty="0"/>
          </a:p>
        </p:txBody>
      </p:sp>
    </p:spTree>
    <p:extLst>
      <p:ext uri="{BB962C8B-B14F-4D97-AF65-F5344CB8AC3E}">
        <p14:creationId xmlns:p14="http://schemas.microsoft.com/office/powerpoint/2010/main" val="1791819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A8E38-C59D-5E6F-0B18-87F287EAC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EF798-99E5-028B-DC2C-CDFCB55B30CC}"/>
              </a:ext>
            </a:extLst>
          </p:cNvPr>
          <p:cNvSpPr>
            <a:spLocks noGrp="1"/>
          </p:cNvSpPr>
          <p:nvPr>
            <p:ph type="title"/>
          </p:nvPr>
        </p:nvSpPr>
        <p:spPr>
          <a:xfrm>
            <a:off x="0" y="18255"/>
            <a:ext cx="10515600" cy="1325563"/>
          </a:xfrm>
        </p:spPr>
        <p:txBody>
          <a:bodyPr/>
          <a:lstStyle/>
          <a:p>
            <a:r>
              <a:rPr lang="en-AU" dirty="0"/>
              <a:t>How to make a (meaningful) memory</a:t>
            </a:r>
          </a:p>
        </p:txBody>
      </p:sp>
      <p:sp>
        <p:nvSpPr>
          <p:cNvPr id="7" name="Content Placeholder 2">
            <a:extLst>
              <a:ext uri="{FF2B5EF4-FFF2-40B4-BE49-F238E27FC236}">
                <a16:creationId xmlns:a16="http://schemas.microsoft.com/office/drawing/2014/main" id="{E7642A87-849A-7FBD-51EB-34847DE9F34D}"/>
              </a:ext>
            </a:extLst>
          </p:cNvPr>
          <p:cNvSpPr>
            <a:spLocks noGrp="1"/>
          </p:cNvSpPr>
          <p:nvPr>
            <p:ph idx="1"/>
          </p:nvPr>
        </p:nvSpPr>
        <p:spPr>
          <a:xfrm>
            <a:off x="344774" y="1343818"/>
            <a:ext cx="6832123" cy="4386602"/>
          </a:xfrm>
        </p:spPr>
        <p:txBody>
          <a:bodyPr>
            <a:normAutofit/>
          </a:bodyPr>
          <a:lstStyle/>
          <a:p>
            <a:pPr marL="514350" indent="-514350">
              <a:buAutoNum type="arabicPeriod"/>
            </a:pPr>
            <a:r>
              <a:rPr lang="en-AU" sz="3200" dirty="0"/>
              <a:t>Sensory cortices receive information from the five senses</a:t>
            </a:r>
          </a:p>
        </p:txBody>
      </p:sp>
    </p:spTree>
    <p:extLst>
      <p:ext uri="{BB962C8B-B14F-4D97-AF65-F5344CB8AC3E}">
        <p14:creationId xmlns:p14="http://schemas.microsoft.com/office/powerpoint/2010/main" val="4118832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92F25-9608-0E4E-3CCB-9B2E7C60111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38D6320-1B7C-2947-7C76-35D18DDC0941}"/>
              </a:ext>
            </a:extLst>
          </p:cNvPr>
          <p:cNvSpPr>
            <a:spLocks noGrp="1"/>
          </p:cNvSpPr>
          <p:nvPr>
            <p:ph idx="1"/>
          </p:nvPr>
        </p:nvSpPr>
        <p:spPr>
          <a:xfrm>
            <a:off x="263160" y="414428"/>
            <a:ext cx="10515600" cy="4351338"/>
          </a:xfrm>
        </p:spPr>
        <p:txBody>
          <a:bodyPr/>
          <a:lstStyle/>
          <a:p>
            <a:pPr marL="0" indent="0">
              <a:buNone/>
            </a:pPr>
            <a:r>
              <a:rPr lang="en-AU" b="1" i="1" dirty="0"/>
              <a:t>Sensory Cortices: </a:t>
            </a:r>
          </a:p>
          <a:p>
            <a:pPr marL="0" indent="0">
              <a:buNone/>
            </a:pPr>
            <a:r>
              <a:rPr lang="en-AU" dirty="0"/>
              <a:t>Areas of the brain that receive information from the senses  </a:t>
            </a:r>
          </a:p>
        </p:txBody>
      </p:sp>
      <p:pic>
        <p:nvPicPr>
          <p:cNvPr id="10" name="Picture 9" descr="The primary sensory cortices | Download Scientific Diagram">
            <a:extLst>
              <a:ext uri="{FF2B5EF4-FFF2-40B4-BE49-F238E27FC236}">
                <a16:creationId xmlns:a16="http://schemas.microsoft.com/office/drawing/2014/main" id="{203FBE34-D354-5A57-F25E-28357EFD87AF}"/>
              </a:ext>
            </a:extLst>
          </p:cNvPr>
          <p:cNvPicPr>
            <a:picLocks noChangeAspect="1"/>
          </p:cNvPicPr>
          <p:nvPr/>
        </p:nvPicPr>
        <p:blipFill>
          <a:blip r:embed="rId2"/>
          <a:stretch>
            <a:fillRect/>
          </a:stretch>
        </p:blipFill>
        <p:spPr>
          <a:xfrm>
            <a:off x="378919" y="1784265"/>
            <a:ext cx="4909251" cy="3541674"/>
          </a:xfrm>
          <a:prstGeom prst="rect">
            <a:avLst/>
          </a:prstGeom>
        </p:spPr>
      </p:pic>
    </p:spTree>
    <p:extLst>
      <p:ext uri="{BB962C8B-B14F-4D97-AF65-F5344CB8AC3E}">
        <p14:creationId xmlns:p14="http://schemas.microsoft.com/office/powerpoint/2010/main" val="3876116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325B5-C8A6-8C4A-7000-C34E5AC3031D}"/>
            </a:ext>
          </a:extLst>
        </p:cNvPr>
        <p:cNvGrpSpPr/>
        <p:nvPr/>
      </p:nvGrpSpPr>
      <p:grpSpPr>
        <a:xfrm>
          <a:off x="0" y="0"/>
          <a:ext cx="0" cy="0"/>
          <a:chOff x="0" y="0"/>
          <a:chExt cx="0" cy="0"/>
        </a:xfrm>
      </p:grpSpPr>
      <p:pic>
        <p:nvPicPr>
          <p:cNvPr id="4" name="Picture 3" descr="Sensory Input Drives Motor Output – “You gotta feel it to move it!” –  MedFitNetwork">
            <a:extLst>
              <a:ext uri="{FF2B5EF4-FFF2-40B4-BE49-F238E27FC236}">
                <a16:creationId xmlns:a16="http://schemas.microsoft.com/office/drawing/2014/main" id="{95F39B56-B416-26E1-E6E6-E2DEEE3A1916}"/>
              </a:ext>
            </a:extLst>
          </p:cNvPr>
          <p:cNvPicPr>
            <a:picLocks noChangeAspect="1"/>
          </p:cNvPicPr>
          <p:nvPr/>
        </p:nvPicPr>
        <p:blipFill>
          <a:blip r:embed="rId2"/>
          <a:srcRect b="4975"/>
          <a:stretch>
            <a:fillRect/>
          </a:stretch>
        </p:blipFill>
        <p:spPr>
          <a:xfrm>
            <a:off x="168222" y="2828179"/>
            <a:ext cx="5927778" cy="3994004"/>
          </a:xfrm>
          <a:prstGeom prst="rect">
            <a:avLst/>
          </a:prstGeom>
        </p:spPr>
      </p:pic>
      <p:sp>
        <p:nvSpPr>
          <p:cNvPr id="7" name="Content Placeholder 2">
            <a:extLst>
              <a:ext uri="{FF2B5EF4-FFF2-40B4-BE49-F238E27FC236}">
                <a16:creationId xmlns:a16="http://schemas.microsoft.com/office/drawing/2014/main" id="{276F1D9D-A488-156B-1662-6F855318B902}"/>
              </a:ext>
            </a:extLst>
          </p:cNvPr>
          <p:cNvSpPr>
            <a:spLocks noGrp="1"/>
          </p:cNvSpPr>
          <p:nvPr>
            <p:ph idx="1"/>
          </p:nvPr>
        </p:nvSpPr>
        <p:spPr>
          <a:xfrm>
            <a:off x="293140" y="473843"/>
            <a:ext cx="10515600" cy="4351338"/>
          </a:xfrm>
        </p:spPr>
        <p:txBody>
          <a:bodyPr/>
          <a:lstStyle/>
          <a:p>
            <a:pPr marL="0" indent="0">
              <a:buNone/>
            </a:pPr>
            <a:r>
              <a:rPr lang="en-AU" b="1" i="1" dirty="0"/>
              <a:t>Primary Somatosensory Cortex: </a:t>
            </a:r>
          </a:p>
          <a:p>
            <a:r>
              <a:rPr lang="en-AU" dirty="0"/>
              <a:t>Area of the brain that receives localised information about touch</a:t>
            </a:r>
          </a:p>
          <a:p>
            <a:r>
              <a:rPr lang="en-AU" dirty="0"/>
              <a:t>Homunculus – cortical map of the human body on the primary somatosensory and primary motor areas   </a:t>
            </a:r>
          </a:p>
        </p:txBody>
      </p:sp>
    </p:spTree>
    <p:extLst>
      <p:ext uri="{BB962C8B-B14F-4D97-AF65-F5344CB8AC3E}">
        <p14:creationId xmlns:p14="http://schemas.microsoft.com/office/powerpoint/2010/main" val="293221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70A7E-011F-8BDC-CAFC-F7A3872B6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699CE-3939-12E6-8D86-7A0332B71625}"/>
              </a:ext>
            </a:extLst>
          </p:cNvPr>
          <p:cNvSpPr>
            <a:spLocks noGrp="1"/>
          </p:cNvSpPr>
          <p:nvPr>
            <p:ph type="title"/>
          </p:nvPr>
        </p:nvSpPr>
        <p:spPr>
          <a:xfrm>
            <a:off x="0" y="18255"/>
            <a:ext cx="10515600" cy="1325563"/>
          </a:xfrm>
        </p:spPr>
        <p:txBody>
          <a:bodyPr/>
          <a:lstStyle/>
          <a:p>
            <a:r>
              <a:rPr lang="en-AU" dirty="0"/>
              <a:t>How to make a memory</a:t>
            </a:r>
          </a:p>
        </p:txBody>
      </p:sp>
      <p:sp>
        <p:nvSpPr>
          <p:cNvPr id="7" name="Content Placeholder 2">
            <a:extLst>
              <a:ext uri="{FF2B5EF4-FFF2-40B4-BE49-F238E27FC236}">
                <a16:creationId xmlns:a16="http://schemas.microsoft.com/office/drawing/2014/main" id="{224D8C4B-9675-CF1E-5933-0FB4440D6E4C}"/>
              </a:ext>
            </a:extLst>
          </p:cNvPr>
          <p:cNvSpPr>
            <a:spLocks noGrp="1"/>
          </p:cNvSpPr>
          <p:nvPr>
            <p:ph idx="1"/>
          </p:nvPr>
        </p:nvSpPr>
        <p:spPr>
          <a:xfrm>
            <a:off x="234824" y="1474159"/>
            <a:ext cx="6832123" cy="4945469"/>
          </a:xfrm>
        </p:spPr>
        <p:txBody>
          <a:bodyPr>
            <a:normAutofit/>
          </a:bodyPr>
          <a:lstStyle/>
          <a:p>
            <a:pPr marL="514350" indent="-514350">
              <a:buAutoNum type="arabicPeriod"/>
            </a:pPr>
            <a:r>
              <a:rPr lang="en-AU" sz="3200" dirty="0"/>
              <a:t>Sensory cortices receive information from the five senses</a:t>
            </a:r>
          </a:p>
          <a:p>
            <a:pPr marL="514350" indent="-514350">
              <a:buAutoNum type="arabicPeriod"/>
            </a:pPr>
            <a:r>
              <a:rPr lang="en-AU" sz="3200" dirty="0"/>
              <a:t>Sensory information is sent to higher order association areas and to subcortical </a:t>
            </a:r>
            <a:r>
              <a:rPr lang="en-AU" sz="3200" u="sng" dirty="0"/>
              <a:t>limbic structures </a:t>
            </a:r>
            <a:r>
              <a:rPr lang="en-AU" sz="3200" dirty="0"/>
              <a:t>(regions involved in emotion and memory)</a:t>
            </a:r>
          </a:p>
          <a:p>
            <a:pPr marL="514350" indent="-514350">
              <a:buAutoNum type="arabicPeriod"/>
            </a:pPr>
            <a:r>
              <a:rPr lang="en-AU" sz="3200" dirty="0"/>
              <a:t>Limbic structures coordinate a behavioural response</a:t>
            </a:r>
          </a:p>
          <a:p>
            <a:pPr marL="514350" indent="-514350">
              <a:buAutoNum type="arabicPeriod"/>
            </a:pPr>
            <a:endParaRPr lang="en-AU" sz="3200" dirty="0"/>
          </a:p>
        </p:txBody>
      </p:sp>
    </p:spTree>
    <p:extLst>
      <p:ext uri="{BB962C8B-B14F-4D97-AF65-F5344CB8AC3E}">
        <p14:creationId xmlns:p14="http://schemas.microsoft.com/office/powerpoint/2010/main" val="3522697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0BB1A-AEE0-70C7-B7E5-53A5ABA146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B09514-BDDA-1432-ADD3-1C53D6550899}"/>
              </a:ext>
            </a:extLst>
          </p:cNvPr>
          <p:cNvSpPr>
            <a:spLocks noGrp="1"/>
          </p:cNvSpPr>
          <p:nvPr>
            <p:ph idx="1"/>
          </p:nvPr>
        </p:nvSpPr>
        <p:spPr>
          <a:xfrm>
            <a:off x="0" y="0"/>
            <a:ext cx="7588832" cy="4351338"/>
          </a:xfrm>
        </p:spPr>
        <p:txBody>
          <a:bodyPr/>
          <a:lstStyle/>
          <a:p>
            <a:pPr marL="0" indent="0">
              <a:buNone/>
            </a:pPr>
            <a:r>
              <a:rPr lang="en-AU" b="1" dirty="0"/>
              <a:t>Amygdala</a:t>
            </a:r>
            <a:r>
              <a:rPr lang="en-AU" dirty="0"/>
              <a:t> </a:t>
            </a:r>
          </a:p>
          <a:p>
            <a:r>
              <a:rPr lang="en-AU" sz="2400" dirty="0"/>
              <a:t>Critical for emotional learning and behavioural coordination</a:t>
            </a:r>
          </a:p>
          <a:p>
            <a:r>
              <a:rPr lang="en-AU" sz="2400" dirty="0"/>
              <a:t>Two important amygdala subregions: Basolateral and Central Nuclei – </a:t>
            </a:r>
            <a:r>
              <a:rPr lang="en-AU" sz="2400" dirty="0">
                <a:solidFill>
                  <a:schemeClr val="accent5">
                    <a:lumMod val="40000"/>
                    <a:lumOff val="60000"/>
                  </a:schemeClr>
                </a:solidFill>
              </a:rPr>
              <a:t>BLA</a:t>
            </a:r>
            <a:r>
              <a:rPr lang="en-AU" sz="2400" dirty="0"/>
              <a:t> and </a:t>
            </a:r>
            <a:r>
              <a:rPr lang="en-AU" sz="2400" dirty="0" err="1">
                <a:solidFill>
                  <a:schemeClr val="accent3">
                    <a:lumMod val="60000"/>
                    <a:lumOff val="40000"/>
                  </a:schemeClr>
                </a:solidFill>
              </a:rPr>
              <a:t>CeA</a:t>
            </a:r>
            <a:endParaRPr lang="en-AU" sz="2400" dirty="0">
              <a:solidFill>
                <a:schemeClr val="accent3">
                  <a:lumMod val="60000"/>
                  <a:lumOff val="40000"/>
                </a:schemeClr>
              </a:solidFill>
            </a:endParaRPr>
          </a:p>
          <a:p>
            <a:pPr marL="0" indent="0">
              <a:buNone/>
            </a:pPr>
            <a:endParaRPr lang="en-AU" dirty="0"/>
          </a:p>
        </p:txBody>
      </p:sp>
      <p:pic>
        <p:nvPicPr>
          <p:cNvPr id="6" name="Picture 5">
            <a:extLst>
              <a:ext uri="{FF2B5EF4-FFF2-40B4-BE49-F238E27FC236}">
                <a16:creationId xmlns:a16="http://schemas.microsoft.com/office/drawing/2014/main" id="{68C39F6D-6305-F304-E66D-8FD1AAEBC43C}"/>
              </a:ext>
            </a:extLst>
          </p:cNvPr>
          <p:cNvPicPr>
            <a:picLocks noChangeAspect="1"/>
          </p:cNvPicPr>
          <p:nvPr/>
        </p:nvPicPr>
        <p:blipFill>
          <a:blip r:embed="rId2"/>
          <a:stretch>
            <a:fillRect/>
          </a:stretch>
        </p:blipFill>
        <p:spPr>
          <a:xfrm>
            <a:off x="0" y="3438378"/>
            <a:ext cx="4559496" cy="3419622"/>
          </a:xfrm>
          <a:prstGeom prst="rect">
            <a:avLst/>
          </a:prstGeom>
        </p:spPr>
      </p:pic>
      <p:pic>
        <p:nvPicPr>
          <p:cNvPr id="11" name="Picture 10" descr="Study reveals amygdala's role in complex decision-making | OHSU News">
            <a:extLst>
              <a:ext uri="{FF2B5EF4-FFF2-40B4-BE49-F238E27FC236}">
                <a16:creationId xmlns:a16="http://schemas.microsoft.com/office/drawing/2014/main" id="{476B3196-6449-E424-3285-932FCA7FC4BE}"/>
              </a:ext>
            </a:extLst>
          </p:cNvPr>
          <p:cNvPicPr>
            <a:picLocks noChangeAspect="1"/>
          </p:cNvPicPr>
          <p:nvPr/>
        </p:nvPicPr>
        <p:blipFill>
          <a:blip r:embed="rId3"/>
          <a:stretch>
            <a:fillRect/>
          </a:stretch>
        </p:blipFill>
        <p:spPr>
          <a:xfrm>
            <a:off x="4785114" y="3592439"/>
            <a:ext cx="2578100" cy="3111500"/>
          </a:xfrm>
          <a:prstGeom prst="rect">
            <a:avLst/>
          </a:prstGeom>
        </p:spPr>
      </p:pic>
    </p:spTree>
    <p:extLst>
      <p:ext uri="{BB962C8B-B14F-4D97-AF65-F5344CB8AC3E}">
        <p14:creationId xmlns:p14="http://schemas.microsoft.com/office/powerpoint/2010/main" val="2785687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7225-D76D-F50F-DA8F-94C25FDDE791}"/>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299F233E-1086-B5E5-FB6A-3C0B7EDBBB60}"/>
              </a:ext>
            </a:extLst>
          </p:cNvPr>
          <p:cNvGrpSpPr/>
          <p:nvPr/>
        </p:nvGrpSpPr>
        <p:grpSpPr>
          <a:xfrm>
            <a:off x="0" y="3438378"/>
            <a:ext cx="4559496" cy="3419622"/>
            <a:chOff x="387258" y="2347843"/>
            <a:chExt cx="4559496" cy="3419622"/>
          </a:xfrm>
        </p:grpSpPr>
        <p:pic>
          <p:nvPicPr>
            <p:cNvPr id="6" name="Picture 5">
              <a:extLst>
                <a:ext uri="{FF2B5EF4-FFF2-40B4-BE49-F238E27FC236}">
                  <a16:creationId xmlns:a16="http://schemas.microsoft.com/office/drawing/2014/main" id="{40AAB7DD-7608-1254-0379-5A813E8C98B3}"/>
                </a:ext>
              </a:extLst>
            </p:cNvPr>
            <p:cNvPicPr>
              <a:picLocks noChangeAspect="1"/>
            </p:cNvPicPr>
            <p:nvPr/>
          </p:nvPicPr>
          <p:blipFill>
            <a:blip r:embed="rId2"/>
            <a:stretch>
              <a:fillRect/>
            </a:stretch>
          </p:blipFill>
          <p:spPr>
            <a:xfrm>
              <a:off x="387258" y="2347843"/>
              <a:ext cx="4559496" cy="3419622"/>
            </a:xfrm>
            <a:prstGeom prst="rect">
              <a:avLst/>
            </a:prstGeom>
          </p:spPr>
        </p:pic>
        <p:sp>
          <p:nvSpPr>
            <p:cNvPr id="7" name="Freeform 6">
              <a:extLst>
                <a:ext uri="{FF2B5EF4-FFF2-40B4-BE49-F238E27FC236}">
                  <a16:creationId xmlns:a16="http://schemas.microsoft.com/office/drawing/2014/main" id="{D8097B39-5522-0E41-888C-4F8680DA3BEE}"/>
                </a:ext>
              </a:extLst>
            </p:cNvPr>
            <p:cNvSpPr/>
            <p:nvPr/>
          </p:nvSpPr>
          <p:spPr>
            <a:xfrm rot="21396582">
              <a:off x="1546480" y="3053889"/>
              <a:ext cx="1726189" cy="2418107"/>
            </a:xfrm>
            <a:custGeom>
              <a:avLst/>
              <a:gdLst>
                <a:gd name="csX0" fmla="*/ 1526503 w 1726189"/>
                <a:gd name="csY0" fmla="*/ 124025 h 2418107"/>
                <a:gd name="csX1" fmla="*/ 87447 w 1726189"/>
                <a:gd name="csY1" fmla="*/ 1533101 h 2418107"/>
                <a:gd name="csX2" fmla="*/ 237349 w 1726189"/>
                <a:gd name="csY2" fmla="*/ 2222648 h 2418107"/>
                <a:gd name="csX3" fmla="*/ 881926 w 1726189"/>
                <a:gd name="csY3" fmla="*/ 2312589 h 2418107"/>
                <a:gd name="csX4" fmla="*/ 1451552 w 1726189"/>
                <a:gd name="csY4" fmla="*/ 873534 h 2418107"/>
                <a:gd name="csX5" fmla="*/ 1706385 w 1726189"/>
                <a:gd name="csY5" fmla="*/ 154006 h 2418107"/>
                <a:gd name="csX6" fmla="*/ 1526503 w 1726189"/>
                <a:gd name="csY6" fmla="*/ 124025 h 241810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26189" h="2418107">
                  <a:moveTo>
                    <a:pt x="1526503" y="124025"/>
                  </a:moveTo>
                  <a:cubicBezTo>
                    <a:pt x="1256680" y="353874"/>
                    <a:pt x="302306" y="1183331"/>
                    <a:pt x="87447" y="1533101"/>
                  </a:cubicBezTo>
                  <a:cubicBezTo>
                    <a:pt x="-127412" y="1882872"/>
                    <a:pt x="104936" y="2092733"/>
                    <a:pt x="237349" y="2222648"/>
                  </a:cubicBezTo>
                  <a:cubicBezTo>
                    <a:pt x="369762" y="2352563"/>
                    <a:pt x="679559" y="2537441"/>
                    <a:pt x="881926" y="2312589"/>
                  </a:cubicBezTo>
                  <a:cubicBezTo>
                    <a:pt x="1084293" y="2087737"/>
                    <a:pt x="1314142" y="1233298"/>
                    <a:pt x="1451552" y="873534"/>
                  </a:cubicBezTo>
                  <a:cubicBezTo>
                    <a:pt x="1588962" y="513770"/>
                    <a:pt x="1693893" y="276426"/>
                    <a:pt x="1706385" y="154006"/>
                  </a:cubicBezTo>
                  <a:cubicBezTo>
                    <a:pt x="1718877" y="31586"/>
                    <a:pt x="1796326" y="-105824"/>
                    <a:pt x="1526503" y="124025"/>
                  </a:cubicBezTo>
                  <a:close/>
                </a:path>
              </a:pathLst>
            </a:custGeom>
            <a:noFill/>
            <a:ln w="444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AB8242C4-2966-0122-D788-2F18FE01AC62}"/>
                </a:ext>
              </a:extLst>
            </p:cNvPr>
            <p:cNvSpPr/>
            <p:nvPr/>
          </p:nvSpPr>
          <p:spPr>
            <a:xfrm>
              <a:off x="1169233" y="3852472"/>
              <a:ext cx="704538" cy="689548"/>
            </a:xfrm>
            <a:prstGeom prst="ellipse">
              <a:avLst/>
            </a:prstGeom>
            <a:noFill/>
            <a:ln w="3492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 name="Content Placeholder 2">
            <a:extLst>
              <a:ext uri="{FF2B5EF4-FFF2-40B4-BE49-F238E27FC236}">
                <a16:creationId xmlns:a16="http://schemas.microsoft.com/office/drawing/2014/main" id="{2FB013D9-9234-432D-61AD-A14CA66EA1BC}"/>
              </a:ext>
            </a:extLst>
          </p:cNvPr>
          <p:cNvSpPr>
            <a:spLocks noGrp="1"/>
          </p:cNvSpPr>
          <p:nvPr>
            <p:ph idx="1"/>
          </p:nvPr>
        </p:nvSpPr>
        <p:spPr>
          <a:xfrm>
            <a:off x="0" y="0"/>
            <a:ext cx="7588832" cy="4351338"/>
          </a:xfrm>
        </p:spPr>
        <p:txBody>
          <a:bodyPr/>
          <a:lstStyle/>
          <a:p>
            <a:pPr marL="0" indent="0">
              <a:buNone/>
            </a:pPr>
            <a:r>
              <a:rPr lang="en-AU" b="1" dirty="0"/>
              <a:t>Amygdala</a:t>
            </a:r>
            <a:r>
              <a:rPr lang="en-AU" dirty="0"/>
              <a:t> </a:t>
            </a:r>
          </a:p>
          <a:p>
            <a:r>
              <a:rPr lang="en-AU" sz="2400" dirty="0">
                <a:solidFill>
                  <a:schemeClr val="accent5">
                    <a:lumMod val="40000"/>
                    <a:lumOff val="60000"/>
                  </a:schemeClr>
                </a:solidFill>
              </a:rPr>
              <a:t>BLA</a:t>
            </a:r>
            <a:r>
              <a:rPr lang="en-AU" sz="2400" dirty="0"/>
              <a:t>: </a:t>
            </a:r>
          </a:p>
          <a:p>
            <a:pPr lvl="1"/>
            <a:r>
              <a:rPr lang="en-AU" sz="2000" dirty="0"/>
              <a:t>“Coincidence Detector” that integrates meaningful sensory information to form associations</a:t>
            </a:r>
          </a:p>
          <a:p>
            <a:pPr lvl="1"/>
            <a:r>
              <a:rPr lang="en-AU" sz="2000" dirty="0"/>
              <a:t>Helps us form predictions about our environments</a:t>
            </a:r>
          </a:p>
          <a:p>
            <a:r>
              <a:rPr lang="en-AU" sz="2400" dirty="0" err="1">
                <a:solidFill>
                  <a:schemeClr val="accent3">
                    <a:lumMod val="60000"/>
                    <a:lumOff val="40000"/>
                  </a:schemeClr>
                </a:solidFill>
              </a:rPr>
              <a:t>CeA</a:t>
            </a:r>
            <a:r>
              <a:rPr lang="en-AU" sz="2400" dirty="0"/>
              <a:t>: </a:t>
            </a:r>
          </a:p>
          <a:p>
            <a:pPr lvl="1"/>
            <a:r>
              <a:rPr lang="en-AU" sz="2000" dirty="0"/>
              <a:t>Receives input from BLA and coordinates a behavioural response (e.g., run, lever-press, etc)</a:t>
            </a:r>
          </a:p>
          <a:p>
            <a:pPr lvl="1"/>
            <a:r>
              <a:rPr lang="en-AU" sz="2000" dirty="0"/>
              <a:t>Sensitive to changes in motivation (hunger, anxiety, etc)</a:t>
            </a:r>
          </a:p>
          <a:p>
            <a:pPr marL="0" indent="0">
              <a:buNone/>
            </a:pPr>
            <a:endParaRPr lang="en-AU" dirty="0"/>
          </a:p>
        </p:txBody>
      </p:sp>
    </p:spTree>
    <p:extLst>
      <p:ext uri="{BB962C8B-B14F-4D97-AF65-F5344CB8AC3E}">
        <p14:creationId xmlns:p14="http://schemas.microsoft.com/office/powerpoint/2010/main" val="3566475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8FDFD-176E-E60F-6EA0-7EB574BED99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C1C34F5-231C-134F-861B-8483BE4C324D}"/>
              </a:ext>
            </a:extLst>
          </p:cNvPr>
          <p:cNvPicPr>
            <a:picLocks noChangeAspect="1"/>
          </p:cNvPicPr>
          <p:nvPr/>
        </p:nvPicPr>
        <p:blipFill>
          <a:blip r:embed="rId2"/>
          <a:stretch>
            <a:fillRect/>
          </a:stretch>
        </p:blipFill>
        <p:spPr>
          <a:xfrm>
            <a:off x="242217" y="769963"/>
            <a:ext cx="5775688" cy="5181132"/>
          </a:xfrm>
          <a:prstGeom prst="rect">
            <a:avLst/>
          </a:prstGeom>
        </p:spPr>
      </p:pic>
      <p:sp>
        <p:nvSpPr>
          <p:cNvPr id="6" name="TextBox 5">
            <a:extLst>
              <a:ext uri="{FF2B5EF4-FFF2-40B4-BE49-F238E27FC236}">
                <a16:creationId xmlns:a16="http://schemas.microsoft.com/office/drawing/2014/main" id="{ACC8CA1A-77F9-2801-B1C0-B6E944F2F428}"/>
              </a:ext>
            </a:extLst>
          </p:cNvPr>
          <p:cNvSpPr txBox="1"/>
          <p:nvPr/>
        </p:nvSpPr>
        <p:spPr>
          <a:xfrm>
            <a:off x="2128076" y="6088037"/>
            <a:ext cx="3889829" cy="369332"/>
          </a:xfrm>
          <a:prstGeom prst="rect">
            <a:avLst/>
          </a:prstGeom>
          <a:noFill/>
        </p:spPr>
        <p:txBody>
          <a:bodyPr wrap="square" rtlCol="0">
            <a:spAutoFit/>
          </a:bodyPr>
          <a:lstStyle/>
          <a:p>
            <a:pPr algn="r"/>
            <a:r>
              <a:rPr lang="en-AU" i="1" dirty="0"/>
              <a:t>-The Question of Lay Analysis</a:t>
            </a:r>
          </a:p>
        </p:txBody>
      </p:sp>
      <p:sp>
        <p:nvSpPr>
          <p:cNvPr id="8" name="Rectangle 7">
            <a:extLst>
              <a:ext uri="{FF2B5EF4-FFF2-40B4-BE49-F238E27FC236}">
                <a16:creationId xmlns:a16="http://schemas.microsoft.com/office/drawing/2014/main" id="{D765C35E-01E4-B412-D352-F48EE4901DBF}"/>
              </a:ext>
            </a:extLst>
          </p:cNvPr>
          <p:cNvSpPr/>
          <p:nvPr/>
        </p:nvSpPr>
        <p:spPr>
          <a:xfrm>
            <a:off x="569626" y="769963"/>
            <a:ext cx="3807502" cy="2943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9C4997E0-DFE4-5C96-FFBE-5208C3DFA9A1}"/>
              </a:ext>
            </a:extLst>
          </p:cNvPr>
          <p:cNvSpPr/>
          <p:nvPr/>
        </p:nvSpPr>
        <p:spPr>
          <a:xfrm>
            <a:off x="3720058" y="5578058"/>
            <a:ext cx="2454039" cy="2943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14962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92D9B-E2EB-EA2D-8474-630B689A7F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2A38C6-7707-BFD7-F3AB-FE608810C1D6}"/>
              </a:ext>
            </a:extLst>
          </p:cNvPr>
          <p:cNvSpPr>
            <a:spLocks noGrp="1"/>
          </p:cNvSpPr>
          <p:nvPr>
            <p:ph idx="1"/>
          </p:nvPr>
        </p:nvSpPr>
        <p:spPr>
          <a:xfrm>
            <a:off x="43674" y="494675"/>
            <a:ext cx="7588832" cy="4351338"/>
          </a:xfrm>
        </p:spPr>
        <p:txBody>
          <a:bodyPr/>
          <a:lstStyle/>
          <a:p>
            <a:pPr marL="0" indent="0">
              <a:buNone/>
            </a:pPr>
            <a:r>
              <a:rPr lang="en-AU" b="1" dirty="0"/>
              <a:t>Hippocampus</a:t>
            </a:r>
            <a:r>
              <a:rPr lang="en-AU" dirty="0"/>
              <a:t> </a:t>
            </a:r>
          </a:p>
          <a:p>
            <a:r>
              <a:rPr lang="en-AU" sz="2400" dirty="0"/>
              <a:t>Critical for the formation of episodic memories</a:t>
            </a:r>
          </a:p>
          <a:p>
            <a:r>
              <a:rPr lang="en-AU" sz="2400" dirty="0"/>
              <a:t>Receives integrated sensory information, along with information from areas like the amygdala, to make a contextually-rich, emotionally salient memory</a:t>
            </a:r>
          </a:p>
          <a:p>
            <a:r>
              <a:rPr lang="en-AU" sz="2400" dirty="0"/>
              <a:t>Also critical for regulating stress (helps shut down the fight or flight response after a threat is encountered)</a:t>
            </a:r>
          </a:p>
          <a:p>
            <a:pPr marL="0" indent="0">
              <a:buNone/>
            </a:pPr>
            <a:endParaRPr lang="en-AU" dirty="0"/>
          </a:p>
        </p:txBody>
      </p:sp>
      <p:pic>
        <p:nvPicPr>
          <p:cNvPr id="2" name="Picture 1" descr="2: Mouse brain neurons stained with brainbow technique (adapted from... |  Download Scientific Diagram">
            <a:extLst>
              <a:ext uri="{FF2B5EF4-FFF2-40B4-BE49-F238E27FC236}">
                <a16:creationId xmlns:a16="http://schemas.microsoft.com/office/drawing/2014/main" id="{77A5507E-C835-5535-3825-5CC92D0BE16B}"/>
              </a:ext>
            </a:extLst>
          </p:cNvPr>
          <p:cNvPicPr>
            <a:picLocks noChangeAspect="1"/>
          </p:cNvPicPr>
          <p:nvPr/>
        </p:nvPicPr>
        <p:blipFill>
          <a:blip r:embed="rId2"/>
          <a:srcRect r="40686"/>
          <a:stretch>
            <a:fillRect/>
          </a:stretch>
        </p:blipFill>
        <p:spPr>
          <a:xfrm>
            <a:off x="224852" y="3930093"/>
            <a:ext cx="3807502" cy="2628104"/>
          </a:xfrm>
          <a:prstGeom prst="rect">
            <a:avLst/>
          </a:prstGeom>
        </p:spPr>
      </p:pic>
      <p:pic>
        <p:nvPicPr>
          <p:cNvPr id="4" name="Picture 3" descr="What Is the Hippocampus?">
            <a:extLst>
              <a:ext uri="{FF2B5EF4-FFF2-40B4-BE49-F238E27FC236}">
                <a16:creationId xmlns:a16="http://schemas.microsoft.com/office/drawing/2014/main" id="{130EB7D9-D838-B231-2F2B-6C9EFB086477}"/>
              </a:ext>
            </a:extLst>
          </p:cNvPr>
          <p:cNvPicPr>
            <a:picLocks noChangeAspect="1"/>
          </p:cNvPicPr>
          <p:nvPr/>
        </p:nvPicPr>
        <p:blipFill>
          <a:blip r:embed="rId3"/>
          <a:srcRect l="29267" t="800" r="26842" b="34863"/>
          <a:stretch>
            <a:fillRect/>
          </a:stretch>
        </p:blipFill>
        <p:spPr>
          <a:xfrm>
            <a:off x="4213532" y="3930093"/>
            <a:ext cx="2631420" cy="2628104"/>
          </a:xfrm>
          <a:prstGeom prst="rect">
            <a:avLst/>
          </a:prstGeom>
        </p:spPr>
      </p:pic>
    </p:spTree>
    <p:extLst>
      <p:ext uri="{BB962C8B-B14F-4D97-AF65-F5344CB8AC3E}">
        <p14:creationId xmlns:p14="http://schemas.microsoft.com/office/powerpoint/2010/main" val="4024612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2E83-72E6-48B0-10D2-C3D9A4B521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7E537-2620-E8FC-82A0-37D84D428759}"/>
              </a:ext>
            </a:extLst>
          </p:cNvPr>
          <p:cNvSpPr>
            <a:spLocks noGrp="1"/>
          </p:cNvSpPr>
          <p:nvPr>
            <p:ph idx="1"/>
          </p:nvPr>
        </p:nvSpPr>
        <p:spPr>
          <a:xfrm>
            <a:off x="43674" y="494675"/>
            <a:ext cx="7588832" cy="4351338"/>
          </a:xfrm>
        </p:spPr>
        <p:txBody>
          <a:bodyPr/>
          <a:lstStyle/>
          <a:p>
            <a:pPr marL="0" indent="0">
              <a:buNone/>
            </a:pPr>
            <a:r>
              <a:rPr lang="en-AU" b="1" dirty="0"/>
              <a:t>Hippocampus</a:t>
            </a:r>
            <a:r>
              <a:rPr lang="en-AU" dirty="0"/>
              <a:t> </a:t>
            </a:r>
          </a:p>
          <a:p>
            <a:r>
              <a:rPr lang="en-AU" sz="2400" dirty="0"/>
              <a:t>Episodic memories in the hippocampus are stored as </a:t>
            </a:r>
            <a:r>
              <a:rPr lang="en-AU" sz="2400" b="1" dirty="0"/>
              <a:t>“engrams” </a:t>
            </a:r>
            <a:r>
              <a:rPr lang="en-AU" sz="2400" dirty="0"/>
              <a:t>– a specific group of interconnected neurons activated together during learning, and reactivated upon recall</a:t>
            </a:r>
            <a:endParaRPr lang="en-AU" dirty="0"/>
          </a:p>
        </p:txBody>
      </p:sp>
      <p:pic>
        <p:nvPicPr>
          <p:cNvPr id="4" name="Picture 3" descr="Engrams emerging as the basic unit of memory | Picower Institute">
            <a:extLst>
              <a:ext uri="{FF2B5EF4-FFF2-40B4-BE49-F238E27FC236}">
                <a16:creationId xmlns:a16="http://schemas.microsoft.com/office/drawing/2014/main" id="{E69A841D-6B01-EF2E-CC91-C57501EE4684}"/>
              </a:ext>
            </a:extLst>
          </p:cNvPr>
          <p:cNvPicPr>
            <a:picLocks noChangeAspect="1"/>
          </p:cNvPicPr>
          <p:nvPr/>
        </p:nvPicPr>
        <p:blipFill>
          <a:blip r:embed="rId2"/>
          <a:stretch>
            <a:fillRect/>
          </a:stretch>
        </p:blipFill>
        <p:spPr>
          <a:xfrm>
            <a:off x="472086" y="3168162"/>
            <a:ext cx="4985338" cy="3355702"/>
          </a:xfrm>
          <a:prstGeom prst="rect">
            <a:avLst/>
          </a:prstGeom>
        </p:spPr>
      </p:pic>
    </p:spTree>
    <p:extLst>
      <p:ext uri="{BB962C8B-B14F-4D97-AF65-F5344CB8AC3E}">
        <p14:creationId xmlns:p14="http://schemas.microsoft.com/office/powerpoint/2010/main" val="3624108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791FC-9F56-5811-7595-CC19F64EC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BC7B8-983A-30F8-B811-52BEA847A2DA}"/>
              </a:ext>
            </a:extLst>
          </p:cNvPr>
          <p:cNvSpPr>
            <a:spLocks noGrp="1"/>
          </p:cNvSpPr>
          <p:nvPr>
            <p:ph type="title"/>
          </p:nvPr>
        </p:nvSpPr>
        <p:spPr>
          <a:xfrm>
            <a:off x="0" y="18255"/>
            <a:ext cx="10515600" cy="1325563"/>
          </a:xfrm>
        </p:spPr>
        <p:txBody>
          <a:bodyPr/>
          <a:lstStyle/>
          <a:p>
            <a:r>
              <a:rPr lang="en-AU" dirty="0"/>
              <a:t>Stages of Memory</a:t>
            </a:r>
          </a:p>
        </p:txBody>
      </p:sp>
      <p:sp>
        <p:nvSpPr>
          <p:cNvPr id="3" name="Content Placeholder 2">
            <a:extLst>
              <a:ext uri="{FF2B5EF4-FFF2-40B4-BE49-F238E27FC236}">
                <a16:creationId xmlns:a16="http://schemas.microsoft.com/office/drawing/2014/main" id="{C6916DD5-728C-B878-568C-FFBBEC6EFC4E}"/>
              </a:ext>
            </a:extLst>
          </p:cNvPr>
          <p:cNvSpPr>
            <a:spLocks noGrp="1"/>
          </p:cNvSpPr>
          <p:nvPr>
            <p:ph idx="1"/>
          </p:nvPr>
        </p:nvSpPr>
        <p:spPr>
          <a:xfrm>
            <a:off x="453390" y="1524542"/>
            <a:ext cx="2432215" cy="813924"/>
          </a:xfrm>
        </p:spPr>
        <p:txBody>
          <a:bodyPr>
            <a:normAutofit/>
          </a:bodyPr>
          <a:lstStyle/>
          <a:p>
            <a:pPr marL="0" indent="0" algn="ctr">
              <a:buNone/>
            </a:pPr>
            <a:r>
              <a:rPr lang="en-AU" sz="2400" dirty="0">
                <a:latin typeface="News Gothic MT" panose="020B0503020103020203" pitchFamily="34" charset="0"/>
              </a:rPr>
              <a:t>Acquisition (Learning)</a:t>
            </a:r>
          </a:p>
        </p:txBody>
      </p:sp>
      <p:sp>
        <p:nvSpPr>
          <p:cNvPr id="4" name="Content Placeholder 2">
            <a:extLst>
              <a:ext uri="{FF2B5EF4-FFF2-40B4-BE49-F238E27FC236}">
                <a16:creationId xmlns:a16="http://schemas.microsoft.com/office/drawing/2014/main" id="{8D5036B1-4CB5-F80C-95DF-1D833EB030B6}"/>
              </a:ext>
            </a:extLst>
          </p:cNvPr>
          <p:cNvSpPr txBox="1">
            <a:spLocks/>
          </p:cNvSpPr>
          <p:nvPr/>
        </p:nvSpPr>
        <p:spPr>
          <a:xfrm>
            <a:off x="363449" y="2999214"/>
            <a:ext cx="2612098" cy="104029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sz="2400" dirty="0">
                <a:latin typeface="News Gothic MT" panose="020B0503020103020203" pitchFamily="34" charset="0"/>
              </a:rPr>
              <a:t>Consolidation (Memory is made “long-term”)</a:t>
            </a:r>
          </a:p>
        </p:txBody>
      </p:sp>
      <p:sp>
        <p:nvSpPr>
          <p:cNvPr id="5" name="Content Placeholder 2">
            <a:extLst>
              <a:ext uri="{FF2B5EF4-FFF2-40B4-BE49-F238E27FC236}">
                <a16:creationId xmlns:a16="http://schemas.microsoft.com/office/drawing/2014/main" id="{FBB1F63B-30DC-5458-9D56-ECD4B39C3B0E}"/>
              </a:ext>
            </a:extLst>
          </p:cNvPr>
          <p:cNvSpPr txBox="1">
            <a:spLocks/>
          </p:cNvSpPr>
          <p:nvPr/>
        </p:nvSpPr>
        <p:spPr>
          <a:xfrm>
            <a:off x="236032" y="4700258"/>
            <a:ext cx="2866932" cy="1490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sz="2400" dirty="0">
                <a:latin typeface="News Gothic MT" panose="020B0503020103020203" pitchFamily="34" charset="0"/>
              </a:rPr>
              <a:t>Recall </a:t>
            </a:r>
          </a:p>
          <a:p>
            <a:pPr marL="0" indent="0" algn="ctr">
              <a:buFont typeface="Arial" panose="020B0604020202020204" pitchFamily="34" charset="0"/>
              <a:buNone/>
            </a:pPr>
            <a:r>
              <a:rPr lang="en-AU" sz="2400" dirty="0">
                <a:latin typeface="News Gothic MT" panose="020B0503020103020203" pitchFamily="34" charset="0"/>
              </a:rPr>
              <a:t>(Memory is retrieved)</a:t>
            </a:r>
          </a:p>
        </p:txBody>
      </p:sp>
      <p:cxnSp>
        <p:nvCxnSpPr>
          <p:cNvPr id="7" name="Straight Arrow Connector 6">
            <a:extLst>
              <a:ext uri="{FF2B5EF4-FFF2-40B4-BE49-F238E27FC236}">
                <a16:creationId xmlns:a16="http://schemas.microsoft.com/office/drawing/2014/main" id="{C455DB86-37BF-23CF-A3E2-5FA515E21FCA}"/>
              </a:ext>
            </a:extLst>
          </p:cNvPr>
          <p:cNvCxnSpPr>
            <a:stCxn id="3" idx="2"/>
            <a:endCxn id="4" idx="0"/>
          </p:cNvCxnSpPr>
          <p:nvPr/>
        </p:nvCxnSpPr>
        <p:spPr>
          <a:xfrm>
            <a:off x="1669498" y="2338466"/>
            <a:ext cx="0" cy="660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20B3C3DE-9D88-6AAC-9435-EF6126B60AEE}"/>
              </a:ext>
            </a:extLst>
          </p:cNvPr>
          <p:cNvCxnSpPr/>
          <p:nvPr/>
        </p:nvCxnSpPr>
        <p:spPr>
          <a:xfrm>
            <a:off x="1662595" y="4039510"/>
            <a:ext cx="0" cy="660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D264D39F-5AF1-1887-838B-A794AD90B0A0}"/>
              </a:ext>
            </a:extLst>
          </p:cNvPr>
          <p:cNvSpPr txBox="1">
            <a:spLocks/>
          </p:cNvSpPr>
          <p:nvPr/>
        </p:nvSpPr>
        <p:spPr>
          <a:xfrm>
            <a:off x="2540833" y="1750780"/>
            <a:ext cx="2432215" cy="8139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sz="2000" b="1" i="1" dirty="0">
                <a:latin typeface="News Gothic MT" panose="020B0503020103020203" pitchFamily="34" charset="0"/>
              </a:rPr>
              <a:t>Engram formed</a:t>
            </a:r>
          </a:p>
        </p:txBody>
      </p:sp>
      <p:sp>
        <p:nvSpPr>
          <p:cNvPr id="10" name="Content Placeholder 2">
            <a:extLst>
              <a:ext uri="{FF2B5EF4-FFF2-40B4-BE49-F238E27FC236}">
                <a16:creationId xmlns:a16="http://schemas.microsoft.com/office/drawing/2014/main" id="{9F10B879-D77A-FB44-150C-60A9BF4E9D8A}"/>
              </a:ext>
            </a:extLst>
          </p:cNvPr>
          <p:cNvSpPr txBox="1">
            <a:spLocks/>
          </p:cNvSpPr>
          <p:nvPr/>
        </p:nvSpPr>
        <p:spPr>
          <a:xfrm>
            <a:off x="3186002" y="3225586"/>
            <a:ext cx="2432215" cy="8139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sz="2000" b="1" i="1" dirty="0">
                <a:latin typeface="News Gothic MT" panose="020B0503020103020203" pitchFamily="34" charset="0"/>
              </a:rPr>
              <a:t>Engram becomes stable</a:t>
            </a:r>
          </a:p>
        </p:txBody>
      </p:sp>
      <p:sp>
        <p:nvSpPr>
          <p:cNvPr id="11" name="Content Placeholder 2">
            <a:extLst>
              <a:ext uri="{FF2B5EF4-FFF2-40B4-BE49-F238E27FC236}">
                <a16:creationId xmlns:a16="http://schemas.microsoft.com/office/drawing/2014/main" id="{AB5EE8A4-6141-B12A-69E5-9E0AABD313C8}"/>
              </a:ext>
            </a:extLst>
          </p:cNvPr>
          <p:cNvSpPr txBox="1">
            <a:spLocks/>
          </p:cNvSpPr>
          <p:nvPr/>
        </p:nvSpPr>
        <p:spPr>
          <a:xfrm>
            <a:off x="2885605" y="5038636"/>
            <a:ext cx="2432215" cy="8139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sz="2000" b="1" i="1" dirty="0">
                <a:latin typeface="News Gothic MT" panose="020B0503020103020203" pitchFamily="34" charset="0"/>
              </a:rPr>
              <a:t>Engram is reactivated</a:t>
            </a:r>
          </a:p>
        </p:txBody>
      </p:sp>
      <p:sp>
        <p:nvSpPr>
          <p:cNvPr id="12" name="Content Placeholder 2">
            <a:extLst>
              <a:ext uri="{FF2B5EF4-FFF2-40B4-BE49-F238E27FC236}">
                <a16:creationId xmlns:a16="http://schemas.microsoft.com/office/drawing/2014/main" id="{0D4E02F7-0BAD-1D73-C468-86A63DCED2F2}"/>
              </a:ext>
            </a:extLst>
          </p:cNvPr>
          <p:cNvSpPr txBox="1">
            <a:spLocks/>
          </p:cNvSpPr>
          <p:nvPr/>
        </p:nvSpPr>
        <p:spPr>
          <a:xfrm>
            <a:off x="6277788" y="275091"/>
            <a:ext cx="5281534" cy="231817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2000" b="1" i="1" dirty="0">
                <a:solidFill>
                  <a:srgbClr val="FF0000"/>
                </a:solidFill>
                <a:latin typeface="News Gothic MT" panose="020B0503020103020203" pitchFamily="34" charset="0"/>
              </a:rPr>
              <a:t>When an engram is reactivated by memory recall, it becomes temporarily  “labile” or ”plastic”, i.e., it can be modified! </a:t>
            </a:r>
          </a:p>
          <a:p>
            <a:pPr marL="0" indent="0">
              <a:buFont typeface="Arial" panose="020B0604020202020204" pitchFamily="34" charset="0"/>
              <a:buNone/>
            </a:pPr>
            <a:endParaRPr lang="en-AU" sz="2000" b="1" i="1" dirty="0">
              <a:solidFill>
                <a:srgbClr val="FF0000"/>
              </a:solidFill>
              <a:latin typeface="News Gothic MT" panose="020B0503020103020203" pitchFamily="34" charset="0"/>
            </a:endParaRPr>
          </a:p>
          <a:p>
            <a:pPr marL="0" indent="0">
              <a:buFont typeface="Arial" panose="020B0604020202020204" pitchFamily="34" charset="0"/>
              <a:buNone/>
            </a:pPr>
            <a:r>
              <a:rPr lang="en-AU" sz="2000" b="1" i="1" dirty="0">
                <a:solidFill>
                  <a:srgbClr val="FF0000"/>
                </a:solidFill>
                <a:latin typeface="News Gothic MT" panose="020B0503020103020203" pitchFamily="34" charset="0"/>
              </a:rPr>
              <a:t>Allows us to update our memories and add new information, which can be good and bad…</a:t>
            </a:r>
          </a:p>
        </p:txBody>
      </p:sp>
      <p:sp>
        <p:nvSpPr>
          <p:cNvPr id="6" name="Content Placeholder 2">
            <a:extLst>
              <a:ext uri="{FF2B5EF4-FFF2-40B4-BE49-F238E27FC236}">
                <a16:creationId xmlns:a16="http://schemas.microsoft.com/office/drawing/2014/main" id="{A516C187-2A12-9ADC-515C-2D36C679A986}"/>
              </a:ext>
            </a:extLst>
          </p:cNvPr>
          <p:cNvSpPr txBox="1">
            <a:spLocks/>
          </p:cNvSpPr>
          <p:nvPr/>
        </p:nvSpPr>
        <p:spPr>
          <a:xfrm>
            <a:off x="889059" y="2480246"/>
            <a:ext cx="2432215" cy="8139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sz="2000" b="1" i="1" dirty="0">
                <a:latin typeface="News Gothic MT" panose="020B0503020103020203" pitchFamily="34" charset="0"/>
              </a:rPr>
              <a:t>~4h</a:t>
            </a:r>
          </a:p>
        </p:txBody>
      </p:sp>
    </p:spTree>
    <p:extLst>
      <p:ext uri="{BB962C8B-B14F-4D97-AF65-F5344CB8AC3E}">
        <p14:creationId xmlns:p14="http://schemas.microsoft.com/office/powerpoint/2010/main" val="696802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B1EDD-FF63-FC72-6654-8160B27CEE7D}"/>
            </a:ext>
          </a:extLst>
        </p:cNvPr>
        <p:cNvGrpSpPr/>
        <p:nvPr/>
      </p:nvGrpSpPr>
      <p:grpSpPr>
        <a:xfrm>
          <a:off x="0" y="0"/>
          <a:ext cx="0" cy="0"/>
          <a:chOff x="0" y="0"/>
          <a:chExt cx="0" cy="0"/>
        </a:xfrm>
      </p:grpSpPr>
      <p:pic>
        <p:nvPicPr>
          <p:cNvPr id="5" name="Picture 4" descr="Figure 1: The lifetime of an engram.">
            <a:extLst>
              <a:ext uri="{FF2B5EF4-FFF2-40B4-BE49-F238E27FC236}">
                <a16:creationId xmlns:a16="http://schemas.microsoft.com/office/drawing/2014/main" id="{4A25CFD1-0DBF-D354-DA94-B430CC583AA7}"/>
              </a:ext>
            </a:extLst>
          </p:cNvPr>
          <p:cNvPicPr>
            <a:picLocks noChangeAspect="1"/>
          </p:cNvPicPr>
          <p:nvPr/>
        </p:nvPicPr>
        <p:blipFill>
          <a:blip r:embed="rId2"/>
          <a:stretch>
            <a:fillRect/>
          </a:stretch>
        </p:blipFill>
        <p:spPr>
          <a:xfrm>
            <a:off x="0" y="1154243"/>
            <a:ext cx="7649751" cy="4291146"/>
          </a:xfrm>
          <a:prstGeom prst="rect">
            <a:avLst/>
          </a:prstGeom>
        </p:spPr>
      </p:pic>
      <p:sp>
        <p:nvSpPr>
          <p:cNvPr id="7" name="Content Placeholder 2">
            <a:extLst>
              <a:ext uri="{FF2B5EF4-FFF2-40B4-BE49-F238E27FC236}">
                <a16:creationId xmlns:a16="http://schemas.microsoft.com/office/drawing/2014/main" id="{EC206481-E072-2324-DDFE-37F35FEF7B15}"/>
              </a:ext>
            </a:extLst>
          </p:cNvPr>
          <p:cNvSpPr txBox="1">
            <a:spLocks/>
          </p:cNvSpPr>
          <p:nvPr/>
        </p:nvSpPr>
        <p:spPr>
          <a:xfrm>
            <a:off x="3402768" y="5712775"/>
            <a:ext cx="3294148" cy="8139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AU" sz="2000" i="1" dirty="0">
                <a:latin typeface="News Gothic MT" panose="020B0503020103020203" pitchFamily="34" charset="0"/>
              </a:rPr>
              <a:t>Josselyn et al., 2015</a:t>
            </a:r>
          </a:p>
        </p:txBody>
      </p:sp>
    </p:spTree>
    <p:extLst>
      <p:ext uri="{BB962C8B-B14F-4D97-AF65-F5344CB8AC3E}">
        <p14:creationId xmlns:p14="http://schemas.microsoft.com/office/powerpoint/2010/main" val="3861904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33DF-89B0-D9F3-33FF-8A9920BDAD02}"/>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89FE705-2C5D-902C-69D2-572E0F11725C}"/>
              </a:ext>
            </a:extLst>
          </p:cNvPr>
          <p:cNvSpPr txBox="1">
            <a:spLocks/>
          </p:cNvSpPr>
          <p:nvPr/>
        </p:nvSpPr>
        <p:spPr>
          <a:xfrm>
            <a:off x="0" y="163774"/>
            <a:ext cx="758883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t>Systems Memory Consolidation</a:t>
            </a:r>
            <a:endParaRPr lang="en-AU" dirty="0"/>
          </a:p>
          <a:p>
            <a:r>
              <a:rPr lang="en-AU" sz="2400" dirty="0"/>
              <a:t>With time, memories formed in the hippocampus are transferred to the neocortex for long-term storage</a:t>
            </a:r>
          </a:p>
          <a:p>
            <a:r>
              <a:rPr lang="en-AU" sz="2400" dirty="0"/>
              <a:t>Hippocampal engrams weaken, as the new cortical engrams strengthen (Kitamura et al., 2017)</a:t>
            </a:r>
          </a:p>
        </p:txBody>
      </p:sp>
      <p:pic>
        <p:nvPicPr>
          <p:cNvPr id="7" name="Picture 6" descr="Mechanisms of systems memory consolidation during sleep | Nature  Neuroscience">
            <a:extLst>
              <a:ext uri="{FF2B5EF4-FFF2-40B4-BE49-F238E27FC236}">
                <a16:creationId xmlns:a16="http://schemas.microsoft.com/office/drawing/2014/main" id="{17A56A52-EFB1-6210-7C7B-4064507AA071}"/>
              </a:ext>
            </a:extLst>
          </p:cNvPr>
          <p:cNvPicPr>
            <a:picLocks noChangeAspect="1"/>
          </p:cNvPicPr>
          <p:nvPr/>
        </p:nvPicPr>
        <p:blipFill>
          <a:blip r:embed="rId2"/>
          <a:stretch>
            <a:fillRect/>
          </a:stretch>
        </p:blipFill>
        <p:spPr>
          <a:xfrm>
            <a:off x="226054" y="3248719"/>
            <a:ext cx="6351602" cy="3302833"/>
          </a:xfrm>
          <a:prstGeom prst="rect">
            <a:avLst/>
          </a:prstGeom>
        </p:spPr>
      </p:pic>
      <p:sp>
        <p:nvSpPr>
          <p:cNvPr id="8" name="Content Placeholder 2">
            <a:extLst>
              <a:ext uri="{FF2B5EF4-FFF2-40B4-BE49-F238E27FC236}">
                <a16:creationId xmlns:a16="http://schemas.microsoft.com/office/drawing/2014/main" id="{A969FA21-5502-8188-9E46-5BF18AF81ED3}"/>
              </a:ext>
            </a:extLst>
          </p:cNvPr>
          <p:cNvSpPr txBox="1">
            <a:spLocks/>
          </p:cNvSpPr>
          <p:nvPr/>
        </p:nvSpPr>
        <p:spPr>
          <a:xfrm>
            <a:off x="3538341" y="6458537"/>
            <a:ext cx="3294148" cy="8139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AU" sz="2000" i="1" dirty="0">
                <a:latin typeface="News Gothic MT" panose="020B0503020103020203" pitchFamily="34" charset="0"/>
              </a:rPr>
              <a:t>Klinzing et al., 2019</a:t>
            </a:r>
          </a:p>
        </p:txBody>
      </p:sp>
    </p:spTree>
    <p:extLst>
      <p:ext uri="{BB962C8B-B14F-4D97-AF65-F5344CB8AC3E}">
        <p14:creationId xmlns:p14="http://schemas.microsoft.com/office/powerpoint/2010/main" val="4030245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4DBD6-0DB9-4A77-8CD2-43EEFF6C3B9B}"/>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F9FB26F-39ED-8629-EFAF-A5E882AFCD6F}"/>
              </a:ext>
            </a:extLst>
          </p:cNvPr>
          <p:cNvSpPr txBox="1">
            <a:spLocks/>
          </p:cNvSpPr>
          <p:nvPr/>
        </p:nvSpPr>
        <p:spPr>
          <a:xfrm>
            <a:off x="0" y="441651"/>
            <a:ext cx="8529403" cy="62445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3600" b="1" dirty="0"/>
              <a:t>The Neural Legacy of Fear and Trauma:</a:t>
            </a:r>
          </a:p>
          <a:p>
            <a:pPr marL="0" indent="0">
              <a:buNone/>
            </a:pPr>
            <a:endParaRPr lang="en-AU" sz="3600" i="1" dirty="0"/>
          </a:p>
          <a:p>
            <a:r>
              <a:rPr lang="en-AU" sz="2400" dirty="0"/>
              <a:t>The BLA helps us associate certain environments and stimuli with potential threats</a:t>
            </a:r>
          </a:p>
          <a:p>
            <a:r>
              <a:rPr lang="en-AU" sz="2400" dirty="0"/>
              <a:t>The </a:t>
            </a:r>
            <a:r>
              <a:rPr lang="en-AU" sz="2400" dirty="0" err="1"/>
              <a:t>CeA</a:t>
            </a:r>
            <a:r>
              <a:rPr lang="en-AU" sz="2400" dirty="0"/>
              <a:t> helps us respond defensively</a:t>
            </a:r>
          </a:p>
          <a:p>
            <a:r>
              <a:rPr lang="en-AU" sz="2400" dirty="0"/>
              <a:t>The hippocampus forms contextually-rich episodic memories about the traumatic event</a:t>
            </a:r>
          </a:p>
          <a:p>
            <a:r>
              <a:rPr lang="en-AU" sz="2400" dirty="0"/>
              <a:t>These episodic memories become plastic and susceptible to editing every time they are recalled/reactivated </a:t>
            </a:r>
          </a:p>
          <a:p>
            <a:r>
              <a:rPr lang="en-AU" sz="2400" dirty="0"/>
              <a:t>As the memory shifts from the hippocampus to the cortex, it becomes further susceptible to “editing”</a:t>
            </a:r>
          </a:p>
        </p:txBody>
      </p:sp>
    </p:spTree>
    <p:extLst>
      <p:ext uri="{BB962C8B-B14F-4D97-AF65-F5344CB8AC3E}">
        <p14:creationId xmlns:p14="http://schemas.microsoft.com/office/powerpoint/2010/main" val="2473104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5ADBF-E9D8-849F-4882-E2E5CD5191A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EBB5384-2FD9-7CA8-E081-F2D3E7C286EC}"/>
              </a:ext>
            </a:extLst>
          </p:cNvPr>
          <p:cNvPicPr>
            <a:picLocks noChangeAspect="1"/>
          </p:cNvPicPr>
          <p:nvPr/>
        </p:nvPicPr>
        <p:blipFill>
          <a:blip r:embed="rId2"/>
          <a:stretch>
            <a:fillRect/>
          </a:stretch>
        </p:blipFill>
        <p:spPr>
          <a:xfrm>
            <a:off x="0" y="9378"/>
            <a:ext cx="4559496" cy="3419622"/>
          </a:xfrm>
          <a:prstGeom prst="rect">
            <a:avLst/>
          </a:prstGeom>
        </p:spPr>
      </p:pic>
      <p:pic>
        <p:nvPicPr>
          <p:cNvPr id="12" name="Picture 11">
            <a:extLst>
              <a:ext uri="{FF2B5EF4-FFF2-40B4-BE49-F238E27FC236}">
                <a16:creationId xmlns:a16="http://schemas.microsoft.com/office/drawing/2014/main" id="{054061E0-548A-B916-47C1-9F7C60CAED09}"/>
              </a:ext>
            </a:extLst>
          </p:cNvPr>
          <p:cNvPicPr>
            <a:picLocks noChangeAspect="1"/>
          </p:cNvPicPr>
          <p:nvPr/>
        </p:nvPicPr>
        <p:blipFill>
          <a:blip r:embed="rId3"/>
          <a:stretch>
            <a:fillRect/>
          </a:stretch>
        </p:blipFill>
        <p:spPr>
          <a:xfrm>
            <a:off x="0" y="3487056"/>
            <a:ext cx="4559496" cy="3419622"/>
          </a:xfrm>
          <a:prstGeom prst="rect">
            <a:avLst/>
          </a:prstGeom>
        </p:spPr>
      </p:pic>
    </p:spTree>
    <p:extLst>
      <p:ext uri="{BB962C8B-B14F-4D97-AF65-F5344CB8AC3E}">
        <p14:creationId xmlns:p14="http://schemas.microsoft.com/office/powerpoint/2010/main" val="2150954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9F6D-8177-10E2-4412-1B2AD82C8E1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64D6C7E1-F143-BD64-201E-8E2CEB5DC2F4}"/>
              </a:ext>
            </a:extLst>
          </p:cNvPr>
          <p:cNvPicPr>
            <a:picLocks noChangeAspect="1"/>
          </p:cNvPicPr>
          <p:nvPr/>
        </p:nvPicPr>
        <p:blipFill>
          <a:blip r:embed="rId2"/>
          <a:stretch>
            <a:fillRect/>
          </a:stretch>
        </p:blipFill>
        <p:spPr>
          <a:xfrm>
            <a:off x="116114" y="1111395"/>
            <a:ext cx="5625906" cy="4219430"/>
          </a:xfrm>
          <a:prstGeom prst="rect">
            <a:avLst/>
          </a:prstGeom>
        </p:spPr>
      </p:pic>
    </p:spTree>
    <p:extLst>
      <p:ext uri="{BB962C8B-B14F-4D97-AF65-F5344CB8AC3E}">
        <p14:creationId xmlns:p14="http://schemas.microsoft.com/office/powerpoint/2010/main" val="157472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27FD6-93B3-C899-1062-4249AD9F640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94D67AA-64E2-358A-1F5E-571C2AA21441}"/>
              </a:ext>
            </a:extLst>
          </p:cNvPr>
          <p:cNvPicPr>
            <a:picLocks noChangeAspect="1"/>
          </p:cNvPicPr>
          <p:nvPr/>
        </p:nvPicPr>
        <p:blipFill>
          <a:blip r:embed="rId2"/>
          <a:srcRect t="14671" b="19007"/>
          <a:stretch>
            <a:fillRect/>
          </a:stretch>
        </p:blipFill>
        <p:spPr>
          <a:xfrm>
            <a:off x="120650" y="2074482"/>
            <a:ext cx="6464300" cy="3251201"/>
          </a:xfrm>
          <a:prstGeom prst="rect">
            <a:avLst/>
          </a:prstGeom>
        </p:spPr>
      </p:pic>
    </p:spTree>
    <p:extLst>
      <p:ext uri="{BB962C8B-B14F-4D97-AF65-F5344CB8AC3E}">
        <p14:creationId xmlns:p14="http://schemas.microsoft.com/office/powerpoint/2010/main" val="3327317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809CAD-9981-E876-0C96-9528F8F95D2C}"/>
              </a:ext>
            </a:extLst>
          </p:cNvPr>
          <p:cNvPicPr>
            <a:picLocks noChangeAspect="1"/>
          </p:cNvPicPr>
          <p:nvPr/>
        </p:nvPicPr>
        <p:blipFill>
          <a:blip r:embed="rId2"/>
          <a:stretch>
            <a:fillRect/>
          </a:stretch>
        </p:blipFill>
        <p:spPr>
          <a:xfrm>
            <a:off x="259314" y="1212405"/>
            <a:ext cx="5796510" cy="2212195"/>
          </a:xfrm>
          <a:prstGeom prst="rect">
            <a:avLst/>
          </a:prstGeom>
        </p:spPr>
      </p:pic>
      <p:pic>
        <p:nvPicPr>
          <p:cNvPr id="3" name="Picture 2">
            <a:extLst>
              <a:ext uri="{FF2B5EF4-FFF2-40B4-BE49-F238E27FC236}">
                <a16:creationId xmlns:a16="http://schemas.microsoft.com/office/drawing/2014/main" id="{9C6FA5C5-6939-EB09-10D1-634F6ACA124F}"/>
              </a:ext>
            </a:extLst>
          </p:cNvPr>
          <p:cNvPicPr>
            <a:picLocks noChangeAspect="1"/>
          </p:cNvPicPr>
          <p:nvPr/>
        </p:nvPicPr>
        <p:blipFill>
          <a:blip r:embed="rId3"/>
          <a:stretch>
            <a:fillRect/>
          </a:stretch>
        </p:blipFill>
        <p:spPr>
          <a:xfrm>
            <a:off x="259314" y="3424600"/>
            <a:ext cx="5685926" cy="622744"/>
          </a:xfrm>
          <a:prstGeom prst="rect">
            <a:avLst/>
          </a:prstGeom>
        </p:spPr>
      </p:pic>
    </p:spTree>
    <p:extLst>
      <p:ext uri="{BB962C8B-B14F-4D97-AF65-F5344CB8AC3E}">
        <p14:creationId xmlns:p14="http://schemas.microsoft.com/office/powerpoint/2010/main" val="2828000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41AE9-CBFB-739B-64EC-9D264D75B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1151B-BD32-AD08-7666-F944382D7594}"/>
              </a:ext>
            </a:extLst>
          </p:cNvPr>
          <p:cNvSpPr>
            <a:spLocks noGrp="1"/>
          </p:cNvSpPr>
          <p:nvPr>
            <p:ph type="title"/>
          </p:nvPr>
        </p:nvSpPr>
        <p:spPr>
          <a:xfrm>
            <a:off x="0" y="18255"/>
            <a:ext cx="10515600" cy="1325563"/>
          </a:xfrm>
        </p:spPr>
        <p:txBody>
          <a:bodyPr/>
          <a:lstStyle/>
          <a:p>
            <a:r>
              <a:rPr lang="en-AU" dirty="0"/>
              <a:t>At the Cutting Edge</a:t>
            </a:r>
          </a:p>
        </p:txBody>
      </p:sp>
      <p:sp>
        <p:nvSpPr>
          <p:cNvPr id="3" name="Content Placeholder 2">
            <a:extLst>
              <a:ext uri="{FF2B5EF4-FFF2-40B4-BE49-F238E27FC236}">
                <a16:creationId xmlns:a16="http://schemas.microsoft.com/office/drawing/2014/main" id="{82364C64-68E9-ED10-BF2A-25E3A04EA3D1}"/>
              </a:ext>
            </a:extLst>
          </p:cNvPr>
          <p:cNvSpPr>
            <a:spLocks noGrp="1"/>
          </p:cNvSpPr>
          <p:nvPr>
            <p:ph idx="1"/>
          </p:nvPr>
        </p:nvSpPr>
        <p:spPr>
          <a:xfrm>
            <a:off x="116113" y="1251680"/>
            <a:ext cx="7663782" cy="4351338"/>
          </a:xfrm>
        </p:spPr>
        <p:txBody>
          <a:bodyPr/>
          <a:lstStyle/>
          <a:p>
            <a:pPr marL="0" indent="0">
              <a:buNone/>
            </a:pPr>
            <a:r>
              <a:rPr lang="en-AU" b="1" i="1" dirty="0"/>
              <a:t>Optogenetics</a:t>
            </a:r>
          </a:p>
          <a:p>
            <a:r>
              <a:rPr lang="en-AU" dirty="0"/>
              <a:t>Light-sensitive channels virally implanted into neurons</a:t>
            </a:r>
          </a:p>
          <a:p>
            <a:r>
              <a:rPr lang="en-AU" dirty="0"/>
              <a:t>Optical fibre implanted in brain for laser stimulation</a:t>
            </a:r>
          </a:p>
          <a:p>
            <a:r>
              <a:rPr lang="en-AU" dirty="0"/>
              <a:t>Neurons can be turned on and off as the animal is performing a task</a:t>
            </a:r>
          </a:p>
        </p:txBody>
      </p:sp>
      <p:pic>
        <p:nvPicPr>
          <p:cNvPr id="4" name="Picture 3" descr="Optogenetics | Nature Methods">
            <a:extLst>
              <a:ext uri="{FF2B5EF4-FFF2-40B4-BE49-F238E27FC236}">
                <a16:creationId xmlns:a16="http://schemas.microsoft.com/office/drawing/2014/main" id="{CE4CE7A5-CE15-1828-DA12-38245D03C79A}"/>
              </a:ext>
            </a:extLst>
          </p:cNvPr>
          <p:cNvPicPr>
            <a:picLocks noChangeAspect="1"/>
          </p:cNvPicPr>
          <p:nvPr/>
        </p:nvPicPr>
        <p:blipFill>
          <a:blip r:embed="rId2"/>
          <a:stretch>
            <a:fillRect/>
          </a:stretch>
        </p:blipFill>
        <p:spPr>
          <a:xfrm>
            <a:off x="116113" y="4722020"/>
            <a:ext cx="6007100" cy="2057400"/>
          </a:xfrm>
          <a:prstGeom prst="rect">
            <a:avLst/>
          </a:prstGeom>
        </p:spPr>
      </p:pic>
    </p:spTree>
    <p:extLst>
      <p:ext uri="{BB962C8B-B14F-4D97-AF65-F5344CB8AC3E}">
        <p14:creationId xmlns:p14="http://schemas.microsoft.com/office/powerpoint/2010/main" val="3208769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9C4B5-E4B6-A45E-D972-95300BFEE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A5ACA-3900-1A7A-8569-978D9144DF50}"/>
              </a:ext>
            </a:extLst>
          </p:cNvPr>
          <p:cNvSpPr>
            <a:spLocks noGrp="1"/>
          </p:cNvSpPr>
          <p:nvPr>
            <p:ph type="title"/>
          </p:nvPr>
        </p:nvSpPr>
        <p:spPr>
          <a:xfrm>
            <a:off x="0" y="18255"/>
            <a:ext cx="10515600" cy="1325563"/>
          </a:xfrm>
        </p:spPr>
        <p:txBody>
          <a:bodyPr/>
          <a:lstStyle/>
          <a:p>
            <a:r>
              <a:rPr lang="en-AU" dirty="0"/>
              <a:t>At the Cutting Edge</a:t>
            </a:r>
          </a:p>
        </p:txBody>
      </p:sp>
      <p:sp>
        <p:nvSpPr>
          <p:cNvPr id="3" name="Content Placeholder 2">
            <a:extLst>
              <a:ext uri="{FF2B5EF4-FFF2-40B4-BE49-F238E27FC236}">
                <a16:creationId xmlns:a16="http://schemas.microsoft.com/office/drawing/2014/main" id="{F1428CFF-B11D-80EA-3FEA-23619DD5DA93}"/>
              </a:ext>
            </a:extLst>
          </p:cNvPr>
          <p:cNvSpPr>
            <a:spLocks noGrp="1"/>
          </p:cNvSpPr>
          <p:nvPr>
            <p:ph idx="1"/>
          </p:nvPr>
        </p:nvSpPr>
        <p:spPr>
          <a:xfrm>
            <a:off x="176073" y="1343817"/>
            <a:ext cx="6615020" cy="5123889"/>
          </a:xfrm>
        </p:spPr>
        <p:txBody>
          <a:bodyPr/>
          <a:lstStyle/>
          <a:p>
            <a:pPr marL="0" indent="0">
              <a:buNone/>
            </a:pPr>
            <a:r>
              <a:rPr lang="en-AU" b="1" i="1" dirty="0"/>
              <a:t>Capturing Engrams</a:t>
            </a:r>
          </a:p>
          <a:p>
            <a:r>
              <a:rPr lang="en-AU" dirty="0"/>
              <a:t>Technique that allows implantation of light sensitive channels (optogenetics) specifically within the engram associated with a discrete memory</a:t>
            </a:r>
          </a:p>
          <a:p>
            <a:r>
              <a:rPr lang="en-AU" dirty="0"/>
              <a:t>This allows the memory to be activated or silenced when light is delivered to the brain region of interest</a:t>
            </a:r>
          </a:p>
        </p:txBody>
      </p:sp>
    </p:spTree>
    <p:extLst>
      <p:ext uri="{BB962C8B-B14F-4D97-AF65-F5344CB8AC3E}">
        <p14:creationId xmlns:p14="http://schemas.microsoft.com/office/powerpoint/2010/main" val="1523384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8635-CD04-65F6-0ECD-9169DD81FC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9A4598-CC9A-2007-FB2C-23C30401D6B5}"/>
              </a:ext>
            </a:extLst>
          </p:cNvPr>
          <p:cNvSpPr>
            <a:spLocks noGrp="1"/>
          </p:cNvSpPr>
          <p:nvPr>
            <p:ph idx="1"/>
          </p:nvPr>
        </p:nvSpPr>
        <p:spPr>
          <a:xfrm>
            <a:off x="176072" y="184091"/>
            <a:ext cx="6615020" cy="5123889"/>
          </a:xfrm>
        </p:spPr>
        <p:txBody>
          <a:bodyPr/>
          <a:lstStyle/>
          <a:p>
            <a:pPr marL="0" indent="0">
              <a:buNone/>
            </a:pPr>
            <a:r>
              <a:rPr lang="en-AU" b="1" i="1" dirty="0"/>
              <a:t>Kitamura et al., 2017</a:t>
            </a:r>
          </a:p>
          <a:p>
            <a:pPr marL="0" indent="0">
              <a:buNone/>
            </a:pPr>
            <a:r>
              <a:rPr lang="en-AU" sz="2400" i="1" dirty="0"/>
              <a:t>Used engram capture to examine systems memory consolidation</a:t>
            </a:r>
            <a:endParaRPr lang="en-AU" sz="2400" dirty="0"/>
          </a:p>
        </p:txBody>
      </p:sp>
      <p:pic>
        <p:nvPicPr>
          <p:cNvPr id="6" name="Picture 5">
            <a:extLst>
              <a:ext uri="{FF2B5EF4-FFF2-40B4-BE49-F238E27FC236}">
                <a16:creationId xmlns:a16="http://schemas.microsoft.com/office/drawing/2014/main" id="{EED7DFB3-AD5A-F1F1-058F-53308F896F14}"/>
              </a:ext>
            </a:extLst>
          </p:cNvPr>
          <p:cNvPicPr>
            <a:picLocks noChangeAspect="1"/>
          </p:cNvPicPr>
          <p:nvPr/>
        </p:nvPicPr>
        <p:blipFill>
          <a:blip r:embed="rId2"/>
          <a:srcRect t="4872"/>
          <a:stretch>
            <a:fillRect/>
          </a:stretch>
        </p:blipFill>
        <p:spPr>
          <a:xfrm>
            <a:off x="301083" y="1739590"/>
            <a:ext cx="4362760" cy="1488356"/>
          </a:xfrm>
          <a:prstGeom prst="rect">
            <a:avLst/>
          </a:prstGeom>
        </p:spPr>
      </p:pic>
      <p:sp>
        <p:nvSpPr>
          <p:cNvPr id="7" name="TextBox 6">
            <a:extLst>
              <a:ext uri="{FF2B5EF4-FFF2-40B4-BE49-F238E27FC236}">
                <a16:creationId xmlns:a16="http://schemas.microsoft.com/office/drawing/2014/main" id="{BFCD533C-1EB8-90ED-7BCC-AB488743CC75}"/>
              </a:ext>
            </a:extLst>
          </p:cNvPr>
          <p:cNvSpPr txBox="1"/>
          <p:nvPr/>
        </p:nvSpPr>
        <p:spPr>
          <a:xfrm>
            <a:off x="555213" y="3276064"/>
            <a:ext cx="4237463" cy="2862322"/>
          </a:xfrm>
          <a:prstGeom prst="rect">
            <a:avLst/>
          </a:prstGeom>
          <a:noFill/>
        </p:spPr>
        <p:txBody>
          <a:bodyPr wrap="square" rtlCol="0">
            <a:spAutoFit/>
          </a:bodyPr>
          <a:lstStyle/>
          <a:p>
            <a:r>
              <a:rPr lang="en-AU" dirty="0"/>
              <a:t>Mice were placed in Context A and given several foot shocks. They learn to fear Context A, but normally do not express fear in a novel context B.</a:t>
            </a:r>
          </a:p>
          <a:p>
            <a:endParaRPr lang="en-AU" dirty="0"/>
          </a:p>
          <a:p>
            <a:r>
              <a:rPr lang="en-AU" dirty="0"/>
              <a:t>Here, the fear conditioning engram is captured on Day 1 and tagged with a light-sensitive channel. When blue light is delivered to the brain, it “turns the engram on”.</a:t>
            </a:r>
          </a:p>
        </p:txBody>
      </p:sp>
    </p:spTree>
    <p:extLst>
      <p:ext uri="{BB962C8B-B14F-4D97-AF65-F5344CB8AC3E}">
        <p14:creationId xmlns:p14="http://schemas.microsoft.com/office/powerpoint/2010/main" val="2611887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A9235-CB7C-9357-BACA-567500B7CE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362A03-FC4F-2B76-C8EF-7E220D30355A}"/>
              </a:ext>
            </a:extLst>
          </p:cNvPr>
          <p:cNvSpPr>
            <a:spLocks noGrp="1"/>
          </p:cNvSpPr>
          <p:nvPr>
            <p:ph idx="1"/>
          </p:nvPr>
        </p:nvSpPr>
        <p:spPr>
          <a:xfrm>
            <a:off x="176072" y="184091"/>
            <a:ext cx="6615020" cy="5123889"/>
          </a:xfrm>
        </p:spPr>
        <p:txBody>
          <a:bodyPr/>
          <a:lstStyle/>
          <a:p>
            <a:pPr marL="0" indent="0">
              <a:buNone/>
            </a:pPr>
            <a:r>
              <a:rPr lang="en-AU" b="1" i="1" dirty="0"/>
              <a:t>Kitamura et al., 2017</a:t>
            </a:r>
          </a:p>
        </p:txBody>
      </p:sp>
      <p:sp>
        <p:nvSpPr>
          <p:cNvPr id="7" name="TextBox 6">
            <a:extLst>
              <a:ext uri="{FF2B5EF4-FFF2-40B4-BE49-F238E27FC236}">
                <a16:creationId xmlns:a16="http://schemas.microsoft.com/office/drawing/2014/main" id="{3B3E176F-D3DB-6E8E-E761-46F91BE3DDFB}"/>
              </a:ext>
            </a:extLst>
          </p:cNvPr>
          <p:cNvSpPr txBox="1"/>
          <p:nvPr/>
        </p:nvSpPr>
        <p:spPr>
          <a:xfrm>
            <a:off x="309887" y="3429000"/>
            <a:ext cx="4237463" cy="1754326"/>
          </a:xfrm>
          <a:prstGeom prst="rect">
            <a:avLst/>
          </a:prstGeom>
          <a:noFill/>
        </p:spPr>
        <p:txBody>
          <a:bodyPr wrap="square" rtlCol="0">
            <a:spAutoFit/>
          </a:bodyPr>
          <a:lstStyle/>
          <a:p>
            <a:r>
              <a:rPr lang="en-AU" dirty="0"/>
              <a:t>When mice are tested 2 or 12 days later in Context B, they show no fear at baseline. When blue light is delivered, the fear conditioning engram activates, and the animals show fear.</a:t>
            </a:r>
          </a:p>
          <a:p>
            <a:endParaRPr lang="en-AU" dirty="0"/>
          </a:p>
        </p:txBody>
      </p:sp>
      <p:pic>
        <p:nvPicPr>
          <p:cNvPr id="2" name="Picture 1">
            <a:extLst>
              <a:ext uri="{FF2B5EF4-FFF2-40B4-BE49-F238E27FC236}">
                <a16:creationId xmlns:a16="http://schemas.microsoft.com/office/drawing/2014/main" id="{4B84E301-C695-EA4B-D774-89AA118E3C89}"/>
              </a:ext>
            </a:extLst>
          </p:cNvPr>
          <p:cNvPicPr>
            <a:picLocks noChangeAspect="1"/>
          </p:cNvPicPr>
          <p:nvPr/>
        </p:nvPicPr>
        <p:blipFill>
          <a:blip r:embed="rId2"/>
          <a:stretch>
            <a:fillRect/>
          </a:stretch>
        </p:blipFill>
        <p:spPr>
          <a:xfrm>
            <a:off x="705160" y="1472735"/>
            <a:ext cx="3277526" cy="1627303"/>
          </a:xfrm>
          <a:prstGeom prst="rect">
            <a:avLst/>
          </a:prstGeom>
        </p:spPr>
      </p:pic>
    </p:spTree>
    <p:extLst>
      <p:ext uri="{BB962C8B-B14F-4D97-AF65-F5344CB8AC3E}">
        <p14:creationId xmlns:p14="http://schemas.microsoft.com/office/powerpoint/2010/main" val="1440253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573E4-951F-6731-6DF3-FA5DB2464D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69198-9CC1-47E3-390F-0D7E7A14F3AD}"/>
              </a:ext>
            </a:extLst>
          </p:cNvPr>
          <p:cNvSpPr>
            <a:spLocks noGrp="1"/>
          </p:cNvSpPr>
          <p:nvPr>
            <p:ph idx="1"/>
          </p:nvPr>
        </p:nvSpPr>
        <p:spPr>
          <a:xfrm>
            <a:off x="176072" y="184091"/>
            <a:ext cx="6615020" cy="5123889"/>
          </a:xfrm>
        </p:spPr>
        <p:txBody>
          <a:bodyPr/>
          <a:lstStyle/>
          <a:p>
            <a:pPr marL="0" indent="0">
              <a:buNone/>
            </a:pPr>
            <a:r>
              <a:rPr lang="en-AU" b="1" i="1" dirty="0"/>
              <a:t>Kitamura et al., 2017</a:t>
            </a:r>
          </a:p>
        </p:txBody>
      </p:sp>
      <p:sp>
        <p:nvSpPr>
          <p:cNvPr id="8" name="TextBox 7">
            <a:extLst>
              <a:ext uri="{FF2B5EF4-FFF2-40B4-BE49-F238E27FC236}">
                <a16:creationId xmlns:a16="http://schemas.microsoft.com/office/drawing/2014/main" id="{B0E91D61-5420-BFC7-2248-47DAD6338B81}"/>
              </a:ext>
            </a:extLst>
          </p:cNvPr>
          <p:cNvSpPr txBox="1"/>
          <p:nvPr/>
        </p:nvSpPr>
        <p:spPr>
          <a:xfrm>
            <a:off x="176072" y="829740"/>
            <a:ext cx="6133170" cy="923330"/>
          </a:xfrm>
          <a:prstGeom prst="rect">
            <a:avLst/>
          </a:prstGeom>
          <a:noFill/>
        </p:spPr>
        <p:txBody>
          <a:bodyPr wrap="square" rtlCol="0">
            <a:spAutoFit/>
          </a:bodyPr>
          <a:lstStyle/>
          <a:p>
            <a:r>
              <a:rPr lang="en-AU" dirty="0"/>
              <a:t>Red: Labels neurons that were recently active</a:t>
            </a:r>
          </a:p>
          <a:p>
            <a:r>
              <a:rPr lang="en-AU" dirty="0"/>
              <a:t>Green: Labels engram</a:t>
            </a:r>
          </a:p>
          <a:p>
            <a:endParaRPr lang="en-AU" dirty="0"/>
          </a:p>
        </p:txBody>
      </p:sp>
      <p:pic>
        <p:nvPicPr>
          <p:cNvPr id="9" name="Picture 8">
            <a:extLst>
              <a:ext uri="{FF2B5EF4-FFF2-40B4-BE49-F238E27FC236}">
                <a16:creationId xmlns:a16="http://schemas.microsoft.com/office/drawing/2014/main" id="{8E650E54-CB19-759E-157F-0F674A95F581}"/>
              </a:ext>
            </a:extLst>
          </p:cNvPr>
          <p:cNvPicPr>
            <a:picLocks noChangeAspect="1"/>
          </p:cNvPicPr>
          <p:nvPr/>
        </p:nvPicPr>
        <p:blipFill>
          <a:blip r:embed="rId2"/>
          <a:stretch>
            <a:fillRect/>
          </a:stretch>
        </p:blipFill>
        <p:spPr>
          <a:xfrm>
            <a:off x="0" y="1523787"/>
            <a:ext cx="3034438" cy="1672831"/>
          </a:xfrm>
          <a:prstGeom prst="rect">
            <a:avLst/>
          </a:prstGeom>
        </p:spPr>
      </p:pic>
      <p:grpSp>
        <p:nvGrpSpPr>
          <p:cNvPr id="15" name="Group 14">
            <a:extLst>
              <a:ext uri="{FF2B5EF4-FFF2-40B4-BE49-F238E27FC236}">
                <a16:creationId xmlns:a16="http://schemas.microsoft.com/office/drawing/2014/main" id="{DE744C5D-1099-1CEB-8125-7F6F806C88DB}"/>
              </a:ext>
            </a:extLst>
          </p:cNvPr>
          <p:cNvGrpSpPr/>
          <p:nvPr/>
        </p:nvGrpSpPr>
        <p:grpSpPr>
          <a:xfrm>
            <a:off x="3242657" y="3369462"/>
            <a:ext cx="5065003" cy="1852105"/>
            <a:chOff x="176072" y="3338217"/>
            <a:chExt cx="5065003" cy="1852105"/>
          </a:xfrm>
        </p:grpSpPr>
        <p:sp>
          <p:nvSpPr>
            <p:cNvPr id="7" name="TextBox 6">
              <a:extLst>
                <a:ext uri="{FF2B5EF4-FFF2-40B4-BE49-F238E27FC236}">
                  <a16:creationId xmlns:a16="http://schemas.microsoft.com/office/drawing/2014/main" id="{4912F0A5-79D9-C506-A236-64EFE46E6D26}"/>
                </a:ext>
              </a:extLst>
            </p:cNvPr>
            <p:cNvSpPr txBox="1"/>
            <p:nvPr/>
          </p:nvSpPr>
          <p:spPr>
            <a:xfrm>
              <a:off x="176072" y="3338217"/>
              <a:ext cx="5065003" cy="646331"/>
            </a:xfrm>
            <a:prstGeom prst="rect">
              <a:avLst/>
            </a:prstGeom>
            <a:noFill/>
          </p:spPr>
          <p:txBody>
            <a:bodyPr wrap="square" rtlCol="0">
              <a:spAutoFit/>
            </a:bodyPr>
            <a:lstStyle/>
            <a:p>
              <a:r>
                <a:rPr lang="en-AU" dirty="0"/>
                <a:t>Prefrontal Engram</a:t>
              </a:r>
            </a:p>
            <a:p>
              <a:endParaRPr lang="en-AU" dirty="0"/>
            </a:p>
          </p:txBody>
        </p:sp>
        <p:pic>
          <p:nvPicPr>
            <p:cNvPr id="10" name="Picture 9">
              <a:extLst>
                <a:ext uri="{FF2B5EF4-FFF2-40B4-BE49-F238E27FC236}">
                  <a16:creationId xmlns:a16="http://schemas.microsoft.com/office/drawing/2014/main" id="{5A65675F-277D-CE47-586D-8DE730041532}"/>
                </a:ext>
              </a:extLst>
            </p:cNvPr>
            <p:cNvPicPr>
              <a:picLocks noChangeAspect="1"/>
            </p:cNvPicPr>
            <p:nvPr/>
          </p:nvPicPr>
          <p:blipFill>
            <a:blip r:embed="rId3"/>
            <a:stretch>
              <a:fillRect/>
            </a:stretch>
          </p:blipFill>
          <p:spPr>
            <a:xfrm>
              <a:off x="176072" y="3779041"/>
              <a:ext cx="2516784" cy="1411281"/>
            </a:xfrm>
            <a:prstGeom prst="rect">
              <a:avLst/>
            </a:prstGeom>
          </p:spPr>
        </p:pic>
      </p:grpSp>
      <p:sp>
        <p:nvSpPr>
          <p:cNvPr id="11" name="TextBox 10">
            <a:extLst>
              <a:ext uri="{FF2B5EF4-FFF2-40B4-BE49-F238E27FC236}">
                <a16:creationId xmlns:a16="http://schemas.microsoft.com/office/drawing/2014/main" id="{84E332E8-1534-D2FC-4530-0EDC8024832C}"/>
              </a:ext>
            </a:extLst>
          </p:cNvPr>
          <p:cNvSpPr txBox="1"/>
          <p:nvPr/>
        </p:nvSpPr>
        <p:spPr>
          <a:xfrm>
            <a:off x="176072" y="5481205"/>
            <a:ext cx="5065003" cy="1754326"/>
          </a:xfrm>
          <a:prstGeom prst="rect">
            <a:avLst/>
          </a:prstGeom>
          <a:noFill/>
        </p:spPr>
        <p:txBody>
          <a:bodyPr wrap="square" rtlCol="0">
            <a:spAutoFit/>
          </a:bodyPr>
          <a:lstStyle/>
          <a:p>
            <a:r>
              <a:rPr lang="en-AU" b="1" dirty="0"/>
              <a:t>Yellow bars: </a:t>
            </a:r>
            <a:r>
              <a:rPr lang="en-AU" dirty="0"/>
              <a:t>Engram neurons activated by re-exposure to fear conditioning context</a:t>
            </a:r>
          </a:p>
          <a:p>
            <a:r>
              <a:rPr lang="en-AU" b="1" dirty="0"/>
              <a:t>Red bars: </a:t>
            </a:r>
            <a:r>
              <a:rPr lang="en-AU" dirty="0"/>
              <a:t>Non-engram neurons activated by re-exposure to fear conditioning context</a:t>
            </a:r>
          </a:p>
          <a:p>
            <a:endParaRPr lang="en-AU" dirty="0"/>
          </a:p>
          <a:p>
            <a:endParaRPr lang="en-AU" dirty="0"/>
          </a:p>
        </p:txBody>
      </p:sp>
      <p:grpSp>
        <p:nvGrpSpPr>
          <p:cNvPr id="14" name="Group 13">
            <a:extLst>
              <a:ext uri="{FF2B5EF4-FFF2-40B4-BE49-F238E27FC236}">
                <a16:creationId xmlns:a16="http://schemas.microsoft.com/office/drawing/2014/main" id="{1F9941E8-0F45-1CEC-FD9F-0E5D69D24401}"/>
              </a:ext>
            </a:extLst>
          </p:cNvPr>
          <p:cNvGrpSpPr/>
          <p:nvPr/>
        </p:nvGrpSpPr>
        <p:grpSpPr>
          <a:xfrm>
            <a:off x="307125" y="3369843"/>
            <a:ext cx="5165488" cy="1859693"/>
            <a:chOff x="3260557" y="3330628"/>
            <a:chExt cx="5165488" cy="1859693"/>
          </a:xfrm>
        </p:grpSpPr>
        <p:pic>
          <p:nvPicPr>
            <p:cNvPr id="12" name="Picture 11">
              <a:extLst>
                <a:ext uri="{FF2B5EF4-FFF2-40B4-BE49-F238E27FC236}">
                  <a16:creationId xmlns:a16="http://schemas.microsoft.com/office/drawing/2014/main" id="{A46F28E7-EFF9-870B-27D0-3B18FED4D3D9}"/>
                </a:ext>
              </a:extLst>
            </p:cNvPr>
            <p:cNvPicPr>
              <a:picLocks noChangeAspect="1"/>
            </p:cNvPicPr>
            <p:nvPr/>
          </p:nvPicPr>
          <p:blipFill>
            <a:blip r:embed="rId4"/>
            <a:stretch>
              <a:fillRect/>
            </a:stretch>
          </p:blipFill>
          <p:spPr>
            <a:xfrm>
              <a:off x="3260557" y="3779040"/>
              <a:ext cx="2632987" cy="1411281"/>
            </a:xfrm>
            <a:prstGeom prst="rect">
              <a:avLst/>
            </a:prstGeom>
          </p:spPr>
        </p:pic>
        <p:sp>
          <p:nvSpPr>
            <p:cNvPr id="13" name="TextBox 12">
              <a:extLst>
                <a:ext uri="{FF2B5EF4-FFF2-40B4-BE49-F238E27FC236}">
                  <a16:creationId xmlns:a16="http://schemas.microsoft.com/office/drawing/2014/main" id="{1DDD087D-5F03-BD27-7E17-3126CDBBA270}"/>
                </a:ext>
              </a:extLst>
            </p:cNvPr>
            <p:cNvSpPr txBox="1"/>
            <p:nvPr/>
          </p:nvSpPr>
          <p:spPr>
            <a:xfrm>
              <a:off x="3361042" y="3330628"/>
              <a:ext cx="5065003" cy="646331"/>
            </a:xfrm>
            <a:prstGeom prst="rect">
              <a:avLst/>
            </a:prstGeom>
            <a:noFill/>
          </p:spPr>
          <p:txBody>
            <a:bodyPr wrap="square" rtlCol="0">
              <a:spAutoFit/>
            </a:bodyPr>
            <a:lstStyle/>
            <a:p>
              <a:r>
                <a:rPr lang="en-AU" dirty="0"/>
                <a:t>Hippocampus Engram</a:t>
              </a:r>
            </a:p>
            <a:p>
              <a:endParaRPr lang="en-AU" dirty="0"/>
            </a:p>
          </p:txBody>
        </p:sp>
      </p:grpSp>
    </p:spTree>
    <p:extLst>
      <p:ext uri="{BB962C8B-B14F-4D97-AF65-F5344CB8AC3E}">
        <p14:creationId xmlns:p14="http://schemas.microsoft.com/office/powerpoint/2010/main" val="4078104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5BAA7-6FBF-940D-D288-3B38C7D5D4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A6BF33-20E4-FC72-645C-8FCCD4D72439}"/>
              </a:ext>
            </a:extLst>
          </p:cNvPr>
          <p:cNvSpPr>
            <a:spLocks noGrp="1"/>
          </p:cNvSpPr>
          <p:nvPr>
            <p:ph idx="1"/>
          </p:nvPr>
        </p:nvSpPr>
        <p:spPr>
          <a:xfrm>
            <a:off x="176072" y="184091"/>
            <a:ext cx="6615020" cy="5123889"/>
          </a:xfrm>
        </p:spPr>
        <p:txBody>
          <a:bodyPr/>
          <a:lstStyle/>
          <a:p>
            <a:pPr marL="0" indent="0">
              <a:buNone/>
            </a:pPr>
            <a:r>
              <a:rPr lang="en-AU" b="1" i="1" dirty="0"/>
              <a:t>Kitamura et al., 2017</a:t>
            </a:r>
          </a:p>
        </p:txBody>
      </p:sp>
      <p:sp>
        <p:nvSpPr>
          <p:cNvPr id="7" name="TextBox 6">
            <a:extLst>
              <a:ext uri="{FF2B5EF4-FFF2-40B4-BE49-F238E27FC236}">
                <a16:creationId xmlns:a16="http://schemas.microsoft.com/office/drawing/2014/main" id="{97680477-BC5C-55DE-3406-168B48F5D6A7}"/>
              </a:ext>
            </a:extLst>
          </p:cNvPr>
          <p:cNvSpPr txBox="1"/>
          <p:nvPr/>
        </p:nvSpPr>
        <p:spPr>
          <a:xfrm>
            <a:off x="376792" y="3661382"/>
            <a:ext cx="5065003" cy="2585323"/>
          </a:xfrm>
          <a:prstGeom prst="rect">
            <a:avLst/>
          </a:prstGeom>
          <a:noFill/>
        </p:spPr>
        <p:txBody>
          <a:bodyPr wrap="square" rtlCol="0">
            <a:spAutoFit/>
          </a:bodyPr>
          <a:lstStyle/>
          <a:p>
            <a:pPr marL="285750" indent="-285750">
              <a:buFont typeface="Arial" panose="020B0604020202020204" pitchFamily="34" charset="0"/>
              <a:buChar char="•"/>
            </a:pPr>
            <a:r>
              <a:rPr lang="en-AU" dirty="0"/>
              <a:t>Hippocampal engram neurons have a lot of dendritic spines (indication of activity/excitation) 2 days after training but show a reduction in spines 15 days after training. Engram is weakening.</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The prefrontal engram neurons show the reverse pattern. Engram is strengthening.</a:t>
            </a:r>
          </a:p>
          <a:p>
            <a:pPr marL="285750" indent="-285750">
              <a:buFont typeface="Arial" panose="020B0604020202020204" pitchFamily="34" charset="0"/>
              <a:buChar char="•"/>
            </a:pPr>
            <a:endParaRPr lang="en-AU" dirty="0"/>
          </a:p>
        </p:txBody>
      </p:sp>
      <p:pic>
        <p:nvPicPr>
          <p:cNvPr id="4" name="Picture 3">
            <a:extLst>
              <a:ext uri="{FF2B5EF4-FFF2-40B4-BE49-F238E27FC236}">
                <a16:creationId xmlns:a16="http://schemas.microsoft.com/office/drawing/2014/main" id="{B08C96A9-BF4A-5119-F156-18966490205B}"/>
              </a:ext>
            </a:extLst>
          </p:cNvPr>
          <p:cNvPicPr>
            <a:picLocks noChangeAspect="1"/>
          </p:cNvPicPr>
          <p:nvPr/>
        </p:nvPicPr>
        <p:blipFill>
          <a:blip r:embed="rId2"/>
          <a:stretch>
            <a:fillRect/>
          </a:stretch>
        </p:blipFill>
        <p:spPr>
          <a:xfrm>
            <a:off x="3172336" y="1221678"/>
            <a:ext cx="1647778" cy="2112536"/>
          </a:xfrm>
          <a:prstGeom prst="rect">
            <a:avLst/>
          </a:prstGeom>
        </p:spPr>
      </p:pic>
      <p:pic>
        <p:nvPicPr>
          <p:cNvPr id="5" name="Picture 4">
            <a:extLst>
              <a:ext uri="{FF2B5EF4-FFF2-40B4-BE49-F238E27FC236}">
                <a16:creationId xmlns:a16="http://schemas.microsoft.com/office/drawing/2014/main" id="{C719A7C9-602A-3F89-8BBC-88D67F00E163}"/>
              </a:ext>
            </a:extLst>
          </p:cNvPr>
          <p:cNvPicPr>
            <a:picLocks noChangeAspect="1"/>
          </p:cNvPicPr>
          <p:nvPr/>
        </p:nvPicPr>
        <p:blipFill>
          <a:blip r:embed="rId3"/>
          <a:stretch>
            <a:fillRect/>
          </a:stretch>
        </p:blipFill>
        <p:spPr>
          <a:xfrm>
            <a:off x="655256" y="1053220"/>
            <a:ext cx="1647777" cy="2280064"/>
          </a:xfrm>
          <a:prstGeom prst="rect">
            <a:avLst/>
          </a:prstGeom>
        </p:spPr>
      </p:pic>
      <p:sp>
        <p:nvSpPr>
          <p:cNvPr id="6" name="TextBox 5">
            <a:extLst>
              <a:ext uri="{FF2B5EF4-FFF2-40B4-BE49-F238E27FC236}">
                <a16:creationId xmlns:a16="http://schemas.microsoft.com/office/drawing/2014/main" id="{0BEBED0E-BAD9-2E0A-ED01-9992093E82EE}"/>
              </a:ext>
            </a:extLst>
          </p:cNvPr>
          <p:cNvSpPr txBox="1"/>
          <p:nvPr/>
        </p:nvSpPr>
        <p:spPr>
          <a:xfrm>
            <a:off x="376793" y="725122"/>
            <a:ext cx="4237463" cy="646331"/>
          </a:xfrm>
          <a:prstGeom prst="rect">
            <a:avLst/>
          </a:prstGeom>
          <a:noFill/>
        </p:spPr>
        <p:txBody>
          <a:bodyPr wrap="square" rtlCol="0">
            <a:spAutoFit/>
          </a:bodyPr>
          <a:lstStyle/>
          <a:p>
            <a:r>
              <a:rPr lang="en-AU" dirty="0"/>
              <a:t>Hippocampus engram</a:t>
            </a:r>
          </a:p>
          <a:p>
            <a:endParaRPr lang="en-AU" dirty="0"/>
          </a:p>
        </p:txBody>
      </p:sp>
      <p:sp>
        <p:nvSpPr>
          <p:cNvPr id="8" name="TextBox 7">
            <a:extLst>
              <a:ext uri="{FF2B5EF4-FFF2-40B4-BE49-F238E27FC236}">
                <a16:creationId xmlns:a16="http://schemas.microsoft.com/office/drawing/2014/main" id="{20355FE7-E44A-D754-0783-1970115A633A}"/>
              </a:ext>
            </a:extLst>
          </p:cNvPr>
          <p:cNvSpPr txBox="1"/>
          <p:nvPr/>
        </p:nvSpPr>
        <p:spPr>
          <a:xfrm>
            <a:off x="2941574" y="725121"/>
            <a:ext cx="4237463" cy="646331"/>
          </a:xfrm>
          <a:prstGeom prst="rect">
            <a:avLst/>
          </a:prstGeom>
          <a:noFill/>
        </p:spPr>
        <p:txBody>
          <a:bodyPr wrap="square" rtlCol="0">
            <a:spAutoFit/>
          </a:bodyPr>
          <a:lstStyle/>
          <a:p>
            <a:r>
              <a:rPr lang="en-AU" dirty="0"/>
              <a:t>Prefrontal Cortex Engram</a:t>
            </a:r>
          </a:p>
          <a:p>
            <a:endParaRPr lang="en-AU" dirty="0"/>
          </a:p>
        </p:txBody>
      </p:sp>
    </p:spTree>
    <p:extLst>
      <p:ext uri="{BB962C8B-B14F-4D97-AF65-F5344CB8AC3E}">
        <p14:creationId xmlns:p14="http://schemas.microsoft.com/office/powerpoint/2010/main" val="2516800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3294</TotalTime>
  <Words>993</Words>
  <Application>Microsoft Macintosh PowerPoint</Application>
  <PresentationFormat>Widescreen</PresentationFormat>
  <Paragraphs>108</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Aptos Display</vt:lpstr>
      <vt:lpstr>Arial</vt:lpstr>
      <vt:lpstr>News Gothic MT</vt:lpstr>
      <vt:lpstr>Office Theme</vt:lpstr>
      <vt:lpstr> PSYC1003 Week 5: Neuroscience</vt:lpstr>
      <vt:lpstr>Outline</vt:lpstr>
      <vt:lpstr>PowerPoint Presentation</vt:lpstr>
      <vt:lpstr>PowerPoint Presentation</vt:lpstr>
      <vt:lpstr>PowerPoint Presentation</vt:lpstr>
      <vt:lpstr>PowerPoint Presentation</vt:lpstr>
      <vt:lpstr>PowerPoint Presentation</vt:lpstr>
      <vt:lpstr>PowerPoint Presentation</vt:lpstr>
      <vt:lpstr>How to make a (meaningful) memory</vt:lpstr>
      <vt:lpstr>PowerPoint Presentation</vt:lpstr>
      <vt:lpstr>PowerPoint Presentation</vt:lpstr>
      <vt:lpstr>How to make a memory</vt:lpstr>
      <vt:lpstr>PowerPoint Presentation</vt:lpstr>
      <vt:lpstr>PowerPoint Presentation</vt:lpstr>
      <vt:lpstr>PowerPoint Presentation</vt:lpstr>
      <vt:lpstr>PowerPoint Presentation</vt:lpstr>
      <vt:lpstr>PowerPoint Presentation</vt:lpstr>
      <vt:lpstr>Stages of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 the Cutting Edge</vt:lpstr>
      <vt:lpstr>At the Cutting Edge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20</cp:revision>
  <dcterms:created xsi:type="dcterms:W3CDTF">2026-08-30T02:45:28Z</dcterms:created>
  <dcterms:modified xsi:type="dcterms:W3CDTF">2026-09-02T00:45:33Z</dcterms:modified>
</cp:coreProperties>
</file>