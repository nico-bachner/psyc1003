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1" r:id="rId2"/>
    <p:sldId id="275" r:id="rId3"/>
    <p:sldId id="270" r:id="rId4"/>
    <p:sldId id="295" r:id="rId5"/>
    <p:sldId id="296" r:id="rId6"/>
    <p:sldId id="292" r:id="rId7"/>
    <p:sldId id="293" r:id="rId8"/>
    <p:sldId id="294" r:id="rId9"/>
    <p:sldId id="325" r:id="rId10"/>
    <p:sldId id="330" r:id="rId11"/>
    <p:sldId id="332" r:id="rId12"/>
    <p:sldId id="334" r:id="rId13"/>
    <p:sldId id="342" r:id="rId14"/>
    <p:sldId id="341" r:id="rId15"/>
    <p:sldId id="343" r:id="rId16"/>
    <p:sldId id="340" r:id="rId17"/>
    <p:sldId id="335" r:id="rId18"/>
    <p:sldId id="338" r:id="rId19"/>
    <p:sldId id="339" r:id="rId20"/>
    <p:sldId id="34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94676"/>
  </p:normalViewPr>
  <p:slideViewPr>
    <p:cSldViewPr snapToGrid="0">
      <p:cViewPr varScale="1">
        <p:scale>
          <a:sx n="114" d="100"/>
          <a:sy n="114" d="100"/>
        </p:scale>
        <p:origin x="4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A339-7183-DA0A-4448-EE1D4CF1846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4435FF2-403D-F278-E457-E60EFD64C0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C2742D86-972C-0DDD-0D07-5EA5AF629C81}"/>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5" name="Footer Placeholder 4">
            <a:extLst>
              <a:ext uri="{FF2B5EF4-FFF2-40B4-BE49-F238E27FC236}">
                <a16:creationId xmlns:a16="http://schemas.microsoft.com/office/drawing/2014/main" id="{72CEB412-98BD-14A3-C321-68AF560025B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26CE657-0863-32FA-C7A5-12A49787C4E8}"/>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107189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2C149-D98A-4AA5-68C6-4AF20EE24CD4}"/>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3363AF4E-7E03-DA2B-8622-1C6089E3570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E12D3BF7-E48B-6803-DBC0-614C2CB7D013}"/>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5" name="Footer Placeholder 4">
            <a:extLst>
              <a:ext uri="{FF2B5EF4-FFF2-40B4-BE49-F238E27FC236}">
                <a16:creationId xmlns:a16="http://schemas.microsoft.com/office/drawing/2014/main" id="{C3279D86-4137-3A20-A322-9A4C28ABEBF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9B4B4AD-71B4-3D52-4D98-25CFF033F3BC}"/>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2045363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9A74C-775F-6206-EFCB-05873B0BCE8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D5D2531F-27DB-B39C-59CE-73D1E88707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5DEBDEF-A20C-8624-88DC-7D7757C2993D}"/>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5" name="Footer Placeholder 4">
            <a:extLst>
              <a:ext uri="{FF2B5EF4-FFF2-40B4-BE49-F238E27FC236}">
                <a16:creationId xmlns:a16="http://schemas.microsoft.com/office/drawing/2014/main" id="{C2A71DDB-492B-4B0F-876F-09D884AC25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65E179E-B231-2020-5E6F-A63A4485F875}"/>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4140069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D481E-6BAB-687C-1578-F843112917ED}"/>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13C99635-EB06-0AFE-53F8-E8A4C06CE49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6D42B86C-CE36-0D90-0949-BD65660C4DC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8EAF1BF7-AF3B-5A7C-CDA3-B524B641C756}"/>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6" name="Footer Placeholder 5">
            <a:extLst>
              <a:ext uri="{FF2B5EF4-FFF2-40B4-BE49-F238E27FC236}">
                <a16:creationId xmlns:a16="http://schemas.microsoft.com/office/drawing/2014/main" id="{5190B012-8540-37E8-A1EB-887F25EBCC8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1202B0D-BD22-A19C-764E-2F110224A7D3}"/>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2528361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741A7-4660-C4C0-2E00-53D43C519F7C}"/>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49DF78E3-A550-9488-5750-CFAA34C9A6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77412BE-7106-0C8E-60E8-271E2628731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24091054-1D5A-6308-8E52-8D2CF59A61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8B4AE62-6B1A-3ADD-405A-F74DAAE06B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C4661978-9FD1-DAEB-F7D4-633B90C1EF7D}"/>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8" name="Footer Placeholder 7">
            <a:extLst>
              <a:ext uri="{FF2B5EF4-FFF2-40B4-BE49-F238E27FC236}">
                <a16:creationId xmlns:a16="http://schemas.microsoft.com/office/drawing/2014/main" id="{9A39B23E-9D9C-E742-F7C9-0E56AD09C34F}"/>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60BDDABF-4E09-577A-686E-9F413DF30FC1}"/>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465853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C6586-9E77-1C35-36E9-CBC7A29A6CED}"/>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407DA1FD-D454-0FA3-A282-19ADF8DCE616}"/>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4" name="Footer Placeholder 3">
            <a:extLst>
              <a:ext uri="{FF2B5EF4-FFF2-40B4-BE49-F238E27FC236}">
                <a16:creationId xmlns:a16="http://schemas.microsoft.com/office/drawing/2014/main" id="{24D44360-A602-A84D-BAA6-DD34C0BBC21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02E506B-3E36-4600-227B-4FDC3A8AD7EB}"/>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3568483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3D8F88-8D52-D348-71F2-F24777472AE5}"/>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3" name="Footer Placeholder 2">
            <a:extLst>
              <a:ext uri="{FF2B5EF4-FFF2-40B4-BE49-F238E27FC236}">
                <a16:creationId xmlns:a16="http://schemas.microsoft.com/office/drawing/2014/main" id="{4C29828F-6564-706F-A7E8-6DEDECAA5F6E}"/>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739EBFCA-C913-0B68-02A2-B542412FB5D5}"/>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1597749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E4FD6-ACAE-F55D-1269-BB9F2C1928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20661937-3F05-B024-DB68-B7D739E5C8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5A52C26A-1AF5-4213-FC6C-F54ED9B9E9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B83BDB4-9D27-2994-ED9B-06B685DC556F}"/>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6" name="Footer Placeholder 5">
            <a:extLst>
              <a:ext uri="{FF2B5EF4-FFF2-40B4-BE49-F238E27FC236}">
                <a16:creationId xmlns:a16="http://schemas.microsoft.com/office/drawing/2014/main" id="{F26F542A-7212-5DFD-6EC3-D020FE60207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2B3435-D3E7-1A94-604D-3B81B9CC562D}"/>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1215878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40446-B763-6BCB-061B-9976535DC8A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ABD8E43E-FDCD-87A6-469D-4F5D6A64DB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4593164-964F-67A1-790F-62A8936C12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EC99636-5183-2244-1275-4E616F61114A}"/>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6" name="Footer Placeholder 5">
            <a:extLst>
              <a:ext uri="{FF2B5EF4-FFF2-40B4-BE49-F238E27FC236}">
                <a16:creationId xmlns:a16="http://schemas.microsoft.com/office/drawing/2014/main" id="{90E18E50-D1F5-8892-7757-BC60B9F3E23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A6B1C7A-85EA-DF51-D107-793AF7B9007F}"/>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4244829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72AE-547D-6088-5A8C-8039B8942815}"/>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1549759C-8312-D44E-990D-366409F80C3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236E32F4-1C3A-443B-25E8-69946349EDF1}"/>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5" name="Footer Placeholder 4">
            <a:extLst>
              <a:ext uri="{FF2B5EF4-FFF2-40B4-BE49-F238E27FC236}">
                <a16:creationId xmlns:a16="http://schemas.microsoft.com/office/drawing/2014/main" id="{B9307D7F-16C0-89A5-1DF3-635B2B239E0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7E49E57-61D5-BD41-A896-E08CFF6ACE47}"/>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4171768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7988F9-1F54-35DB-8A06-8FB1ED01618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4B6064CE-7AC5-C58E-878C-C5B011C609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14DA55DC-43D1-E798-5F48-D461C40D6D7E}"/>
              </a:ext>
            </a:extLst>
          </p:cNvPr>
          <p:cNvSpPr>
            <a:spLocks noGrp="1"/>
          </p:cNvSpPr>
          <p:nvPr>
            <p:ph type="dt" sz="half" idx="10"/>
          </p:nvPr>
        </p:nvSpPr>
        <p:spPr/>
        <p:txBody>
          <a:bodyPr/>
          <a:lstStyle/>
          <a:p>
            <a:fld id="{E11AA9E0-B015-B349-AF5B-764D2A5607ED}" type="datetimeFigureOut">
              <a:rPr lang="en-AU" smtClean="0"/>
              <a:t>19/8/2026</a:t>
            </a:fld>
            <a:endParaRPr lang="en-AU"/>
          </a:p>
        </p:txBody>
      </p:sp>
      <p:sp>
        <p:nvSpPr>
          <p:cNvPr id="5" name="Footer Placeholder 4">
            <a:extLst>
              <a:ext uri="{FF2B5EF4-FFF2-40B4-BE49-F238E27FC236}">
                <a16:creationId xmlns:a16="http://schemas.microsoft.com/office/drawing/2014/main" id="{8B7C4147-D92F-5FF8-81F6-EC66CC5FABE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F5DF1A-BEB4-C326-3F32-234635222A1C}"/>
              </a:ext>
            </a:extLst>
          </p:cNvPr>
          <p:cNvSpPr>
            <a:spLocks noGrp="1"/>
          </p:cNvSpPr>
          <p:nvPr>
            <p:ph type="sldNum" sz="quarter" idx="12"/>
          </p:nvPr>
        </p:nvSpPr>
        <p:spPr/>
        <p:txBody>
          <a:bodyPr/>
          <a:lstStyle/>
          <a:p>
            <a:fld id="{AFA2B329-096D-4D42-9A9C-8B738868775E}" type="slidenum">
              <a:rPr lang="en-AU" smtClean="0"/>
              <a:t>‹#›</a:t>
            </a:fld>
            <a:endParaRPr lang="en-AU"/>
          </a:p>
        </p:txBody>
      </p:sp>
    </p:spTree>
    <p:extLst>
      <p:ext uri="{BB962C8B-B14F-4D97-AF65-F5344CB8AC3E}">
        <p14:creationId xmlns:p14="http://schemas.microsoft.com/office/powerpoint/2010/main" val="265431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0319B3-497C-40AE-BE73-82A0118D1A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A4F42E7A-5B61-6CAC-5A1B-5912E6190C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CA6000E3-AD11-3F1C-1177-6F11F11F5A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1AA9E0-B015-B349-AF5B-764D2A5607ED}" type="datetimeFigureOut">
              <a:rPr lang="en-AU" smtClean="0"/>
              <a:t>19/8/2026</a:t>
            </a:fld>
            <a:endParaRPr lang="en-AU"/>
          </a:p>
        </p:txBody>
      </p:sp>
      <p:sp>
        <p:nvSpPr>
          <p:cNvPr id="5" name="Footer Placeholder 4">
            <a:extLst>
              <a:ext uri="{FF2B5EF4-FFF2-40B4-BE49-F238E27FC236}">
                <a16:creationId xmlns:a16="http://schemas.microsoft.com/office/drawing/2014/main" id="{C510E32B-9B2A-78BA-A430-806941EEC1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65F3ED01-CA44-B065-C737-906D15DF45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A2B329-096D-4D42-9A9C-8B738868775E}" type="slidenum">
              <a:rPr lang="en-AU" smtClean="0"/>
              <a:t>‹#›</a:t>
            </a:fld>
            <a:endParaRPr lang="en-AU"/>
          </a:p>
        </p:txBody>
      </p:sp>
    </p:spTree>
    <p:extLst>
      <p:ext uri="{BB962C8B-B14F-4D97-AF65-F5344CB8AC3E}">
        <p14:creationId xmlns:p14="http://schemas.microsoft.com/office/powerpoint/2010/main" val="4160568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dkfindout.com/us/animals-and-nature/rodents/rats/" TargetMode="External"/><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freepngimg.com/png/22432-rat-hd" TargetMode="External"/><Relationship Id="rId7" Type="http://schemas.openxmlformats.org/officeDocument/2006/relationships/hyperlink" Target="https://svgsilh.com/de/image/1294298.html" TargetMode="External"/><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4.svg"/><Relationship Id="rId5" Type="http://schemas.openxmlformats.org/officeDocument/2006/relationships/hyperlink" Target="https://pixabay.com/fr/vectors/la-foudre-boulon-jaune-%C3%A9nergie-305555/" TargetMode="Externa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hyperlink" Target="https://freepngimg.com/png/22432-rat-hd" TargetMode="External"/><Relationship Id="rId7" Type="http://schemas.openxmlformats.org/officeDocument/2006/relationships/hyperlink" Target="https://svgsilh.com/de/image/1294298.html" TargetMode="External"/><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4.svg"/><Relationship Id="rId5" Type="http://schemas.openxmlformats.org/officeDocument/2006/relationships/hyperlink" Target="https://pixabay.com/fr/vectors/la-foudre-boulon-jaune-%C3%A9nergie-305555/" TargetMode="Externa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hyperlink" Target="https://freepngimg.com/png/22432-rat-hd" TargetMode="External"/><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hyperlink" Target="https://svgsilh.com/de/image/1294298.html" TargetMode="Externa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5" Type="http://schemas.openxmlformats.org/officeDocument/2006/relationships/hyperlink" Target="https://www.publicdomainpictures.net/en/view-image.php?image=19255&amp;picture=symbol-of-male" TargetMode="External"/><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publicdomainpictures.net/es/view-image.php?image=152096&amp;picture=stickman" TargetMode="External"/><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publicdomainpictures.net/es/view-image.php?image=152096&amp;picture=stickman" TargetMode="External"/><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2642-0A08-0CFD-03E0-F9B23EABA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115F1-6855-42D1-D834-9D344BFE2FA6}"/>
              </a:ext>
            </a:extLst>
          </p:cNvPr>
          <p:cNvSpPr>
            <a:spLocks noGrp="1"/>
          </p:cNvSpPr>
          <p:nvPr>
            <p:ph type="title"/>
          </p:nvPr>
        </p:nvSpPr>
        <p:spPr>
          <a:xfrm>
            <a:off x="0" y="289288"/>
            <a:ext cx="5571285" cy="1740706"/>
          </a:xfrm>
        </p:spPr>
        <p:txBody>
          <a:bodyPr>
            <a:normAutofit/>
          </a:bodyPr>
          <a:lstStyle/>
          <a:p>
            <a:pPr algn="ctr"/>
            <a:r>
              <a:rPr lang="en-AU" sz="3600" b="1" i="1" dirty="0"/>
              <a:t>Lecture 3: </a:t>
            </a:r>
            <a:br>
              <a:rPr lang="en-AU" sz="3600" b="1" i="1" dirty="0"/>
            </a:br>
            <a:r>
              <a:rPr lang="en-AU" sz="3600" b="1" i="1" dirty="0"/>
              <a:t>The Good Enough Dam</a:t>
            </a:r>
          </a:p>
        </p:txBody>
      </p:sp>
      <p:pic>
        <p:nvPicPr>
          <p:cNvPr id="4" name="Picture 3" descr="A close up of a rat&#10;&#10;AI-generated content may be incorrect.">
            <a:extLst>
              <a:ext uri="{FF2B5EF4-FFF2-40B4-BE49-F238E27FC236}">
                <a16:creationId xmlns:a16="http://schemas.microsoft.com/office/drawing/2014/main" id="{9D8E8E74-9F7A-7656-1CAA-4F865D791AF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14984" y="2029994"/>
            <a:ext cx="5456301" cy="3213155"/>
          </a:xfrm>
          <a:prstGeom prst="rect">
            <a:avLst/>
          </a:prstGeom>
        </p:spPr>
      </p:pic>
    </p:spTree>
    <p:extLst>
      <p:ext uri="{BB962C8B-B14F-4D97-AF65-F5344CB8AC3E}">
        <p14:creationId xmlns:p14="http://schemas.microsoft.com/office/powerpoint/2010/main" val="25240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Mother Rat Carrying Her Baby 5 Days Old White Background Stock Photo -  Download Image Now - iStock">
            <a:extLst>
              <a:ext uri="{FF2B5EF4-FFF2-40B4-BE49-F238E27FC236}">
                <a16:creationId xmlns:a16="http://schemas.microsoft.com/office/drawing/2014/main" id="{3E0293A7-39B7-E129-DF17-EE618B977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353132" y="3115128"/>
            <a:ext cx="4588328" cy="362118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718D7A8B-5C40-0700-BDC6-2AD67E6B37CD}"/>
              </a:ext>
            </a:extLst>
          </p:cNvPr>
          <p:cNvGrpSpPr/>
          <p:nvPr/>
        </p:nvGrpSpPr>
        <p:grpSpPr>
          <a:xfrm>
            <a:off x="348345" y="856338"/>
            <a:ext cx="5965372" cy="4372428"/>
            <a:chOff x="936171" y="139700"/>
            <a:chExt cx="5965372" cy="4372428"/>
          </a:xfrm>
        </p:grpSpPr>
        <p:pic>
          <p:nvPicPr>
            <p:cNvPr id="10242" name="Picture 2" descr="2,200+ Scientist Holding Clipboard Stock Photos, Pictures &amp; Royalty-Free  Images - iStock | Laboratory">
              <a:extLst>
                <a:ext uri="{FF2B5EF4-FFF2-40B4-BE49-F238E27FC236}">
                  <a16:creationId xmlns:a16="http://schemas.microsoft.com/office/drawing/2014/main" id="{A2809854-D9F9-B7C9-1482-1088044403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13" r="24230"/>
            <a:stretch/>
          </p:blipFill>
          <p:spPr bwMode="auto">
            <a:xfrm>
              <a:off x="936171" y="625928"/>
              <a:ext cx="3483429" cy="3886200"/>
            </a:xfrm>
            <a:prstGeom prst="rect">
              <a:avLst/>
            </a:prstGeom>
            <a:noFill/>
            <a:extLst>
              <a:ext uri="{909E8E84-426E-40DD-AFC4-6F175D3DCCD1}">
                <a14:hiddenFill xmlns:a14="http://schemas.microsoft.com/office/drawing/2010/main">
                  <a:solidFill>
                    <a:srgbClr val="FFFFFF"/>
                  </a:solidFill>
                </a14:hiddenFill>
              </a:ext>
            </a:extLst>
          </p:spPr>
        </p:pic>
        <p:sp>
          <p:nvSpPr>
            <p:cNvPr id="2" name="Speech Bubble: Oval 1">
              <a:extLst>
                <a:ext uri="{FF2B5EF4-FFF2-40B4-BE49-F238E27FC236}">
                  <a16:creationId xmlns:a16="http://schemas.microsoft.com/office/drawing/2014/main" id="{383EF5A1-D61D-FAC0-DB25-08F482F17DC3}"/>
                </a:ext>
              </a:extLst>
            </p:cNvPr>
            <p:cNvSpPr/>
            <p:nvPr/>
          </p:nvSpPr>
          <p:spPr>
            <a:xfrm>
              <a:off x="4265387" y="139700"/>
              <a:ext cx="2636156" cy="1524000"/>
            </a:xfrm>
            <a:prstGeom prst="wedgeEllipseCallout">
              <a:avLst>
                <a:gd name="adj1" fmla="val -54909"/>
                <a:gd name="adj2" fmla="val 575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000" dirty="0">
                  <a:solidFill>
                    <a:schemeClr val="tx1"/>
                  </a:solidFill>
                </a:rPr>
                <a:t>Don’t mind me, I’ll just be judging you today.</a:t>
              </a:r>
            </a:p>
          </p:txBody>
        </p:sp>
      </p:grpSp>
    </p:spTree>
    <p:extLst>
      <p:ext uri="{BB962C8B-B14F-4D97-AF65-F5344CB8AC3E}">
        <p14:creationId xmlns:p14="http://schemas.microsoft.com/office/powerpoint/2010/main" val="1339899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7DF63C-23B0-15B6-EAAE-BC1EDA14CEB5}"/>
              </a:ext>
            </a:extLst>
          </p:cNvPr>
          <p:cNvPicPr>
            <a:picLocks noChangeAspect="1"/>
          </p:cNvPicPr>
          <p:nvPr/>
        </p:nvPicPr>
        <p:blipFill>
          <a:blip r:embed="rId2"/>
          <a:srcRect t="44684" b="19826"/>
          <a:stretch>
            <a:fillRect/>
          </a:stretch>
        </p:blipFill>
        <p:spPr>
          <a:xfrm>
            <a:off x="0" y="-45741"/>
            <a:ext cx="9265126" cy="1453628"/>
          </a:xfrm>
          <a:prstGeom prst="rect">
            <a:avLst/>
          </a:prstGeom>
        </p:spPr>
      </p:pic>
      <p:pic>
        <p:nvPicPr>
          <p:cNvPr id="10" name="Picture 9">
            <a:extLst>
              <a:ext uri="{FF2B5EF4-FFF2-40B4-BE49-F238E27FC236}">
                <a16:creationId xmlns:a16="http://schemas.microsoft.com/office/drawing/2014/main" id="{F752E3CA-9291-BB73-E224-805D836F3FA3}"/>
              </a:ext>
            </a:extLst>
          </p:cNvPr>
          <p:cNvPicPr>
            <a:picLocks noChangeAspect="1"/>
          </p:cNvPicPr>
          <p:nvPr/>
        </p:nvPicPr>
        <p:blipFill>
          <a:blip r:embed="rId3"/>
          <a:stretch>
            <a:fillRect/>
          </a:stretch>
        </p:blipFill>
        <p:spPr>
          <a:xfrm>
            <a:off x="47822" y="4128901"/>
            <a:ext cx="3051883" cy="2720353"/>
          </a:xfrm>
          <a:prstGeom prst="rect">
            <a:avLst/>
          </a:prstGeom>
        </p:spPr>
      </p:pic>
      <p:grpSp>
        <p:nvGrpSpPr>
          <p:cNvPr id="2" name="Group 1">
            <a:extLst>
              <a:ext uri="{FF2B5EF4-FFF2-40B4-BE49-F238E27FC236}">
                <a16:creationId xmlns:a16="http://schemas.microsoft.com/office/drawing/2014/main" id="{10AB6D64-A2B7-FA15-9E9F-4EA860A87442}"/>
              </a:ext>
            </a:extLst>
          </p:cNvPr>
          <p:cNvGrpSpPr/>
          <p:nvPr/>
        </p:nvGrpSpPr>
        <p:grpSpPr>
          <a:xfrm>
            <a:off x="0" y="1407887"/>
            <a:ext cx="5498809" cy="2983366"/>
            <a:chOff x="0" y="2219953"/>
            <a:chExt cx="5498809" cy="2983366"/>
          </a:xfrm>
        </p:grpSpPr>
        <p:pic>
          <p:nvPicPr>
            <p:cNvPr id="5" name="Picture 4">
              <a:extLst>
                <a:ext uri="{FF2B5EF4-FFF2-40B4-BE49-F238E27FC236}">
                  <a16:creationId xmlns:a16="http://schemas.microsoft.com/office/drawing/2014/main" id="{CDE7CB4E-A7AD-F5A8-AC78-461D02A5458B}"/>
                </a:ext>
              </a:extLst>
            </p:cNvPr>
            <p:cNvPicPr>
              <a:picLocks noChangeAspect="1"/>
            </p:cNvPicPr>
            <p:nvPr/>
          </p:nvPicPr>
          <p:blipFill>
            <a:blip r:embed="rId4"/>
            <a:stretch>
              <a:fillRect/>
            </a:stretch>
          </p:blipFill>
          <p:spPr>
            <a:xfrm>
              <a:off x="0" y="2219953"/>
              <a:ext cx="5441659" cy="2983366"/>
            </a:xfrm>
            <a:prstGeom prst="rect">
              <a:avLst/>
            </a:prstGeom>
          </p:spPr>
        </p:pic>
        <p:sp>
          <p:nvSpPr>
            <p:cNvPr id="11" name="Rectangle 10">
              <a:extLst>
                <a:ext uri="{FF2B5EF4-FFF2-40B4-BE49-F238E27FC236}">
                  <a16:creationId xmlns:a16="http://schemas.microsoft.com/office/drawing/2014/main" id="{0C6AD9ED-992E-02F6-8E6A-BA0591DB6902}"/>
                </a:ext>
              </a:extLst>
            </p:cNvPr>
            <p:cNvSpPr/>
            <p:nvPr/>
          </p:nvSpPr>
          <p:spPr>
            <a:xfrm>
              <a:off x="3099708" y="3074105"/>
              <a:ext cx="2399101" cy="1104900"/>
            </a:xfrm>
            <a:prstGeom prst="rect">
              <a:avLst/>
            </a:prstGeom>
            <a:noFill/>
            <a:ln w="444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28CC600B-F965-87CC-3C08-5959E5D00298}"/>
                </a:ext>
              </a:extLst>
            </p:cNvPr>
            <p:cNvSpPr/>
            <p:nvPr/>
          </p:nvSpPr>
          <p:spPr>
            <a:xfrm>
              <a:off x="3099707" y="2731205"/>
              <a:ext cx="2399101" cy="34290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29FA9590-443E-6A3C-F040-CF1DFC7A1B15}"/>
                </a:ext>
              </a:extLst>
            </p:cNvPr>
            <p:cNvSpPr/>
            <p:nvPr/>
          </p:nvSpPr>
          <p:spPr>
            <a:xfrm>
              <a:off x="3099707" y="4176811"/>
              <a:ext cx="2399101" cy="649893"/>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113182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2A82-32DD-509D-A275-F5BEC892A23E}"/>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B6349D6D-F14E-D01F-D254-84A5893F9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564015"/>
            <a:ext cx="2333310" cy="5219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04138D8-7810-B19B-6C09-B58E9547ACC2}"/>
              </a:ext>
            </a:extLst>
          </p:cNvPr>
          <p:cNvSpPr txBox="1"/>
          <p:nvPr/>
        </p:nvSpPr>
        <p:spPr>
          <a:xfrm>
            <a:off x="2904810" y="819150"/>
            <a:ext cx="3429000" cy="4739759"/>
          </a:xfrm>
          <a:prstGeom prst="rect">
            <a:avLst/>
          </a:prstGeom>
          <a:noFill/>
        </p:spPr>
        <p:txBody>
          <a:bodyPr wrap="square" rtlCol="0">
            <a:spAutoFit/>
          </a:bodyPr>
          <a:lstStyle/>
          <a:p>
            <a:r>
              <a:rPr lang="en-AU" sz="3600" dirty="0"/>
              <a:t>Supine</a:t>
            </a:r>
          </a:p>
          <a:p>
            <a:endParaRPr lang="en-AU" sz="2000" dirty="0"/>
          </a:p>
          <a:p>
            <a:r>
              <a:rPr lang="en-AU" sz="3600" dirty="0"/>
              <a:t>Passive</a:t>
            </a:r>
          </a:p>
          <a:p>
            <a:endParaRPr lang="en-AU" sz="2000" dirty="0"/>
          </a:p>
          <a:p>
            <a:r>
              <a:rPr lang="en-AU" sz="3600" dirty="0"/>
              <a:t>Arched-Back 1</a:t>
            </a:r>
          </a:p>
          <a:p>
            <a:endParaRPr lang="en-AU" sz="3200" dirty="0"/>
          </a:p>
          <a:p>
            <a:r>
              <a:rPr lang="en-AU" sz="3600" dirty="0"/>
              <a:t>Arched-Back 2</a:t>
            </a:r>
          </a:p>
          <a:p>
            <a:endParaRPr lang="en-AU" sz="4400" dirty="0"/>
          </a:p>
          <a:p>
            <a:r>
              <a:rPr lang="en-AU" sz="3600" dirty="0"/>
              <a:t>Arched-Back 3</a:t>
            </a:r>
          </a:p>
        </p:txBody>
      </p:sp>
      <p:sp>
        <p:nvSpPr>
          <p:cNvPr id="9" name="TextBox 10">
            <a:extLst>
              <a:ext uri="{FF2B5EF4-FFF2-40B4-BE49-F238E27FC236}">
                <a16:creationId xmlns:a16="http://schemas.microsoft.com/office/drawing/2014/main" id="{B0ED2AFD-F59F-018C-C1CE-51130B8BB81B}"/>
              </a:ext>
            </a:extLst>
          </p:cNvPr>
          <p:cNvSpPr txBox="1"/>
          <p:nvPr/>
        </p:nvSpPr>
        <p:spPr>
          <a:xfrm>
            <a:off x="188649" y="6038850"/>
            <a:ext cx="4011561"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2400" dirty="0">
                <a:latin typeface="Tw Cen MT Condensed" panose="020B0606020104020203" pitchFamily="34" charset="0"/>
                <a:cs typeface="Arial" panose="020B0604020202020204" pitchFamily="34" charset="0"/>
              </a:rPr>
              <a:t>Popoola et al., 2015</a:t>
            </a:r>
            <a:endParaRPr lang="en-AU" sz="2400" dirty="0">
              <a:latin typeface="Tw Cen MT Condensed" panose="020B0606020104020203" pitchFamily="34" charset="0"/>
              <a:cs typeface="Arial" panose="020B0604020202020204" pitchFamily="34" charset="0"/>
            </a:endParaRPr>
          </a:p>
        </p:txBody>
      </p:sp>
    </p:spTree>
    <p:extLst>
      <p:ext uri="{BB962C8B-B14F-4D97-AF65-F5344CB8AC3E}">
        <p14:creationId xmlns:p14="http://schemas.microsoft.com/office/powerpoint/2010/main" val="3302130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76CA80-8C4B-6231-4548-A50ACF4F2DA7}"/>
              </a:ext>
            </a:extLst>
          </p:cNvPr>
          <p:cNvPicPr>
            <a:picLocks noChangeAspect="1"/>
          </p:cNvPicPr>
          <p:nvPr/>
        </p:nvPicPr>
        <p:blipFill>
          <a:blip r:embed="rId2"/>
          <a:srcRect l="58293" t="10144" b="1"/>
          <a:stretch/>
        </p:blipFill>
        <p:spPr>
          <a:xfrm>
            <a:off x="72645" y="273212"/>
            <a:ext cx="4260563" cy="6047890"/>
          </a:xfrm>
          <a:prstGeom prst="rect">
            <a:avLst/>
          </a:prstGeom>
        </p:spPr>
      </p:pic>
      <p:sp>
        <p:nvSpPr>
          <p:cNvPr id="5" name="TextBox 10">
            <a:extLst>
              <a:ext uri="{FF2B5EF4-FFF2-40B4-BE49-F238E27FC236}">
                <a16:creationId xmlns:a16="http://schemas.microsoft.com/office/drawing/2014/main" id="{5386202B-4FD0-3BB5-BF74-23A4FA3D652C}"/>
              </a:ext>
            </a:extLst>
          </p:cNvPr>
          <p:cNvSpPr txBox="1"/>
          <p:nvPr/>
        </p:nvSpPr>
        <p:spPr>
          <a:xfrm>
            <a:off x="442464" y="6321102"/>
            <a:ext cx="4011561"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2400" dirty="0">
                <a:latin typeface="Tw Cen MT Condensed" panose="020B0606020104020203" pitchFamily="34" charset="0"/>
                <a:cs typeface="Arial" panose="020B0604020202020204" pitchFamily="34" charset="0"/>
              </a:rPr>
              <a:t>Walker et al., 2017</a:t>
            </a:r>
            <a:endParaRPr lang="en-AU" sz="2400" dirty="0">
              <a:latin typeface="Tw Cen MT Condensed" panose="020B0606020104020203" pitchFamily="34" charset="0"/>
              <a:cs typeface="Arial" panose="020B0604020202020204" pitchFamily="34" charset="0"/>
            </a:endParaRPr>
          </a:p>
        </p:txBody>
      </p:sp>
      <p:sp>
        <p:nvSpPr>
          <p:cNvPr id="6" name="Rectangle 5">
            <a:extLst>
              <a:ext uri="{FF2B5EF4-FFF2-40B4-BE49-F238E27FC236}">
                <a16:creationId xmlns:a16="http://schemas.microsoft.com/office/drawing/2014/main" id="{1878E5D7-1AE6-498A-C961-B96D095547B8}"/>
              </a:ext>
            </a:extLst>
          </p:cNvPr>
          <p:cNvSpPr/>
          <p:nvPr/>
        </p:nvSpPr>
        <p:spPr>
          <a:xfrm>
            <a:off x="72645" y="46205"/>
            <a:ext cx="4260562" cy="250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dirty="0">
                <a:solidFill>
                  <a:schemeClr val="tx1"/>
                </a:solidFill>
              </a:rPr>
              <a:t>Limited Bedding</a:t>
            </a:r>
          </a:p>
        </p:txBody>
      </p:sp>
      <p:sp>
        <p:nvSpPr>
          <p:cNvPr id="7" name="Rectangle 6">
            <a:extLst>
              <a:ext uri="{FF2B5EF4-FFF2-40B4-BE49-F238E27FC236}">
                <a16:creationId xmlns:a16="http://schemas.microsoft.com/office/drawing/2014/main" id="{B3744123-8F9D-3720-42B6-57EBF2FF19EE}"/>
              </a:ext>
            </a:extLst>
          </p:cNvPr>
          <p:cNvSpPr/>
          <p:nvPr/>
        </p:nvSpPr>
        <p:spPr>
          <a:xfrm>
            <a:off x="53426" y="2917547"/>
            <a:ext cx="2900520" cy="250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dirty="0">
                <a:solidFill>
                  <a:schemeClr val="tx1"/>
                </a:solidFill>
              </a:rPr>
              <a:t>Standard Reared</a:t>
            </a:r>
          </a:p>
        </p:txBody>
      </p:sp>
      <p:sp>
        <p:nvSpPr>
          <p:cNvPr id="8" name="Rectangle 7">
            <a:extLst>
              <a:ext uri="{FF2B5EF4-FFF2-40B4-BE49-F238E27FC236}">
                <a16:creationId xmlns:a16="http://schemas.microsoft.com/office/drawing/2014/main" id="{4F87DBA9-B21B-CB12-741E-A558B078D8E2}"/>
              </a:ext>
            </a:extLst>
          </p:cNvPr>
          <p:cNvSpPr/>
          <p:nvPr/>
        </p:nvSpPr>
        <p:spPr>
          <a:xfrm>
            <a:off x="4454025" y="3429000"/>
            <a:ext cx="3404769" cy="6156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000" dirty="0">
                <a:solidFill>
                  <a:schemeClr val="tx1"/>
                </a:solidFill>
                <a:latin typeface="Merriweather" panose="00000500000000000000" pitchFamily="2" charset="0"/>
              </a:rPr>
              <a:t>Mums with limited bedding were “abusive” (i.e., increased observations of “rough handling”</a:t>
            </a:r>
          </a:p>
          <a:p>
            <a:endParaRPr lang="en-AU" sz="2000" dirty="0">
              <a:solidFill>
                <a:schemeClr val="tx1"/>
              </a:solidFill>
              <a:latin typeface="Merriweather" panose="00000500000000000000" pitchFamily="2" charset="0"/>
            </a:endParaRPr>
          </a:p>
          <a:p>
            <a:r>
              <a:rPr lang="en-AU" sz="2000" dirty="0">
                <a:solidFill>
                  <a:schemeClr val="tx1"/>
                </a:solidFill>
                <a:latin typeface="Merriweather" panose="00000500000000000000" pitchFamily="2" charset="0"/>
              </a:rPr>
              <a:t>Roughly handled pups grow up to show a range of physiological and behavioural adverse impacts in adulthood</a:t>
            </a:r>
          </a:p>
        </p:txBody>
      </p:sp>
      <p:sp>
        <p:nvSpPr>
          <p:cNvPr id="9" name="Rectangle 8">
            <a:extLst>
              <a:ext uri="{FF2B5EF4-FFF2-40B4-BE49-F238E27FC236}">
                <a16:creationId xmlns:a16="http://schemas.microsoft.com/office/drawing/2014/main" id="{20704215-17B4-9C0A-2A6D-FC0694854711}"/>
              </a:ext>
            </a:extLst>
          </p:cNvPr>
          <p:cNvSpPr/>
          <p:nvPr/>
        </p:nvSpPr>
        <p:spPr>
          <a:xfrm>
            <a:off x="4482019" y="296386"/>
            <a:ext cx="5053867" cy="8647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3200" dirty="0">
                <a:solidFill>
                  <a:schemeClr val="tx1"/>
                </a:solidFill>
                <a:latin typeface="Merriweather" panose="00000500000000000000" pitchFamily="2" charset="0"/>
              </a:rPr>
              <a:t>Impact of Stress on Maternal Behaviours</a:t>
            </a:r>
          </a:p>
        </p:txBody>
      </p:sp>
    </p:spTree>
    <p:extLst>
      <p:ext uri="{BB962C8B-B14F-4D97-AF65-F5344CB8AC3E}">
        <p14:creationId xmlns:p14="http://schemas.microsoft.com/office/powerpoint/2010/main" val="3488192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3F85B-75D4-98E1-4D96-509BC00FE7A4}"/>
              </a:ext>
            </a:extLst>
          </p:cNvPr>
          <p:cNvSpPr>
            <a:spLocks noGrp="1"/>
          </p:cNvSpPr>
          <p:nvPr>
            <p:ph type="title"/>
          </p:nvPr>
        </p:nvSpPr>
        <p:spPr>
          <a:xfrm>
            <a:off x="0" y="11087"/>
            <a:ext cx="11715750" cy="1325563"/>
          </a:xfrm>
        </p:spPr>
        <p:txBody>
          <a:bodyPr>
            <a:normAutofit/>
          </a:bodyPr>
          <a:lstStyle/>
          <a:p>
            <a:r>
              <a:rPr lang="en-AU" dirty="0">
                <a:latin typeface="Merriweather" panose="00000500000000000000" pitchFamily="2" charset="0"/>
              </a:rPr>
              <a:t>Animal Models of Early Life Stress (ELS)</a:t>
            </a:r>
          </a:p>
        </p:txBody>
      </p:sp>
      <p:sp>
        <p:nvSpPr>
          <p:cNvPr id="6" name="TextBox 5">
            <a:extLst>
              <a:ext uri="{FF2B5EF4-FFF2-40B4-BE49-F238E27FC236}">
                <a16:creationId xmlns:a16="http://schemas.microsoft.com/office/drawing/2014/main" id="{1AE7EC65-A5FF-4153-1AB6-A8C90D472D78}"/>
              </a:ext>
            </a:extLst>
          </p:cNvPr>
          <p:cNvSpPr txBox="1"/>
          <p:nvPr/>
        </p:nvSpPr>
        <p:spPr>
          <a:xfrm>
            <a:off x="192137" y="1195549"/>
            <a:ext cx="10690722" cy="1877437"/>
          </a:xfrm>
          <a:prstGeom prst="rect">
            <a:avLst/>
          </a:prstGeom>
          <a:noFill/>
        </p:spPr>
        <p:txBody>
          <a:bodyPr wrap="square" rtlCol="0">
            <a:spAutoFit/>
          </a:bodyPr>
          <a:lstStyle/>
          <a:p>
            <a:r>
              <a:rPr lang="en-AU" sz="3200" u="sng" dirty="0">
                <a:latin typeface="Merriweather" panose="00000500000000000000" pitchFamily="2" charset="0"/>
              </a:rPr>
              <a:t>Models of ELS</a:t>
            </a:r>
          </a:p>
          <a:p>
            <a:pPr marL="285750" indent="-285750">
              <a:buFont typeface="Arial" panose="020B0604020202020204" pitchFamily="34" charset="0"/>
              <a:buChar char="•"/>
            </a:pPr>
            <a:r>
              <a:rPr lang="en-AU" sz="2800" dirty="0">
                <a:latin typeface="Merriweather" panose="00000500000000000000" pitchFamily="2" charset="0"/>
              </a:rPr>
              <a:t>Maternal Separation</a:t>
            </a:r>
          </a:p>
          <a:p>
            <a:pPr marL="285750" indent="-285750">
              <a:buFont typeface="Arial" panose="020B0604020202020204" pitchFamily="34" charset="0"/>
              <a:buChar char="•"/>
            </a:pPr>
            <a:r>
              <a:rPr lang="en-AU" sz="2800" dirty="0">
                <a:latin typeface="Merriweather" panose="00000500000000000000" pitchFamily="2" charset="0"/>
              </a:rPr>
              <a:t>Maternal Corticosterone (stress hormone) Exposure</a:t>
            </a:r>
          </a:p>
          <a:p>
            <a:pPr marL="285750" indent="-285750">
              <a:buFont typeface="Arial" panose="020B0604020202020204" pitchFamily="34" charset="0"/>
              <a:buChar char="•"/>
            </a:pPr>
            <a:r>
              <a:rPr lang="en-AU" sz="2800" dirty="0">
                <a:latin typeface="Merriweather" panose="00000500000000000000" pitchFamily="2" charset="0"/>
              </a:rPr>
              <a:t>Limited Bedding</a:t>
            </a:r>
            <a:endParaRPr lang="en-AU" sz="3200" dirty="0">
              <a:latin typeface="Merriweather" panose="00000500000000000000" pitchFamily="2" charset="0"/>
            </a:endParaRPr>
          </a:p>
        </p:txBody>
      </p:sp>
      <p:pic>
        <p:nvPicPr>
          <p:cNvPr id="14340" name="Picture 4" descr="｜ Manipulations of early-life stress model using rodents. separation model, pups are separated from the dams during the early-postnatal period. In the limitation of the bedding model, pups are raised on minimal bedding or wire mesh platform. These models induce deprivation of maternal care, resulting in depressive behavior or cognitive deficit in adult offspring. Created using Microsoft PowerPoint 2021.">
            <a:extLst>
              <a:ext uri="{FF2B5EF4-FFF2-40B4-BE49-F238E27FC236}">
                <a16:creationId xmlns:a16="http://schemas.microsoft.com/office/drawing/2014/main" id="{FDCA7426-F2EE-38BC-F64F-05A5890B6F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137" y="3132946"/>
            <a:ext cx="5347459" cy="329535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10">
            <a:extLst>
              <a:ext uri="{FF2B5EF4-FFF2-40B4-BE49-F238E27FC236}">
                <a16:creationId xmlns:a16="http://schemas.microsoft.com/office/drawing/2014/main" id="{84189348-59C5-8875-D944-A4E8AB8BED54}"/>
              </a:ext>
            </a:extLst>
          </p:cNvPr>
          <p:cNvSpPr txBox="1"/>
          <p:nvPr/>
        </p:nvSpPr>
        <p:spPr>
          <a:xfrm>
            <a:off x="1528035" y="6428299"/>
            <a:ext cx="4011561"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2400" dirty="0">
                <a:latin typeface="Tw Cen MT Condensed" panose="020B0606020104020203" pitchFamily="34" charset="0"/>
                <a:cs typeface="Arial" panose="020B0604020202020204" pitchFamily="34" charset="0"/>
              </a:rPr>
              <a:t>Lee and Jung, 2023</a:t>
            </a:r>
            <a:endParaRPr lang="en-AU" sz="2400" dirty="0">
              <a:latin typeface="Tw Cen MT Condensed" panose="020B0606020104020203" pitchFamily="34" charset="0"/>
              <a:cs typeface="Arial" panose="020B0604020202020204" pitchFamily="34" charset="0"/>
            </a:endParaRPr>
          </a:p>
        </p:txBody>
      </p:sp>
    </p:spTree>
    <p:extLst>
      <p:ext uri="{BB962C8B-B14F-4D97-AF65-F5344CB8AC3E}">
        <p14:creationId xmlns:p14="http://schemas.microsoft.com/office/powerpoint/2010/main" val="2919719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385F2-EE11-6A5F-02E8-04B435F2F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F861E-9884-44F8-5277-944F8768EFEF}"/>
              </a:ext>
            </a:extLst>
          </p:cNvPr>
          <p:cNvSpPr>
            <a:spLocks noGrp="1"/>
          </p:cNvSpPr>
          <p:nvPr>
            <p:ph type="title"/>
          </p:nvPr>
        </p:nvSpPr>
        <p:spPr>
          <a:xfrm>
            <a:off x="0" y="694772"/>
            <a:ext cx="11715750" cy="1325563"/>
          </a:xfrm>
        </p:spPr>
        <p:txBody>
          <a:bodyPr>
            <a:normAutofit/>
          </a:bodyPr>
          <a:lstStyle/>
          <a:p>
            <a:r>
              <a:rPr lang="en-AU" sz="4000" dirty="0">
                <a:latin typeface="Merriweather" panose="00000500000000000000" pitchFamily="2" charset="0"/>
              </a:rPr>
              <a:t>Impacts of Maternal Separation </a:t>
            </a:r>
            <a:br>
              <a:rPr lang="en-AU" sz="4000" dirty="0">
                <a:latin typeface="Merriweather" panose="00000500000000000000" pitchFamily="2" charset="0"/>
              </a:rPr>
            </a:br>
            <a:r>
              <a:rPr lang="en-AU" sz="4000" dirty="0">
                <a:latin typeface="Merriweather" panose="00000500000000000000" pitchFamily="2" charset="0"/>
              </a:rPr>
              <a:t>(and maternal stress)</a:t>
            </a:r>
          </a:p>
        </p:txBody>
      </p:sp>
      <p:grpSp>
        <p:nvGrpSpPr>
          <p:cNvPr id="7" name="Group 6">
            <a:extLst>
              <a:ext uri="{FF2B5EF4-FFF2-40B4-BE49-F238E27FC236}">
                <a16:creationId xmlns:a16="http://schemas.microsoft.com/office/drawing/2014/main" id="{E04EF2F5-1DD6-2140-01A1-D1105944DFB3}"/>
              </a:ext>
            </a:extLst>
          </p:cNvPr>
          <p:cNvGrpSpPr/>
          <p:nvPr/>
        </p:nvGrpSpPr>
        <p:grpSpPr>
          <a:xfrm>
            <a:off x="444162" y="2683955"/>
            <a:ext cx="4011561" cy="3063875"/>
            <a:chOff x="6919913" y="3429000"/>
            <a:chExt cx="4011561" cy="3063875"/>
          </a:xfrm>
        </p:grpSpPr>
        <p:pic>
          <p:nvPicPr>
            <p:cNvPr id="3" name="Picture 2" descr="Professor Rick Richardson Archives ...">
              <a:extLst>
                <a:ext uri="{FF2B5EF4-FFF2-40B4-BE49-F238E27FC236}">
                  <a16:creationId xmlns:a16="http://schemas.microsoft.com/office/drawing/2014/main" id="{EDE29420-DCC0-C8CD-759C-5E133413D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7237" y="3429000"/>
              <a:ext cx="3424237" cy="256487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10">
              <a:extLst>
                <a:ext uri="{FF2B5EF4-FFF2-40B4-BE49-F238E27FC236}">
                  <a16:creationId xmlns:a16="http://schemas.microsoft.com/office/drawing/2014/main" id="{428B1E2B-F604-756F-2F9D-A45CA1779E54}"/>
                </a:ext>
              </a:extLst>
            </p:cNvPr>
            <p:cNvSpPr txBox="1"/>
            <p:nvPr/>
          </p:nvSpPr>
          <p:spPr>
            <a:xfrm>
              <a:off x="6919913" y="6031210"/>
              <a:ext cx="4011561"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2400" dirty="0">
                  <a:latin typeface="Tw Cen MT Condensed" panose="020B0606020104020203" pitchFamily="34" charset="0"/>
                  <a:cs typeface="Arial" panose="020B0604020202020204" pitchFamily="34" charset="0"/>
                </a:rPr>
                <a:t>Rick Richardson, UNSW</a:t>
              </a:r>
              <a:endParaRPr lang="en-AU" sz="2400" dirty="0">
                <a:latin typeface="Tw Cen MT Condensed" panose="020B0606020104020203" pitchFamily="34" charset="0"/>
                <a:cs typeface="Arial" panose="020B0604020202020204" pitchFamily="34" charset="0"/>
              </a:endParaRPr>
            </a:p>
          </p:txBody>
        </p:sp>
      </p:grpSp>
    </p:spTree>
    <p:extLst>
      <p:ext uri="{BB962C8B-B14F-4D97-AF65-F5344CB8AC3E}">
        <p14:creationId xmlns:p14="http://schemas.microsoft.com/office/powerpoint/2010/main" val="3989961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BFA7D-F553-ECF0-AAD2-39CAB19FCBCA}"/>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9B59BE4E-85FC-47EB-55AE-46788059E310}"/>
              </a:ext>
            </a:extLst>
          </p:cNvPr>
          <p:cNvSpPr txBox="1"/>
          <p:nvPr/>
        </p:nvSpPr>
        <p:spPr>
          <a:xfrm>
            <a:off x="148183" y="459188"/>
            <a:ext cx="4249687" cy="584775"/>
          </a:xfrm>
          <a:prstGeom prst="rect">
            <a:avLst/>
          </a:prstGeom>
          <a:noFill/>
        </p:spPr>
        <p:txBody>
          <a:bodyPr wrap="square" rtlCol="0">
            <a:spAutoFit/>
          </a:bodyPr>
          <a:lstStyle/>
          <a:p>
            <a:r>
              <a:rPr lang="en-AU" sz="3200" dirty="0">
                <a:latin typeface="Merriweather" panose="00000500000000000000" pitchFamily="2" charset="0"/>
              </a:rPr>
              <a:t>Infantile Amnesia</a:t>
            </a:r>
          </a:p>
        </p:txBody>
      </p:sp>
      <p:sp>
        <p:nvSpPr>
          <p:cNvPr id="13" name="TextBox 12">
            <a:extLst>
              <a:ext uri="{FF2B5EF4-FFF2-40B4-BE49-F238E27FC236}">
                <a16:creationId xmlns:a16="http://schemas.microsoft.com/office/drawing/2014/main" id="{1E03E8CE-9E15-B8B2-0F1C-E469620B4A7E}"/>
              </a:ext>
            </a:extLst>
          </p:cNvPr>
          <p:cNvSpPr txBox="1"/>
          <p:nvPr/>
        </p:nvSpPr>
        <p:spPr>
          <a:xfrm>
            <a:off x="282340" y="1338771"/>
            <a:ext cx="6298342" cy="1200329"/>
          </a:xfrm>
          <a:prstGeom prst="rect">
            <a:avLst/>
          </a:prstGeom>
          <a:noFill/>
        </p:spPr>
        <p:txBody>
          <a:bodyPr wrap="square" rtlCol="0">
            <a:spAutoFit/>
          </a:bodyPr>
          <a:lstStyle/>
          <a:p>
            <a:pPr marL="342900" indent="-342900">
              <a:buFont typeface="Arial" panose="020B0604020202020204" pitchFamily="34" charset="0"/>
              <a:buChar char="•"/>
            </a:pPr>
            <a:r>
              <a:rPr lang="en-AU" sz="2400" dirty="0">
                <a:latin typeface="Merriweather" panose="00000500000000000000" pitchFamily="2" charset="0"/>
              </a:rPr>
              <a:t>Weak episodic memory formation typical of young children (before the age of ~3-4)</a:t>
            </a:r>
          </a:p>
        </p:txBody>
      </p:sp>
      <p:pic>
        <p:nvPicPr>
          <p:cNvPr id="3" name="Picture 2" descr="figure 1">
            <a:extLst>
              <a:ext uri="{FF2B5EF4-FFF2-40B4-BE49-F238E27FC236}">
                <a16:creationId xmlns:a16="http://schemas.microsoft.com/office/drawing/2014/main" id="{A25915BB-ED6E-F053-1E45-E27099BF6748}"/>
              </a:ext>
            </a:extLst>
          </p:cNvPr>
          <p:cNvPicPr>
            <a:picLocks noChangeAspect="1"/>
          </p:cNvPicPr>
          <p:nvPr/>
        </p:nvPicPr>
        <p:blipFill>
          <a:blip r:embed="rId2"/>
          <a:stretch>
            <a:fillRect/>
          </a:stretch>
        </p:blipFill>
        <p:spPr>
          <a:xfrm>
            <a:off x="926296" y="2820922"/>
            <a:ext cx="3471574" cy="3564397"/>
          </a:xfrm>
          <a:prstGeom prst="rect">
            <a:avLst/>
          </a:prstGeom>
        </p:spPr>
      </p:pic>
      <p:sp>
        <p:nvSpPr>
          <p:cNvPr id="6" name="TextBox 5">
            <a:extLst>
              <a:ext uri="{FF2B5EF4-FFF2-40B4-BE49-F238E27FC236}">
                <a16:creationId xmlns:a16="http://schemas.microsoft.com/office/drawing/2014/main" id="{D065122A-0337-36E7-5490-DFAF66019F20}"/>
              </a:ext>
            </a:extLst>
          </p:cNvPr>
          <p:cNvSpPr txBox="1"/>
          <p:nvPr/>
        </p:nvSpPr>
        <p:spPr>
          <a:xfrm>
            <a:off x="423622" y="6398812"/>
            <a:ext cx="3698807" cy="400110"/>
          </a:xfrm>
          <a:prstGeom prst="rect">
            <a:avLst/>
          </a:prstGeom>
          <a:noFill/>
        </p:spPr>
        <p:txBody>
          <a:bodyPr wrap="square" rtlCol="0">
            <a:spAutoFit/>
          </a:bodyPr>
          <a:lstStyle/>
          <a:p>
            <a:pPr algn="r"/>
            <a:r>
              <a:rPr lang="en-AU" sz="2000" i="1" dirty="0">
                <a:latin typeface="Merriweather" panose="00000500000000000000" pitchFamily="2" charset="0"/>
              </a:rPr>
              <a:t>Josselyn et al., 2012</a:t>
            </a:r>
          </a:p>
        </p:txBody>
      </p:sp>
    </p:spTree>
    <p:extLst>
      <p:ext uri="{BB962C8B-B14F-4D97-AF65-F5344CB8AC3E}">
        <p14:creationId xmlns:p14="http://schemas.microsoft.com/office/powerpoint/2010/main" val="1591043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2518F-CAF2-0267-96FB-EED0F65A4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3FA02-0ABF-822D-C58E-69E73E1E8140}"/>
              </a:ext>
            </a:extLst>
          </p:cNvPr>
          <p:cNvSpPr>
            <a:spLocks noGrp="1"/>
          </p:cNvSpPr>
          <p:nvPr>
            <p:ph type="title"/>
          </p:nvPr>
        </p:nvSpPr>
        <p:spPr>
          <a:xfrm>
            <a:off x="43253" y="-11353"/>
            <a:ext cx="11715750" cy="1325563"/>
          </a:xfrm>
        </p:spPr>
        <p:txBody>
          <a:bodyPr>
            <a:normAutofit/>
          </a:bodyPr>
          <a:lstStyle/>
          <a:p>
            <a:r>
              <a:rPr lang="en-AU" sz="4000" dirty="0">
                <a:latin typeface="Merriweather" panose="00000500000000000000" pitchFamily="2" charset="0"/>
              </a:rPr>
              <a:t>Maternal Separation and Infantile Amnesia</a:t>
            </a:r>
          </a:p>
        </p:txBody>
      </p:sp>
      <p:grpSp>
        <p:nvGrpSpPr>
          <p:cNvPr id="39" name="Group 38">
            <a:extLst>
              <a:ext uri="{FF2B5EF4-FFF2-40B4-BE49-F238E27FC236}">
                <a16:creationId xmlns:a16="http://schemas.microsoft.com/office/drawing/2014/main" id="{CF69EAE6-5BBC-47B5-6824-52C789CDA8A8}"/>
              </a:ext>
            </a:extLst>
          </p:cNvPr>
          <p:cNvGrpSpPr/>
          <p:nvPr/>
        </p:nvGrpSpPr>
        <p:grpSpPr>
          <a:xfrm>
            <a:off x="-24055" y="993110"/>
            <a:ext cx="8056058" cy="1907001"/>
            <a:chOff x="-24055" y="993110"/>
            <a:chExt cx="8056058" cy="1907001"/>
          </a:xfrm>
        </p:grpSpPr>
        <p:sp>
          <p:nvSpPr>
            <p:cNvPr id="13" name="TextBox 12">
              <a:extLst>
                <a:ext uri="{FF2B5EF4-FFF2-40B4-BE49-F238E27FC236}">
                  <a16:creationId xmlns:a16="http://schemas.microsoft.com/office/drawing/2014/main" id="{E062BAD4-876B-72D6-464A-064BDA70933C}"/>
                </a:ext>
              </a:extLst>
            </p:cNvPr>
            <p:cNvSpPr txBox="1"/>
            <p:nvPr/>
          </p:nvSpPr>
          <p:spPr>
            <a:xfrm>
              <a:off x="-24055" y="993110"/>
              <a:ext cx="6009215" cy="461665"/>
            </a:xfrm>
            <a:prstGeom prst="rect">
              <a:avLst/>
            </a:prstGeom>
            <a:noFill/>
          </p:spPr>
          <p:txBody>
            <a:bodyPr wrap="square" rtlCol="0">
              <a:spAutoFit/>
            </a:bodyPr>
            <a:lstStyle/>
            <a:p>
              <a:r>
                <a:rPr lang="en-AU" sz="2400" dirty="0">
                  <a:latin typeface="Merriweather" panose="00000500000000000000" pitchFamily="2" charset="0"/>
                </a:rPr>
                <a:t>Fear Conditioning</a:t>
              </a:r>
            </a:p>
          </p:txBody>
        </p:sp>
        <p:sp>
          <p:nvSpPr>
            <p:cNvPr id="16" name="TextBox 15">
              <a:extLst>
                <a:ext uri="{FF2B5EF4-FFF2-40B4-BE49-F238E27FC236}">
                  <a16:creationId xmlns:a16="http://schemas.microsoft.com/office/drawing/2014/main" id="{AB48D944-FD12-F36F-81E1-5E0026FBC5C6}"/>
                </a:ext>
              </a:extLst>
            </p:cNvPr>
            <p:cNvSpPr txBox="1"/>
            <p:nvPr/>
          </p:nvSpPr>
          <p:spPr>
            <a:xfrm>
              <a:off x="2022788" y="1422783"/>
              <a:ext cx="6009215" cy="1477328"/>
            </a:xfrm>
            <a:prstGeom prst="rect">
              <a:avLst/>
            </a:prstGeom>
            <a:noFill/>
          </p:spPr>
          <p:txBody>
            <a:bodyPr wrap="square" rtlCol="0">
              <a:spAutoFit/>
            </a:bodyPr>
            <a:lstStyle/>
            <a:p>
              <a:pPr marL="342900" indent="-342900">
                <a:buFont typeface="Arial" panose="020B0604020202020204" pitchFamily="34" charset="0"/>
                <a:buChar char="•"/>
              </a:pPr>
              <a:r>
                <a:rPr lang="en-AU" i="1" dirty="0">
                  <a:latin typeface="Merriweather" panose="00000500000000000000" pitchFamily="2" charset="0"/>
                </a:rPr>
                <a:t>Animals are placed in a chamber and exposed to several pairings of an auditory stimulus and a mild foot shock</a:t>
              </a:r>
            </a:p>
            <a:p>
              <a:pPr marL="342900" indent="-342900">
                <a:buFont typeface="Arial" panose="020B0604020202020204" pitchFamily="34" charset="0"/>
                <a:buChar char="•"/>
              </a:pPr>
              <a:r>
                <a:rPr lang="en-AU" i="1" dirty="0">
                  <a:latin typeface="Merriweather" panose="00000500000000000000" pitchFamily="2" charset="0"/>
                </a:rPr>
                <a:t>After conditioning, animals will exhibit fear responses when exposed to the auditory stimulus</a:t>
              </a:r>
            </a:p>
          </p:txBody>
        </p:sp>
        <p:grpSp>
          <p:nvGrpSpPr>
            <p:cNvPr id="38" name="Group 37">
              <a:extLst>
                <a:ext uri="{FF2B5EF4-FFF2-40B4-BE49-F238E27FC236}">
                  <a16:creationId xmlns:a16="http://schemas.microsoft.com/office/drawing/2014/main" id="{A934EE81-7FEE-21A7-01E8-96F4294812F1}"/>
                </a:ext>
              </a:extLst>
            </p:cNvPr>
            <p:cNvGrpSpPr/>
            <p:nvPr/>
          </p:nvGrpSpPr>
          <p:grpSpPr>
            <a:xfrm>
              <a:off x="249580" y="1546786"/>
              <a:ext cx="1551535" cy="1220009"/>
              <a:chOff x="249580" y="1907016"/>
              <a:chExt cx="1551535" cy="1220009"/>
            </a:xfrm>
          </p:grpSpPr>
          <p:grpSp>
            <p:nvGrpSpPr>
              <p:cNvPr id="15" name="Group 14">
                <a:extLst>
                  <a:ext uri="{FF2B5EF4-FFF2-40B4-BE49-F238E27FC236}">
                    <a16:creationId xmlns:a16="http://schemas.microsoft.com/office/drawing/2014/main" id="{97C3A148-F3E1-9206-6EEE-18E2CFC6C21A}"/>
                  </a:ext>
                </a:extLst>
              </p:cNvPr>
              <p:cNvGrpSpPr/>
              <p:nvPr/>
            </p:nvGrpSpPr>
            <p:grpSpPr>
              <a:xfrm>
                <a:off x="249580" y="1907016"/>
                <a:ext cx="1551535" cy="1220009"/>
                <a:chOff x="1219374" y="2608167"/>
                <a:chExt cx="1551535" cy="1220009"/>
              </a:xfrm>
            </p:grpSpPr>
            <p:sp>
              <p:nvSpPr>
                <p:cNvPr id="3" name="Rectangle 2">
                  <a:extLst>
                    <a:ext uri="{FF2B5EF4-FFF2-40B4-BE49-F238E27FC236}">
                      <a16:creationId xmlns:a16="http://schemas.microsoft.com/office/drawing/2014/main" id="{088FD9B4-937B-E896-275E-DFBAD15E3BC7}"/>
                    </a:ext>
                  </a:extLst>
                </p:cNvPr>
                <p:cNvSpPr/>
                <p:nvPr/>
              </p:nvSpPr>
              <p:spPr>
                <a:xfrm>
                  <a:off x="1219374" y="2608167"/>
                  <a:ext cx="1551535" cy="1220009"/>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descr="Rat Hd Transparent HQ PNG Download | FreePNGimg">
                  <a:extLst>
                    <a:ext uri="{FF2B5EF4-FFF2-40B4-BE49-F238E27FC236}">
                      <a16:creationId xmlns:a16="http://schemas.microsoft.com/office/drawing/2014/main" id="{E4912737-52E9-37E6-8273-0BFF23196552}"/>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233229" y="3024991"/>
                  <a:ext cx="1075128" cy="585945"/>
                </a:xfrm>
                <a:prstGeom prst="rect">
                  <a:avLst/>
                </a:prstGeom>
              </p:spPr>
            </p:pic>
            <p:pic>
              <p:nvPicPr>
                <p:cNvPr id="14" name="Picture 13" descr="La Foudre Boulon Jaune - Images vectorielles gratuites sur Pixabay">
                  <a:extLst>
                    <a:ext uri="{FF2B5EF4-FFF2-40B4-BE49-F238E27FC236}">
                      <a16:creationId xmlns:a16="http://schemas.microsoft.com/office/drawing/2014/main" id="{1032B92E-D9DF-E009-33EB-C0F1179C4868}"/>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2246135" y="3208072"/>
                  <a:ext cx="524774" cy="565624"/>
                </a:xfrm>
                <a:prstGeom prst="rect">
                  <a:avLst/>
                </a:prstGeom>
              </p:spPr>
            </p:pic>
          </p:grpSp>
          <p:pic>
            <p:nvPicPr>
              <p:cNvPr id="37" name="Graphic 36" descr="SVG &gt; Umrisse Element laut klingen - Kostenloses SVG-Bild &amp; Symbol ...">
                <a:extLst>
                  <a:ext uri="{FF2B5EF4-FFF2-40B4-BE49-F238E27FC236}">
                    <a16:creationId xmlns:a16="http://schemas.microsoft.com/office/drawing/2014/main" id="{9B3EBADF-6CC7-DA59-912B-FF5DA1F415A3}"/>
                  </a:ext>
                </a:extLst>
              </p:cNvPr>
              <p:cNvPicPr>
                <a:picLocks noChangeAspect="1"/>
              </p:cNvPicPr>
              <p:nvPr/>
            </p:nvPicPr>
            <p:blipFill>
              <a:blip>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tretch>
                <a:fillRect/>
              </a:stretch>
            </p:blipFill>
            <p:spPr>
              <a:xfrm>
                <a:off x="1276341" y="1978796"/>
                <a:ext cx="424404" cy="431140"/>
              </a:xfrm>
              <a:prstGeom prst="rect">
                <a:avLst/>
              </a:prstGeom>
            </p:spPr>
          </p:pic>
        </p:grpSp>
      </p:grpSp>
    </p:spTree>
    <p:extLst>
      <p:ext uri="{BB962C8B-B14F-4D97-AF65-F5344CB8AC3E}">
        <p14:creationId xmlns:p14="http://schemas.microsoft.com/office/powerpoint/2010/main" val="2005675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0789F-AF08-CE17-1057-A79F780C6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C35D1-BB88-4513-CFAD-ADE3A7239D51}"/>
              </a:ext>
            </a:extLst>
          </p:cNvPr>
          <p:cNvSpPr>
            <a:spLocks noGrp="1"/>
          </p:cNvSpPr>
          <p:nvPr>
            <p:ph type="title"/>
          </p:nvPr>
        </p:nvSpPr>
        <p:spPr>
          <a:xfrm>
            <a:off x="43253" y="-11353"/>
            <a:ext cx="11715750" cy="1325563"/>
          </a:xfrm>
        </p:spPr>
        <p:txBody>
          <a:bodyPr>
            <a:normAutofit/>
          </a:bodyPr>
          <a:lstStyle/>
          <a:p>
            <a:r>
              <a:rPr lang="en-AU" sz="4000" dirty="0">
                <a:latin typeface="Merriweather" panose="00000500000000000000" pitchFamily="2" charset="0"/>
              </a:rPr>
              <a:t>Maternal Separation and Infantile Amnesia</a:t>
            </a:r>
          </a:p>
        </p:txBody>
      </p:sp>
      <p:grpSp>
        <p:nvGrpSpPr>
          <p:cNvPr id="39" name="Group 38">
            <a:extLst>
              <a:ext uri="{FF2B5EF4-FFF2-40B4-BE49-F238E27FC236}">
                <a16:creationId xmlns:a16="http://schemas.microsoft.com/office/drawing/2014/main" id="{F1912DC5-0794-0B7C-CA45-450F6E4CA4C7}"/>
              </a:ext>
            </a:extLst>
          </p:cNvPr>
          <p:cNvGrpSpPr/>
          <p:nvPr/>
        </p:nvGrpSpPr>
        <p:grpSpPr>
          <a:xfrm>
            <a:off x="-24055" y="993110"/>
            <a:ext cx="8056058" cy="1907001"/>
            <a:chOff x="-24055" y="993110"/>
            <a:chExt cx="8056058" cy="1907001"/>
          </a:xfrm>
        </p:grpSpPr>
        <p:sp>
          <p:nvSpPr>
            <p:cNvPr id="13" name="TextBox 12">
              <a:extLst>
                <a:ext uri="{FF2B5EF4-FFF2-40B4-BE49-F238E27FC236}">
                  <a16:creationId xmlns:a16="http://schemas.microsoft.com/office/drawing/2014/main" id="{CBD0C37A-334E-00FA-2ECC-1C55BEECD8B5}"/>
                </a:ext>
              </a:extLst>
            </p:cNvPr>
            <p:cNvSpPr txBox="1"/>
            <p:nvPr/>
          </p:nvSpPr>
          <p:spPr>
            <a:xfrm>
              <a:off x="-24055" y="993110"/>
              <a:ext cx="6009215" cy="461665"/>
            </a:xfrm>
            <a:prstGeom prst="rect">
              <a:avLst/>
            </a:prstGeom>
            <a:noFill/>
          </p:spPr>
          <p:txBody>
            <a:bodyPr wrap="square" rtlCol="0">
              <a:spAutoFit/>
            </a:bodyPr>
            <a:lstStyle/>
            <a:p>
              <a:r>
                <a:rPr lang="en-AU" sz="2400" dirty="0">
                  <a:latin typeface="Merriweather" panose="00000500000000000000" pitchFamily="2" charset="0"/>
                </a:rPr>
                <a:t>Fear Conditioning</a:t>
              </a:r>
            </a:p>
          </p:txBody>
        </p:sp>
        <p:sp>
          <p:nvSpPr>
            <p:cNvPr id="16" name="TextBox 15">
              <a:extLst>
                <a:ext uri="{FF2B5EF4-FFF2-40B4-BE49-F238E27FC236}">
                  <a16:creationId xmlns:a16="http://schemas.microsoft.com/office/drawing/2014/main" id="{5299C8A5-DB25-86BF-AA77-706F56FB548B}"/>
                </a:ext>
              </a:extLst>
            </p:cNvPr>
            <p:cNvSpPr txBox="1"/>
            <p:nvPr/>
          </p:nvSpPr>
          <p:spPr>
            <a:xfrm>
              <a:off x="2022788" y="1422783"/>
              <a:ext cx="6009215" cy="1477328"/>
            </a:xfrm>
            <a:prstGeom prst="rect">
              <a:avLst/>
            </a:prstGeom>
            <a:noFill/>
          </p:spPr>
          <p:txBody>
            <a:bodyPr wrap="square" rtlCol="0">
              <a:spAutoFit/>
            </a:bodyPr>
            <a:lstStyle/>
            <a:p>
              <a:pPr marL="342900" indent="-342900">
                <a:buFont typeface="Arial" panose="020B0604020202020204" pitchFamily="34" charset="0"/>
                <a:buChar char="•"/>
              </a:pPr>
              <a:r>
                <a:rPr lang="en-AU" i="1" dirty="0">
                  <a:latin typeface="Merriweather" panose="00000500000000000000" pitchFamily="2" charset="0"/>
                </a:rPr>
                <a:t>Animals are placed in a chamber and exposed to several pairings of an auditory stimulus and a mild foot shock</a:t>
              </a:r>
            </a:p>
            <a:p>
              <a:pPr marL="342900" indent="-342900">
                <a:buFont typeface="Arial" panose="020B0604020202020204" pitchFamily="34" charset="0"/>
                <a:buChar char="•"/>
              </a:pPr>
              <a:r>
                <a:rPr lang="en-AU" i="1" dirty="0">
                  <a:latin typeface="Merriweather" panose="00000500000000000000" pitchFamily="2" charset="0"/>
                </a:rPr>
                <a:t>After conditioning, animals will exhibit fear responses when exposed to the auditory stimulus</a:t>
              </a:r>
            </a:p>
          </p:txBody>
        </p:sp>
        <p:grpSp>
          <p:nvGrpSpPr>
            <p:cNvPr id="38" name="Group 37">
              <a:extLst>
                <a:ext uri="{FF2B5EF4-FFF2-40B4-BE49-F238E27FC236}">
                  <a16:creationId xmlns:a16="http://schemas.microsoft.com/office/drawing/2014/main" id="{2FEE4165-660B-C046-E728-CC0562F37D08}"/>
                </a:ext>
              </a:extLst>
            </p:cNvPr>
            <p:cNvGrpSpPr/>
            <p:nvPr/>
          </p:nvGrpSpPr>
          <p:grpSpPr>
            <a:xfrm>
              <a:off x="249580" y="1546786"/>
              <a:ext cx="1551535" cy="1220009"/>
              <a:chOff x="249580" y="1907016"/>
              <a:chExt cx="1551535" cy="1220009"/>
            </a:xfrm>
          </p:grpSpPr>
          <p:grpSp>
            <p:nvGrpSpPr>
              <p:cNvPr id="15" name="Group 14">
                <a:extLst>
                  <a:ext uri="{FF2B5EF4-FFF2-40B4-BE49-F238E27FC236}">
                    <a16:creationId xmlns:a16="http://schemas.microsoft.com/office/drawing/2014/main" id="{CCC9D2AD-2B1A-038A-558E-DC22322DDD4E}"/>
                  </a:ext>
                </a:extLst>
              </p:cNvPr>
              <p:cNvGrpSpPr/>
              <p:nvPr/>
            </p:nvGrpSpPr>
            <p:grpSpPr>
              <a:xfrm>
                <a:off x="249580" y="1907016"/>
                <a:ext cx="1551535" cy="1220009"/>
                <a:chOff x="1219374" y="2608167"/>
                <a:chExt cx="1551535" cy="1220009"/>
              </a:xfrm>
            </p:grpSpPr>
            <p:sp>
              <p:nvSpPr>
                <p:cNvPr id="3" name="Rectangle 2">
                  <a:extLst>
                    <a:ext uri="{FF2B5EF4-FFF2-40B4-BE49-F238E27FC236}">
                      <a16:creationId xmlns:a16="http://schemas.microsoft.com/office/drawing/2014/main" id="{16A39470-D840-3CEE-503D-09452EEAED73}"/>
                    </a:ext>
                  </a:extLst>
                </p:cNvPr>
                <p:cNvSpPr/>
                <p:nvPr/>
              </p:nvSpPr>
              <p:spPr>
                <a:xfrm>
                  <a:off x="1219374" y="2608167"/>
                  <a:ext cx="1551535" cy="1220009"/>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descr="Rat Hd Transparent HQ PNG Download | FreePNGimg">
                  <a:extLst>
                    <a:ext uri="{FF2B5EF4-FFF2-40B4-BE49-F238E27FC236}">
                      <a16:creationId xmlns:a16="http://schemas.microsoft.com/office/drawing/2014/main" id="{A64F3D59-38C7-8AD0-354F-7B65F116062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233229" y="3024991"/>
                  <a:ext cx="1075128" cy="585945"/>
                </a:xfrm>
                <a:prstGeom prst="rect">
                  <a:avLst/>
                </a:prstGeom>
              </p:spPr>
            </p:pic>
            <p:pic>
              <p:nvPicPr>
                <p:cNvPr id="14" name="Picture 13" descr="La Foudre Boulon Jaune - Images vectorielles gratuites sur Pixabay">
                  <a:extLst>
                    <a:ext uri="{FF2B5EF4-FFF2-40B4-BE49-F238E27FC236}">
                      <a16:creationId xmlns:a16="http://schemas.microsoft.com/office/drawing/2014/main" id="{A431B083-1B8E-BFDC-F9F2-D613F0388002}"/>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2246135" y="3208072"/>
                  <a:ext cx="524774" cy="565624"/>
                </a:xfrm>
                <a:prstGeom prst="rect">
                  <a:avLst/>
                </a:prstGeom>
              </p:spPr>
            </p:pic>
          </p:grpSp>
          <p:pic>
            <p:nvPicPr>
              <p:cNvPr id="37" name="Graphic 36" descr="SVG &gt; Umrisse Element laut klingen - Kostenloses SVG-Bild &amp; Symbol ...">
                <a:extLst>
                  <a:ext uri="{FF2B5EF4-FFF2-40B4-BE49-F238E27FC236}">
                    <a16:creationId xmlns:a16="http://schemas.microsoft.com/office/drawing/2014/main" id="{BCE3275E-969B-AFF3-7001-411BDF07D05F}"/>
                  </a:ext>
                </a:extLst>
              </p:cNvPr>
              <p:cNvPicPr>
                <a:picLocks noChangeAspect="1"/>
              </p:cNvPicPr>
              <p:nvPr/>
            </p:nvPicPr>
            <p:blipFill>
              <a:blip>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tretch>
                <a:fillRect/>
              </a:stretch>
            </p:blipFill>
            <p:spPr>
              <a:xfrm>
                <a:off x="1276341" y="1978796"/>
                <a:ext cx="424404" cy="431140"/>
              </a:xfrm>
              <a:prstGeom prst="rect">
                <a:avLst/>
              </a:prstGeom>
            </p:spPr>
          </p:pic>
        </p:grpSp>
      </p:grpSp>
      <p:grpSp>
        <p:nvGrpSpPr>
          <p:cNvPr id="40" name="Group 39">
            <a:extLst>
              <a:ext uri="{FF2B5EF4-FFF2-40B4-BE49-F238E27FC236}">
                <a16:creationId xmlns:a16="http://schemas.microsoft.com/office/drawing/2014/main" id="{7062AA60-7A36-6614-2248-79212AF39F8F}"/>
              </a:ext>
            </a:extLst>
          </p:cNvPr>
          <p:cNvGrpSpPr/>
          <p:nvPr/>
        </p:nvGrpSpPr>
        <p:grpSpPr>
          <a:xfrm>
            <a:off x="-7103" y="2841172"/>
            <a:ext cx="7035976" cy="1907001"/>
            <a:chOff x="-24055" y="993110"/>
            <a:chExt cx="7035976" cy="1907001"/>
          </a:xfrm>
        </p:grpSpPr>
        <p:sp>
          <p:nvSpPr>
            <p:cNvPr id="41" name="TextBox 40">
              <a:extLst>
                <a:ext uri="{FF2B5EF4-FFF2-40B4-BE49-F238E27FC236}">
                  <a16:creationId xmlns:a16="http://schemas.microsoft.com/office/drawing/2014/main" id="{DC956289-4A2B-13BF-A7D1-F27C33AC25F8}"/>
                </a:ext>
              </a:extLst>
            </p:cNvPr>
            <p:cNvSpPr txBox="1"/>
            <p:nvPr/>
          </p:nvSpPr>
          <p:spPr>
            <a:xfrm>
              <a:off x="-24055" y="993110"/>
              <a:ext cx="6009215" cy="461665"/>
            </a:xfrm>
            <a:prstGeom prst="rect">
              <a:avLst/>
            </a:prstGeom>
            <a:noFill/>
          </p:spPr>
          <p:txBody>
            <a:bodyPr wrap="square" rtlCol="0">
              <a:spAutoFit/>
            </a:bodyPr>
            <a:lstStyle/>
            <a:p>
              <a:r>
                <a:rPr lang="en-AU" sz="2400" dirty="0">
                  <a:latin typeface="Merriweather" panose="00000500000000000000" pitchFamily="2" charset="0"/>
                </a:rPr>
                <a:t>Fear Extinction</a:t>
              </a:r>
            </a:p>
          </p:txBody>
        </p:sp>
        <p:sp>
          <p:nvSpPr>
            <p:cNvPr id="42" name="TextBox 41">
              <a:extLst>
                <a:ext uri="{FF2B5EF4-FFF2-40B4-BE49-F238E27FC236}">
                  <a16:creationId xmlns:a16="http://schemas.microsoft.com/office/drawing/2014/main" id="{36DA65A9-D9ED-42F8-1C8E-D570F9A32DD7}"/>
                </a:ext>
              </a:extLst>
            </p:cNvPr>
            <p:cNvSpPr txBox="1"/>
            <p:nvPr/>
          </p:nvSpPr>
          <p:spPr>
            <a:xfrm>
              <a:off x="2022789" y="1422783"/>
              <a:ext cx="4989132" cy="1477328"/>
            </a:xfrm>
            <a:prstGeom prst="rect">
              <a:avLst/>
            </a:prstGeom>
            <a:noFill/>
          </p:spPr>
          <p:txBody>
            <a:bodyPr wrap="square" rtlCol="0">
              <a:spAutoFit/>
            </a:bodyPr>
            <a:lstStyle/>
            <a:p>
              <a:pPr marL="342900" indent="-342900">
                <a:buFont typeface="Arial" panose="020B0604020202020204" pitchFamily="34" charset="0"/>
                <a:buChar char="•"/>
              </a:pPr>
              <a:r>
                <a:rPr lang="en-AU" i="1" dirty="0">
                  <a:latin typeface="Merriweather" panose="00000500000000000000" pitchFamily="2" charset="0"/>
                </a:rPr>
                <a:t>Animals are placed in a new chamber and exposed to repeated presentations of the auditory stimulus with no foot shock</a:t>
              </a:r>
            </a:p>
            <a:p>
              <a:pPr marL="342900" indent="-342900">
                <a:buFont typeface="Arial" panose="020B0604020202020204" pitchFamily="34" charset="0"/>
                <a:buChar char="•"/>
              </a:pPr>
              <a:r>
                <a:rPr lang="en-AU" i="1" dirty="0">
                  <a:latin typeface="Merriweather" panose="00000500000000000000" pitchFamily="2" charset="0"/>
                </a:rPr>
                <a:t>Fear decreases as they learn that the sound is no longer dangerous</a:t>
              </a:r>
            </a:p>
          </p:txBody>
        </p:sp>
        <p:grpSp>
          <p:nvGrpSpPr>
            <p:cNvPr id="43" name="Group 42">
              <a:extLst>
                <a:ext uri="{FF2B5EF4-FFF2-40B4-BE49-F238E27FC236}">
                  <a16:creationId xmlns:a16="http://schemas.microsoft.com/office/drawing/2014/main" id="{38F67D87-E0D4-C581-2116-854F5D555BC5}"/>
                </a:ext>
              </a:extLst>
            </p:cNvPr>
            <p:cNvGrpSpPr/>
            <p:nvPr/>
          </p:nvGrpSpPr>
          <p:grpSpPr>
            <a:xfrm>
              <a:off x="249580" y="1546786"/>
              <a:ext cx="1551535" cy="1220009"/>
              <a:chOff x="249580" y="1907016"/>
              <a:chExt cx="1551535" cy="1220009"/>
            </a:xfrm>
          </p:grpSpPr>
          <p:grpSp>
            <p:nvGrpSpPr>
              <p:cNvPr id="44" name="Group 43">
                <a:extLst>
                  <a:ext uri="{FF2B5EF4-FFF2-40B4-BE49-F238E27FC236}">
                    <a16:creationId xmlns:a16="http://schemas.microsoft.com/office/drawing/2014/main" id="{6BA312FB-558F-B0AA-714D-574D6BC6C7F8}"/>
                  </a:ext>
                </a:extLst>
              </p:cNvPr>
              <p:cNvGrpSpPr/>
              <p:nvPr/>
            </p:nvGrpSpPr>
            <p:grpSpPr>
              <a:xfrm>
                <a:off x="249580" y="1907016"/>
                <a:ext cx="1551535" cy="1220009"/>
                <a:chOff x="1219374" y="2608167"/>
                <a:chExt cx="1551535" cy="1220009"/>
              </a:xfrm>
            </p:grpSpPr>
            <p:sp>
              <p:nvSpPr>
                <p:cNvPr id="46" name="Rectangle 45">
                  <a:extLst>
                    <a:ext uri="{FF2B5EF4-FFF2-40B4-BE49-F238E27FC236}">
                      <a16:creationId xmlns:a16="http://schemas.microsoft.com/office/drawing/2014/main" id="{84348EBB-DB38-D4A9-BAED-522FFF1A0A16}"/>
                    </a:ext>
                  </a:extLst>
                </p:cNvPr>
                <p:cNvSpPr/>
                <p:nvPr/>
              </p:nvSpPr>
              <p:spPr>
                <a:xfrm>
                  <a:off x="1219374" y="2608167"/>
                  <a:ext cx="1551535" cy="122000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7" name="Picture 46" descr="Rat Hd Transparent HQ PNG Download | FreePNGimg">
                  <a:extLst>
                    <a:ext uri="{FF2B5EF4-FFF2-40B4-BE49-F238E27FC236}">
                      <a16:creationId xmlns:a16="http://schemas.microsoft.com/office/drawing/2014/main" id="{98703436-EAFA-336A-A9F0-E13077EC128F}"/>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233229" y="3024991"/>
                  <a:ext cx="1075128" cy="585945"/>
                </a:xfrm>
                <a:prstGeom prst="rect">
                  <a:avLst/>
                </a:prstGeom>
              </p:spPr>
            </p:pic>
          </p:grpSp>
          <p:pic>
            <p:nvPicPr>
              <p:cNvPr id="45" name="Graphic 44" descr="SVG &gt; Umrisse Element laut klingen - Kostenloses SVG-Bild &amp; Symbol ...">
                <a:extLst>
                  <a:ext uri="{FF2B5EF4-FFF2-40B4-BE49-F238E27FC236}">
                    <a16:creationId xmlns:a16="http://schemas.microsoft.com/office/drawing/2014/main" id="{25545B86-FC38-ABAC-8789-EF1513E46A8B}"/>
                  </a:ext>
                </a:extLst>
              </p:cNvPr>
              <p:cNvPicPr>
                <a:picLocks noChangeAspect="1"/>
              </p:cNvPicPr>
              <p:nvPr/>
            </p:nvPicPr>
            <p:blipFill>
              <a:blip>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tretch>
                <a:fillRect/>
              </a:stretch>
            </p:blipFill>
            <p:spPr>
              <a:xfrm>
                <a:off x="1276341" y="1978796"/>
                <a:ext cx="424404" cy="431140"/>
              </a:xfrm>
              <a:prstGeom prst="rect">
                <a:avLst/>
              </a:prstGeom>
            </p:spPr>
          </p:pic>
        </p:grpSp>
      </p:grpSp>
      <p:grpSp>
        <p:nvGrpSpPr>
          <p:cNvPr id="29" name="Group 28">
            <a:extLst>
              <a:ext uri="{FF2B5EF4-FFF2-40B4-BE49-F238E27FC236}">
                <a16:creationId xmlns:a16="http://schemas.microsoft.com/office/drawing/2014/main" id="{8E3EE596-0319-DD8E-0326-349417F4C8FF}"/>
              </a:ext>
            </a:extLst>
          </p:cNvPr>
          <p:cNvGrpSpPr/>
          <p:nvPr/>
        </p:nvGrpSpPr>
        <p:grpSpPr>
          <a:xfrm>
            <a:off x="-7103" y="4742661"/>
            <a:ext cx="8135361" cy="1934086"/>
            <a:chOff x="43253" y="5102636"/>
            <a:chExt cx="8135361" cy="1934086"/>
          </a:xfrm>
        </p:grpSpPr>
        <p:grpSp>
          <p:nvGrpSpPr>
            <p:cNvPr id="17" name="Group 16">
              <a:extLst>
                <a:ext uri="{FF2B5EF4-FFF2-40B4-BE49-F238E27FC236}">
                  <a16:creationId xmlns:a16="http://schemas.microsoft.com/office/drawing/2014/main" id="{41A0A6F2-FF38-E7B1-26D1-951E79FDDAAA}"/>
                </a:ext>
              </a:extLst>
            </p:cNvPr>
            <p:cNvGrpSpPr/>
            <p:nvPr/>
          </p:nvGrpSpPr>
          <p:grpSpPr>
            <a:xfrm>
              <a:off x="249580" y="5637991"/>
              <a:ext cx="1551535" cy="1220009"/>
              <a:chOff x="249580" y="1907016"/>
              <a:chExt cx="1551535" cy="1220009"/>
            </a:xfrm>
          </p:grpSpPr>
          <p:grpSp>
            <p:nvGrpSpPr>
              <p:cNvPr id="18" name="Group 17">
                <a:extLst>
                  <a:ext uri="{FF2B5EF4-FFF2-40B4-BE49-F238E27FC236}">
                    <a16:creationId xmlns:a16="http://schemas.microsoft.com/office/drawing/2014/main" id="{E5863937-8A5B-EDF1-DB2B-D88F1588C9C8}"/>
                  </a:ext>
                </a:extLst>
              </p:cNvPr>
              <p:cNvGrpSpPr/>
              <p:nvPr/>
            </p:nvGrpSpPr>
            <p:grpSpPr>
              <a:xfrm>
                <a:off x="249580" y="1907016"/>
                <a:ext cx="1551535" cy="1220009"/>
                <a:chOff x="1219374" y="2608167"/>
                <a:chExt cx="1551535" cy="1220009"/>
              </a:xfrm>
            </p:grpSpPr>
            <p:sp>
              <p:nvSpPr>
                <p:cNvPr id="20" name="Rectangle 19">
                  <a:extLst>
                    <a:ext uri="{FF2B5EF4-FFF2-40B4-BE49-F238E27FC236}">
                      <a16:creationId xmlns:a16="http://schemas.microsoft.com/office/drawing/2014/main" id="{CDF8B42D-2210-C90A-FC0F-D4653469C7BC}"/>
                    </a:ext>
                  </a:extLst>
                </p:cNvPr>
                <p:cNvSpPr/>
                <p:nvPr/>
              </p:nvSpPr>
              <p:spPr>
                <a:xfrm>
                  <a:off x="1219374" y="2608167"/>
                  <a:ext cx="1551535" cy="122000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1" name="Picture 20" descr="Rat Hd Transparent HQ PNG Download | FreePNGimg">
                  <a:extLst>
                    <a:ext uri="{FF2B5EF4-FFF2-40B4-BE49-F238E27FC236}">
                      <a16:creationId xmlns:a16="http://schemas.microsoft.com/office/drawing/2014/main" id="{1FF7D107-E088-D190-EC81-CFC31B381A6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233229" y="3024991"/>
                  <a:ext cx="1075128" cy="585945"/>
                </a:xfrm>
                <a:prstGeom prst="rect">
                  <a:avLst/>
                </a:prstGeom>
              </p:spPr>
            </p:pic>
          </p:grpSp>
          <p:pic>
            <p:nvPicPr>
              <p:cNvPr id="19" name="Graphic 18" descr="SVG &gt; Umrisse Element laut klingen - Kostenloses SVG-Bild &amp; Symbol ...">
                <a:extLst>
                  <a:ext uri="{FF2B5EF4-FFF2-40B4-BE49-F238E27FC236}">
                    <a16:creationId xmlns:a16="http://schemas.microsoft.com/office/drawing/2014/main" id="{86D49DE0-9C43-E9DE-ECF1-73065CD6717A}"/>
                  </a:ext>
                </a:extLst>
              </p:cNvPr>
              <p:cNvPicPr>
                <a:picLocks noChangeAspect="1"/>
              </p:cNvPicPr>
              <p:nvPr/>
            </p:nvPicPr>
            <p:blipFill>
              <a:blip>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tretch>
                <a:fillRect/>
              </a:stretch>
            </p:blipFill>
            <p:spPr>
              <a:xfrm>
                <a:off x="1276341" y="1978796"/>
                <a:ext cx="424404" cy="431140"/>
              </a:xfrm>
              <a:prstGeom prst="rect">
                <a:avLst/>
              </a:prstGeom>
            </p:spPr>
          </p:pic>
        </p:grpSp>
        <p:grpSp>
          <p:nvGrpSpPr>
            <p:cNvPr id="22" name="Group 21">
              <a:extLst>
                <a:ext uri="{FF2B5EF4-FFF2-40B4-BE49-F238E27FC236}">
                  <a16:creationId xmlns:a16="http://schemas.microsoft.com/office/drawing/2014/main" id="{7B45FE03-48BC-39A7-F0C7-AD0B2A0200BF}"/>
                </a:ext>
              </a:extLst>
            </p:cNvPr>
            <p:cNvGrpSpPr/>
            <p:nvPr/>
          </p:nvGrpSpPr>
          <p:grpSpPr>
            <a:xfrm>
              <a:off x="2062708" y="5611497"/>
              <a:ext cx="1551535" cy="1220009"/>
              <a:chOff x="249580" y="1907016"/>
              <a:chExt cx="1551535" cy="1220009"/>
            </a:xfrm>
          </p:grpSpPr>
          <p:grpSp>
            <p:nvGrpSpPr>
              <p:cNvPr id="23" name="Group 22">
                <a:extLst>
                  <a:ext uri="{FF2B5EF4-FFF2-40B4-BE49-F238E27FC236}">
                    <a16:creationId xmlns:a16="http://schemas.microsoft.com/office/drawing/2014/main" id="{86FAFD58-F820-63E4-88DB-0C4E0C85F7D6}"/>
                  </a:ext>
                </a:extLst>
              </p:cNvPr>
              <p:cNvGrpSpPr/>
              <p:nvPr/>
            </p:nvGrpSpPr>
            <p:grpSpPr>
              <a:xfrm>
                <a:off x="249580" y="1907016"/>
                <a:ext cx="1551535" cy="1220009"/>
                <a:chOff x="1219374" y="2608167"/>
                <a:chExt cx="1551535" cy="1220009"/>
              </a:xfrm>
            </p:grpSpPr>
            <p:sp>
              <p:nvSpPr>
                <p:cNvPr id="25" name="Rectangle 24">
                  <a:extLst>
                    <a:ext uri="{FF2B5EF4-FFF2-40B4-BE49-F238E27FC236}">
                      <a16:creationId xmlns:a16="http://schemas.microsoft.com/office/drawing/2014/main" id="{717CECD4-9ADA-6A43-0A14-2C81E103290C}"/>
                    </a:ext>
                  </a:extLst>
                </p:cNvPr>
                <p:cNvSpPr/>
                <p:nvPr/>
              </p:nvSpPr>
              <p:spPr>
                <a:xfrm>
                  <a:off x="1219374" y="2608167"/>
                  <a:ext cx="1551535" cy="1220009"/>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6" name="Picture 25" descr="Rat Hd Transparent HQ PNG Download | FreePNGimg">
                  <a:extLst>
                    <a:ext uri="{FF2B5EF4-FFF2-40B4-BE49-F238E27FC236}">
                      <a16:creationId xmlns:a16="http://schemas.microsoft.com/office/drawing/2014/main" id="{3713B9CF-1C58-B688-3DDB-D0D9F549020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233229" y="3024991"/>
                  <a:ext cx="1075128" cy="585945"/>
                </a:xfrm>
                <a:prstGeom prst="rect">
                  <a:avLst/>
                </a:prstGeom>
              </p:spPr>
            </p:pic>
          </p:grpSp>
          <p:pic>
            <p:nvPicPr>
              <p:cNvPr id="24" name="Graphic 23" descr="SVG &gt; Umrisse Element laut klingen - Kostenloses SVG-Bild &amp; Symbol ...">
                <a:extLst>
                  <a:ext uri="{FF2B5EF4-FFF2-40B4-BE49-F238E27FC236}">
                    <a16:creationId xmlns:a16="http://schemas.microsoft.com/office/drawing/2014/main" id="{1B1F5A66-88ED-C369-23BF-1C807C06EBB3}"/>
                  </a:ext>
                </a:extLst>
              </p:cNvPr>
              <p:cNvPicPr>
                <a:picLocks noChangeAspect="1"/>
              </p:cNvPicPr>
              <p:nvPr/>
            </p:nvPicPr>
            <p:blipFill>
              <a:blip>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tretch>
                <a:fillRect/>
              </a:stretch>
            </p:blipFill>
            <p:spPr>
              <a:xfrm>
                <a:off x="1276341" y="1978796"/>
                <a:ext cx="424404" cy="431140"/>
              </a:xfrm>
              <a:prstGeom prst="rect">
                <a:avLst/>
              </a:prstGeom>
            </p:spPr>
          </p:pic>
        </p:grpSp>
        <p:sp>
          <p:nvSpPr>
            <p:cNvPr id="27" name="TextBox 26">
              <a:extLst>
                <a:ext uri="{FF2B5EF4-FFF2-40B4-BE49-F238E27FC236}">
                  <a16:creationId xmlns:a16="http://schemas.microsoft.com/office/drawing/2014/main" id="{9618711F-BECF-494F-3217-E0839414AFCE}"/>
                </a:ext>
              </a:extLst>
            </p:cNvPr>
            <p:cNvSpPr txBox="1"/>
            <p:nvPr/>
          </p:nvSpPr>
          <p:spPr>
            <a:xfrm>
              <a:off x="43253" y="5102636"/>
              <a:ext cx="6009215" cy="461665"/>
            </a:xfrm>
            <a:prstGeom prst="rect">
              <a:avLst/>
            </a:prstGeom>
            <a:noFill/>
          </p:spPr>
          <p:txBody>
            <a:bodyPr wrap="square" rtlCol="0">
              <a:spAutoFit/>
            </a:bodyPr>
            <a:lstStyle/>
            <a:p>
              <a:r>
                <a:rPr lang="en-AU" sz="2400" dirty="0">
                  <a:latin typeface="Merriweather" panose="00000500000000000000" pitchFamily="2" charset="0"/>
                </a:rPr>
                <a:t>Contextual Renewal</a:t>
              </a:r>
            </a:p>
          </p:txBody>
        </p:sp>
        <p:sp>
          <p:nvSpPr>
            <p:cNvPr id="28" name="TextBox 27">
              <a:extLst>
                <a:ext uri="{FF2B5EF4-FFF2-40B4-BE49-F238E27FC236}">
                  <a16:creationId xmlns:a16="http://schemas.microsoft.com/office/drawing/2014/main" id="{6125F14A-D8B6-14E7-D09F-CF2AF4088C57}"/>
                </a:ext>
              </a:extLst>
            </p:cNvPr>
            <p:cNvSpPr txBox="1"/>
            <p:nvPr/>
          </p:nvSpPr>
          <p:spPr>
            <a:xfrm>
              <a:off x="3724353" y="5559394"/>
              <a:ext cx="4454261" cy="1477328"/>
            </a:xfrm>
            <a:prstGeom prst="rect">
              <a:avLst/>
            </a:prstGeom>
            <a:noFill/>
          </p:spPr>
          <p:txBody>
            <a:bodyPr wrap="square" rtlCol="0">
              <a:spAutoFit/>
            </a:bodyPr>
            <a:lstStyle/>
            <a:p>
              <a:r>
                <a:rPr lang="en-AU" i="1" dirty="0">
                  <a:latin typeface="Merriweather" panose="00000500000000000000" pitchFamily="2" charset="0"/>
                </a:rPr>
                <a:t>Following extinction, adult rats/mice will show low fear to the sound in the extinction context. However, the fear will return if they are tested in the original fear conditioning context</a:t>
              </a:r>
            </a:p>
          </p:txBody>
        </p:sp>
      </p:grpSp>
    </p:spTree>
    <p:extLst>
      <p:ext uri="{BB962C8B-B14F-4D97-AF65-F5344CB8AC3E}">
        <p14:creationId xmlns:p14="http://schemas.microsoft.com/office/powerpoint/2010/main" val="1408010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50DDF-9A8D-ACDC-6323-BE09C147E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9B411-A1BB-EE83-FF1D-1F4CAEC827E4}"/>
              </a:ext>
            </a:extLst>
          </p:cNvPr>
          <p:cNvSpPr>
            <a:spLocks noGrp="1"/>
          </p:cNvSpPr>
          <p:nvPr>
            <p:ph type="title"/>
          </p:nvPr>
        </p:nvSpPr>
        <p:spPr>
          <a:xfrm>
            <a:off x="43253" y="-11353"/>
            <a:ext cx="11715750" cy="1325563"/>
          </a:xfrm>
        </p:spPr>
        <p:txBody>
          <a:bodyPr>
            <a:normAutofit/>
          </a:bodyPr>
          <a:lstStyle/>
          <a:p>
            <a:r>
              <a:rPr lang="en-AU" sz="4000" dirty="0">
                <a:latin typeface="Merriweather" panose="00000500000000000000" pitchFamily="2" charset="0"/>
              </a:rPr>
              <a:t>Maternal Separation and Infantile Amnesia</a:t>
            </a:r>
          </a:p>
        </p:txBody>
      </p:sp>
      <p:grpSp>
        <p:nvGrpSpPr>
          <p:cNvPr id="4" name="Group 3">
            <a:extLst>
              <a:ext uri="{FF2B5EF4-FFF2-40B4-BE49-F238E27FC236}">
                <a16:creationId xmlns:a16="http://schemas.microsoft.com/office/drawing/2014/main" id="{E4A6BE27-21FD-E028-A61E-F7B843454703}"/>
              </a:ext>
            </a:extLst>
          </p:cNvPr>
          <p:cNvGrpSpPr/>
          <p:nvPr/>
        </p:nvGrpSpPr>
        <p:grpSpPr>
          <a:xfrm>
            <a:off x="43253" y="1075726"/>
            <a:ext cx="6662347" cy="3620022"/>
            <a:chOff x="-124354" y="993110"/>
            <a:chExt cx="6662347" cy="3620022"/>
          </a:xfrm>
        </p:grpSpPr>
        <p:sp>
          <p:nvSpPr>
            <p:cNvPr id="6" name="TextBox 5">
              <a:extLst>
                <a:ext uri="{FF2B5EF4-FFF2-40B4-BE49-F238E27FC236}">
                  <a16:creationId xmlns:a16="http://schemas.microsoft.com/office/drawing/2014/main" id="{B5824BAF-B04A-12CB-F9B6-4740846CBEF6}"/>
                </a:ext>
              </a:extLst>
            </p:cNvPr>
            <p:cNvSpPr txBox="1"/>
            <p:nvPr/>
          </p:nvSpPr>
          <p:spPr>
            <a:xfrm>
              <a:off x="-24055" y="993110"/>
              <a:ext cx="6009215" cy="461665"/>
            </a:xfrm>
            <a:prstGeom prst="rect">
              <a:avLst/>
            </a:prstGeom>
            <a:noFill/>
          </p:spPr>
          <p:txBody>
            <a:bodyPr wrap="square" rtlCol="0">
              <a:spAutoFit/>
            </a:bodyPr>
            <a:lstStyle/>
            <a:p>
              <a:r>
                <a:rPr lang="en-AU" sz="2400" dirty="0">
                  <a:latin typeface="Merriweather" panose="00000500000000000000" pitchFamily="2" charset="0"/>
                </a:rPr>
                <a:t>Contextual Renewal</a:t>
              </a:r>
            </a:p>
          </p:txBody>
        </p:sp>
        <p:sp>
          <p:nvSpPr>
            <p:cNvPr id="7" name="TextBox 6">
              <a:extLst>
                <a:ext uri="{FF2B5EF4-FFF2-40B4-BE49-F238E27FC236}">
                  <a16:creationId xmlns:a16="http://schemas.microsoft.com/office/drawing/2014/main" id="{6F1FC429-74C7-A8CF-13E5-9D171CFF3316}"/>
                </a:ext>
              </a:extLst>
            </p:cNvPr>
            <p:cNvSpPr txBox="1"/>
            <p:nvPr/>
          </p:nvSpPr>
          <p:spPr>
            <a:xfrm>
              <a:off x="-124354" y="2858806"/>
              <a:ext cx="6662347" cy="1754326"/>
            </a:xfrm>
            <a:prstGeom prst="rect">
              <a:avLst/>
            </a:prstGeom>
            <a:noFill/>
          </p:spPr>
          <p:txBody>
            <a:bodyPr wrap="square" rtlCol="0">
              <a:spAutoFit/>
            </a:bodyPr>
            <a:lstStyle/>
            <a:p>
              <a:pPr marL="342900" indent="-342900">
                <a:buFont typeface="Arial" panose="020B0604020202020204" pitchFamily="34" charset="0"/>
                <a:buChar char="•"/>
              </a:pPr>
              <a:r>
                <a:rPr lang="en-AU" i="1" dirty="0">
                  <a:latin typeface="Merriweather" panose="00000500000000000000" pitchFamily="2" charset="0"/>
                </a:rPr>
                <a:t>Following extinction, adult rats/mice will show low fear to the sound in the extinction context. However, the fear will return if they are tested in the original fear conditioning context</a:t>
              </a:r>
            </a:p>
            <a:p>
              <a:pPr marL="342900" indent="-342900">
                <a:buFont typeface="Arial" panose="020B0604020202020204" pitchFamily="34" charset="0"/>
                <a:buChar char="•"/>
              </a:pPr>
              <a:r>
                <a:rPr lang="en-AU" i="1" dirty="0">
                  <a:latin typeface="Merriweather" panose="00000500000000000000" pitchFamily="2" charset="0"/>
                </a:rPr>
                <a:t>This shows that extinction does not cause “forgetting”, but rather the formation of a new competing memory</a:t>
              </a:r>
            </a:p>
          </p:txBody>
        </p:sp>
        <p:grpSp>
          <p:nvGrpSpPr>
            <p:cNvPr id="8" name="Group 7">
              <a:extLst>
                <a:ext uri="{FF2B5EF4-FFF2-40B4-BE49-F238E27FC236}">
                  <a16:creationId xmlns:a16="http://schemas.microsoft.com/office/drawing/2014/main" id="{0DB9A034-EF25-875C-FC1F-D1B8E664D92C}"/>
                </a:ext>
              </a:extLst>
            </p:cNvPr>
            <p:cNvGrpSpPr/>
            <p:nvPr/>
          </p:nvGrpSpPr>
          <p:grpSpPr>
            <a:xfrm>
              <a:off x="249580" y="1546786"/>
              <a:ext cx="1551535" cy="1220009"/>
              <a:chOff x="249580" y="1907016"/>
              <a:chExt cx="1551535" cy="1220009"/>
            </a:xfrm>
          </p:grpSpPr>
          <p:grpSp>
            <p:nvGrpSpPr>
              <p:cNvPr id="9" name="Group 8">
                <a:extLst>
                  <a:ext uri="{FF2B5EF4-FFF2-40B4-BE49-F238E27FC236}">
                    <a16:creationId xmlns:a16="http://schemas.microsoft.com/office/drawing/2014/main" id="{E54C1874-CE14-4D7C-161D-8EDBC9D43D65}"/>
                  </a:ext>
                </a:extLst>
              </p:cNvPr>
              <p:cNvGrpSpPr/>
              <p:nvPr/>
            </p:nvGrpSpPr>
            <p:grpSpPr>
              <a:xfrm>
                <a:off x="249580" y="1907016"/>
                <a:ext cx="1551535" cy="1220009"/>
                <a:chOff x="1219374" y="2608167"/>
                <a:chExt cx="1551535" cy="1220009"/>
              </a:xfrm>
            </p:grpSpPr>
            <p:sp>
              <p:nvSpPr>
                <p:cNvPr id="11" name="Rectangle 10">
                  <a:extLst>
                    <a:ext uri="{FF2B5EF4-FFF2-40B4-BE49-F238E27FC236}">
                      <a16:creationId xmlns:a16="http://schemas.microsoft.com/office/drawing/2014/main" id="{2C123B3A-F5F1-C53B-184F-4627B0F59E71}"/>
                    </a:ext>
                  </a:extLst>
                </p:cNvPr>
                <p:cNvSpPr/>
                <p:nvPr/>
              </p:nvSpPr>
              <p:spPr>
                <a:xfrm>
                  <a:off x="1219374" y="2608167"/>
                  <a:ext cx="1551535" cy="122000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Picture 11" descr="Rat Hd Transparent HQ PNG Download | FreePNGimg">
                  <a:extLst>
                    <a:ext uri="{FF2B5EF4-FFF2-40B4-BE49-F238E27FC236}">
                      <a16:creationId xmlns:a16="http://schemas.microsoft.com/office/drawing/2014/main" id="{DCDB67AA-78DB-5F9D-D31B-0F6A3D996E5A}"/>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233229" y="3024991"/>
                  <a:ext cx="1075128" cy="585945"/>
                </a:xfrm>
                <a:prstGeom prst="rect">
                  <a:avLst/>
                </a:prstGeom>
              </p:spPr>
            </p:pic>
          </p:grpSp>
          <p:pic>
            <p:nvPicPr>
              <p:cNvPr id="10" name="Graphic 9" descr="SVG &gt; Umrisse Element laut klingen - Kostenloses SVG-Bild &amp; Symbol ...">
                <a:extLst>
                  <a:ext uri="{FF2B5EF4-FFF2-40B4-BE49-F238E27FC236}">
                    <a16:creationId xmlns:a16="http://schemas.microsoft.com/office/drawing/2014/main" id="{B10D3D33-3AB0-DEC6-15A2-99723C85A9AF}"/>
                  </a:ext>
                </a:extLst>
              </p:cNvPr>
              <p:cNvPicPr>
                <a:picLocks noChangeAspect="1"/>
              </p:cNvPicPr>
              <p:nvPr/>
            </p:nvPicPr>
            <p:blipFill>
              <a:blip>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276341" y="1978796"/>
                <a:ext cx="424404" cy="431140"/>
              </a:xfrm>
              <a:prstGeom prst="rect">
                <a:avLst/>
              </a:prstGeom>
            </p:spPr>
          </p:pic>
        </p:grpSp>
      </p:grpSp>
      <p:grpSp>
        <p:nvGrpSpPr>
          <p:cNvPr id="20" name="Group 19">
            <a:extLst>
              <a:ext uri="{FF2B5EF4-FFF2-40B4-BE49-F238E27FC236}">
                <a16:creationId xmlns:a16="http://schemas.microsoft.com/office/drawing/2014/main" id="{F4B579BE-0E9E-D9F3-A7A9-8A608C7FFD7A}"/>
              </a:ext>
            </a:extLst>
          </p:cNvPr>
          <p:cNvGrpSpPr/>
          <p:nvPr/>
        </p:nvGrpSpPr>
        <p:grpSpPr>
          <a:xfrm>
            <a:off x="2230315" y="1602908"/>
            <a:ext cx="1551535" cy="1220009"/>
            <a:chOff x="249580" y="1907016"/>
            <a:chExt cx="1551535" cy="1220009"/>
          </a:xfrm>
        </p:grpSpPr>
        <p:grpSp>
          <p:nvGrpSpPr>
            <p:cNvPr id="21" name="Group 20">
              <a:extLst>
                <a:ext uri="{FF2B5EF4-FFF2-40B4-BE49-F238E27FC236}">
                  <a16:creationId xmlns:a16="http://schemas.microsoft.com/office/drawing/2014/main" id="{9DC467DF-5BCC-934C-CD81-557118EFDF32}"/>
                </a:ext>
              </a:extLst>
            </p:cNvPr>
            <p:cNvGrpSpPr/>
            <p:nvPr/>
          </p:nvGrpSpPr>
          <p:grpSpPr>
            <a:xfrm>
              <a:off x="249580" y="1907016"/>
              <a:ext cx="1551535" cy="1220009"/>
              <a:chOff x="1219374" y="2608167"/>
              <a:chExt cx="1551535" cy="1220009"/>
            </a:xfrm>
          </p:grpSpPr>
          <p:sp>
            <p:nvSpPr>
              <p:cNvPr id="23" name="Rectangle 22">
                <a:extLst>
                  <a:ext uri="{FF2B5EF4-FFF2-40B4-BE49-F238E27FC236}">
                    <a16:creationId xmlns:a16="http://schemas.microsoft.com/office/drawing/2014/main" id="{DBEAE30C-FBCC-E130-7E80-B24004F95C10}"/>
                  </a:ext>
                </a:extLst>
              </p:cNvPr>
              <p:cNvSpPr/>
              <p:nvPr/>
            </p:nvSpPr>
            <p:spPr>
              <a:xfrm>
                <a:off x="1219374" y="2608167"/>
                <a:ext cx="1551535" cy="1220009"/>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4" name="Picture 23" descr="Rat Hd Transparent HQ PNG Download | FreePNGimg">
                <a:extLst>
                  <a:ext uri="{FF2B5EF4-FFF2-40B4-BE49-F238E27FC236}">
                    <a16:creationId xmlns:a16="http://schemas.microsoft.com/office/drawing/2014/main" id="{1DAD4869-5D62-D656-2554-8BD5AD4F66F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233229" y="3024991"/>
                <a:ext cx="1075128" cy="585945"/>
              </a:xfrm>
              <a:prstGeom prst="rect">
                <a:avLst/>
              </a:prstGeom>
            </p:spPr>
          </p:pic>
        </p:grpSp>
        <p:pic>
          <p:nvPicPr>
            <p:cNvPr id="22" name="Graphic 21" descr="SVG &gt; Umrisse Element laut klingen - Kostenloses SVG-Bild &amp; Symbol ...">
              <a:extLst>
                <a:ext uri="{FF2B5EF4-FFF2-40B4-BE49-F238E27FC236}">
                  <a16:creationId xmlns:a16="http://schemas.microsoft.com/office/drawing/2014/main" id="{A665500E-7D63-7CF7-4681-0FC987C8D2E6}"/>
                </a:ext>
              </a:extLst>
            </p:cNvPr>
            <p:cNvPicPr>
              <a:picLocks noChangeAspect="1"/>
            </p:cNvPicPr>
            <p:nvPr/>
          </p:nvPicPr>
          <p:blipFill>
            <a:blip>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276341" y="1978796"/>
              <a:ext cx="424404" cy="431140"/>
            </a:xfrm>
            <a:prstGeom prst="rect">
              <a:avLst/>
            </a:prstGeom>
          </p:spPr>
        </p:pic>
      </p:grpSp>
      <p:pic>
        <p:nvPicPr>
          <p:cNvPr id="26" name="Picture 25" descr="😱 Face Screaming In Fear Emoji: Meaning &amp; Usage">
            <a:extLst>
              <a:ext uri="{FF2B5EF4-FFF2-40B4-BE49-F238E27FC236}">
                <a16:creationId xmlns:a16="http://schemas.microsoft.com/office/drawing/2014/main" id="{E9388C07-FB25-5751-BEF0-DBC2FD8968E5}"/>
              </a:ext>
            </a:extLst>
          </p:cNvPr>
          <p:cNvPicPr>
            <a:picLocks noChangeAspect="1"/>
          </p:cNvPicPr>
          <p:nvPr/>
        </p:nvPicPr>
        <p:blipFill>
          <a:blip r:embed="rId6"/>
          <a:stretch>
            <a:fillRect/>
          </a:stretch>
        </p:blipFill>
        <p:spPr>
          <a:xfrm>
            <a:off x="2686494" y="1570397"/>
            <a:ext cx="461665" cy="461665"/>
          </a:xfrm>
          <a:prstGeom prst="rect">
            <a:avLst/>
          </a:prstGeom>
        </p:spPr>
      </p:pic>
      <p:pic>
        <p:nvPicPr>
          <p:cNvPr id="27" name="Picture 26" descr="Calm emoji. Relieved emoticon, peaceful face with closed eyes and happy  smile 3D stylized vector icon Stock Vector | Adobe Stock">
            <a:extLst>
              <a:ext uri="{FF2B5EF4-FFF2-40B4-BE49-F238E27FC236}">
                <a16:creationId xmlns:a16="http://schemas.microsoft.com/office/drawing/2014/main" id="{030E86FA-26B6-F106-A458-5A4035218683}"/>
              </a:ext>
            </a:extLst>
          </p:cNvPr>
          <p:cNvPicPr>
            <a:picLocks noChangeAspect="1"/>
          </p:cNvPicPr>
          <p:nvPr/>
        </p:nvPicPr>
        <p:blipFill>
          <a:blip r:embed="rId7"/>
          <a:srcRect/>
          <a:stretch>
            <a:fillRect/>
          </a:stretch>
        </p:blipFill>
        <p:spPr>
          <a:xfrm>
            <a:off x="750828" y="1470446"/>
            <a:ext cx="661876" cy="661876"/>
          </a:xfrm>
          <a:prstGeom prst="rect">
            <a:avLst/>
          </a:prstGeom>
        </p:spPr>
      </p:pic>
      <p:sp>
        <p:nvSpPr>
          <p:cNvPr id="29" name="TextBox 28">
            <a:extLst>
              <a:ext uri="{FF2B5EF4-FFF2-40B4-BE49-F238E27FC236}">
                <a16:creationId xmlns:a16="http://schemas.microsoft.com/office/drawing/2014/main" id="{7ECAFF8A-7B3E-D4E8-E142-A21E1CC620BD}"/>
              </a:ext>
            </a:extLst>
          </p:cNvPr>
          <p:cNvSpPr txBox="1"/>
          <p:nvPr/>
        </p:nvSpPr>
        <p:spPr>
          <a:xfrm>
            <a:off x="558851" y="4927993"/>
            <a:ext cx="4255286" cy="1477328"/>
          </a:xfrm>
          <a:prstGeom prst="rect">
            <a:avLst/>
          </a:prstGeom>
          <a:noFill/>
        </p:spPr>
        <p:txBody>
          <a:bodyPr wrap="square" rtlCol="0">
            <a:spAutoFit/>
          </a:bodyPr>
          <a:lstStyle/>
          <a:p>
            <a:r>
              <a:rPr lang="en-AU" b="1" dirty="0">
                <a:solidFill>
                  <a:srgbClr val="FF0000"/>
                </a:solidFill>
                <a:latin typeface="Merriweather" pitchFamily="2" charset="77"/>
              </a:rPr>
              <a:t>Infant rats/mice do not show contextual renewal. This suggests that extinction causes “erasure” of the original fear memory in young animals (i.e., infantile amnesia).</a:t>
            </a:r>
          </a:p>
        </p:txBody>
      </p:sp>
    </p:spTree>
    <p:extLst>
      <p:ext uri="{BB962C8B-B14F-4D97-AF65-F5344CB8AC3E}">
        <p14:creationId xmlns:p14="http://schemas.microsoft.com/office/powerpoint/2010/main" val="640742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DA0A1-EB8E-BCAB-171D-69A142570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16F56-E6CB-0544-6383-A81AEDA72E3E}"/>
              </a:ext>
            </a:extLst>
          </p:cNvPr>
          <p:cNvSpPr>
            <a:spLocks noGrp="1"/>
          </p:cNvSpPr>
          <p:nvPr>
            <p:ph type="title"/>
          </p:nvPr>
        </p:nvSpPr>
        <p:spPr>
          <a:xfrm>
            <a:off x="43253" y="-11353"/>
            <a:ext cx="11715750" cy="1325563"/>
          </a:xfrm>
        </p:spPr>
        <p:txBody>
          <a:bodyPr>
            <a:normAutofit/>
          </a:bodyPr>
          <a:lstStyle/>
          <a:p>
            <a:r>
              <a:rPr lang="en-AU" sz="4000" dirty="0">
                <a:latin typeface="Merriweather" panose="00000500000000000000" pitchFamily="2" charset="0"/>
              </a:rPr>
              <a:t>Maternal Separation and Infantile Amnesia</a:t>
            </a:r>
          </a:p>
        </p:txBody>
      </p:sp>
      <p:sp>
        <p:nvSpPr>
          <p:cNvPr id="10" name="TextBox 10">
            <a:extLst>
              <a:ext uri="{FF2B5EF4-FFF2-40B4-BE49-F238E27FC236}">
                <a16:creationId xmlns:a16="http://schemas.microsoft.com/office/drawing/2014/main" id="{D7031595-BAD9-2DBD-0671-0AA6DAA1556F}"/>
              </a:ext>
            </a:extLst>
          </p:cNvPr>
          <p:cNvSpPr txBox="1"/>
          <p:nvPr/>
        </p:nvSpPr>
        <p:spPr>
          <a:xfrm>
            <a:off x="2401130" y="5529970"/>
            <a:ext cx="4536314"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2400" dirty="0">
                <a:latin typeface="Tw Cen MT Condensed" panose="020B0606020104020203" pitchFamily="34" charset="0"/>
                <a:cs typeface="Arial" panose="020B0604020202020204" pitchFamily="34" charset="0"/>
              </a:rPr>
              <a:t>Adapted from Callaghan and Richardson, 2011</a:t>
            </a:r>
            <a:endParaRPr lang="en-AU" sz="2400" dirty="0">
              <a:latin typeface="Tw Cen MT Condensed" panose="020B0606020104020203" pitchFamily="34" charset="0"/>
              <a:cs typeface="Arial" panose="020B0604020202020204" pitchFamily="34" charset="0"/>
            </a:endParaRPr>
          </a:p>
        </p:txBody>
      </p:sp>
      <p:sp>
        <p:nvSpPr>
          <p:cNvPr id="12" name="TextBox 11">
            <a:extLst>
              <a:ext uri="{FF2B5EF4-FFF2-40B4-BE49-F238E27FC236}">
                <a16:creationId xmlns:a16="http://schemas.microsoft.com/office/drawing/2014/main" id="{D92D8B7F-214F-B276-B12A-98AD4FBCDBBE}"/>
              </a:ext>
            </a:extLst>
          </p:cNvPr>
          <p:cNvSpPr txBox="1"/>
          <p:nvPr/>
        </p:nvSpPr>
        <p:spPr>
          <a:xfrm>
            <a:off x="7170477" y="2349747"/>
            <a:ext cx="4249687" cy="646331"/>
          </a:xfrm>
          <a:prstGeom prst="rect">
            <a:avLst/>
          </a:prstGeom>
          <a:noFill/>
        </p:spPr>
        <p:txBody>
          <a:bodyPr wrap="square" rtlCol="0">
            <a:spAutoFit/>
          </a:bodyPr>
          <a:lstStyle/>
          <a:p>
            <a:pPr marL="342900" indent="-342900">
              <a:buFont typeface="Arial" panose="020B0604020202020204" pitchFamily="34" charset="0"/>
              <a:buChar char="•"/>
            </a:pPr>
            <a:r>
              <a:rPr lang="en-AU" i="1" dirty="0">
                <a:latin typeface="Merriweather" panose="00000500000000000000" pitchFamily="2" charset="0"/>
              </a:rPr>
              <a:t>SR = Standard Reared</a:t>
            </a:r>
          </a:p>
          <a:p>
            <a:pPr marL="342900" indent="-342900">
              <a:buFont typeface="Arial" panose="020B0604020202020204" pitchFamily="34" charset="0"/>
              <a:buChar char="•"/>
            </a:pPr>
            <a:r>
              <a:rPr lang="en-AU" i="1" dirty="0">
                <a:latin typeface="Merriweather" panose="00000500000000000000" pitchFamily="2" charset="0"/>
              </a:rPr>
              <a:t>MS = Maternal Separation</a:t>
            </a:r>
          </a:p>
        </p:txBody>
      </p:sp>
      <p:sp>
        <p:nvSpPr>
          <p:cNvPr id="13" name="TextBox 12">
            <a:extLst>
              <a:ext uri="{FF2B5EF4-FFF2-40B4-BE49-F238E27FC236}">
                <a16:creationId xmlns:a16="http://schemas.microsoft.com/office/drawing/2014/main" id="{7D9263F6-7316-FAD4-45F0-913C92EE02D2}"/>
              </a:ext>
            </a:extLst>
          </p:cNvPr>
          <p:cNvSpPr txBox="1"/>
          <p:nvPr/>
        </p:nvSpPr>
        <p:spPr>
          <a:xfrm>
            <a:off x="43253" y="1416516"/>
            <a:ext cx="9252068" cy="707886"/>
          </a:xfrm>
          <a:prstGeom prst="rect">
            <a:avLst/>
          </a:prstGeom>
          <a:noFill/>
        </p:spPr>
        <p:txBody>
          <a:bodyPr wrap="square" rtlCol="0">
            <a:spAutoFit/>
          </a:bodyPr>
          <a:lstStyle/>
          <a:p>
            <a:r>
              <a:rPr lang="en-AU" sz="2000" dirty="0">
                <a:latin typeface="Merriweather" panose="00000500000000000000" pitchFamily="2" charset="0"/>
              </a:rPr>
              <a:t>Infant rats were given fear conditioning (in Context A), extinction (in Context B), and a post-extinction test in either Context A or Context B</a:t>
            </a:r>
          </a:p>
        </p:txBody>
      </p:sp>
      <p:grpSp>
        <p:nvGrpSpPr>
          <p:cNvPr id="4" name="Group 3">
            <a:extLst>
              <a:ext uri="{FF2B5EF4-FFF2-40B4-BE49-F238E27FC236}">
                <a16:creationId xmlns:a16="http://schemas.microsoft.com/office/drawing/2014/main" id="{8EC23439-D610-524E-F9E4-0B4C5819CFDE}"/>
              </a:ext>
            </a:extLst>
          </p:cNvPr>
          <p:cNvGrpSpPr/>
          <p:nvPr/>
        </p:nvGrpSpPr>
        <p:grpSpPr>
          <a:xfrm>
            <a:off x="194115" y="2277959"/>
            <a:ext cx="6783188" cy="3098454"/>
            <a:chOff x="43253" y="2590771"/>
            <a:chExt cx="6783188" cy="3098454"/>
          </a:xfrm>
        </p:grpSpPr>
        <p:pic>
          <p:nvPicPr>
            <p:cNvPr id="9" name="Picture 8">
              <a:extLst>
                <a:ext uri="{FF2B5EF4-FFF2-40B4-BE49-F238E27FC236}">
                  <a16:creationId xmlns:a16="http://schemas.microsoft.com/office/drawing/2014/main" id="{11996B57-AD08-DD47-A9D9-F65F13EB145A}"/>
                </a:ext>
              </a:extLst>
            </p:cNvPr>
            <p:cNvPicPr>
              <a:picLocks noChangeAspect="1"/>
            </p:cNvPicPr>
            <p:nvPr/>
          </p:nvPicPr>
          <p:blipFill>
            <a:blip r:embed="rId2"/>
            <a:srcRect l="9969" b="30788"/>
            <a:stretch>
              <a:fillRect/>
            </a:stretch>
          </p:blipFill>
          <p:spPr>
            <a:xfrm>
              <a:off x="43253" y="2590771"/>
              <a:ext cx="6783188" cy="3098454"/>
            </a:xfrm>
            <a:prstGeom prst="rect">
              <a:avLst/>
            </a:prstGeom>
          </p:spPr>
        </p:pic>
        <p:sp>
          <p:nvSpPr>
            <p:cNvPr id="3" name="TextBox 2">
              <a:extLst>
                <a:ext uri="{FF2B5EF4-FFF2-40B4-BE49-F238E27FC236}">
                  <a16:creationId xmlns:a16="http://schemas.microsoft.com/office/drawing/2014/main" id="{6FEF6C9A-4951-4D95-5CF3-24834BD791C6}"/>
                </a:ext>
              </a:extLst>
            </p:cNvPr>
            <p:cNvSpPr txBox="1"/>
            <p:nvPr/>
          </p:nvSpPr>
          <p:spPr>
            <a:xfrm>
              <a:off x="5508970" y="3576864"/>
              <a:ext cx="1232116" cy="523220"/>
            </a:xfrm>
            <a:prstGeom prst="rect">
              <a:avLst/>
            </a:prstGeom>
            <a:solidFill>
              <a:schemeClr val="bg1"/>
            </a:solidFill>
          </p:spPr>
          <p:txBody>
            <a:bodyPr wrap="square" lIns="36000" rtlCol="0">
              <a:spAutoFit/>
            </a:bodyPr>
            <a:lstStyle/>
            <a:p>
              <a:r>
                <a:rPr lang="en-AU" sz="1400" dirty="0">
                  <a:latin typeface="Arial" panose="020B0604020202020204" pitchFamily="34" charset="0"/>
                  <a:cs typeface="Arial" panose="020B0604020202020204" pitchFamily="34" charset="0"/>
                </a:rPr>
                <a:t>Context B</a:t>
              </a:r>
            </a:p>
            <a:p>
              <a:r>
                <a:rPr lang="en-AU" sz="1400" dirty="0">
                  <a:latin typeface="Arial" panose="020B0604020202020204" pitchFamily="34" charset="0"/>
                  <a:cs typeface="Arial" panose="020B0604020202020204" pitchFamily="34" charset="0"/>
                </a:rPr>
                <a:t>Context A</a:t>
              </a:r>
            </a:p>
          </p:txBody>
        </p:sp>
      </p:grpSp>
      <p:sp>
        <p:nvSpPr>
          <p:cNvPr id="5" name="TextBox 4">
            <a:extLst>
              <a:ext uri="{FF2B5EF4-FFF2-40B4-BE49-F238E27FC236}">
                <a16:creationId xmlns:a16="http://schemas.microsoft.com/office/drawing/2014/main" id="{80566483-802E-ECA7-7694-42E200A74AC6}"/>
              </a:ext>
            </a:extLst>
          </p:cNvPr>
          <p:cNvSpPr txBox="1"/>
          <p:nvPr/>
        </p:nvSpPr>
        <p:spPr>
          <a:xfrm>
            <a:off x="46390" y="6039340"/>
            <a:ext cx="6783188" cy="646331"/>
          </a:xfrm>
          <a:prstGeom prst="rect">
            <a:avLst/>
          </a:prstGeom>
          <a:noFill/>
        </p:spPr>
        <p:txBody>
          <a:bodyPr wrap="square" rtlCol="0">
            <a:spAutoFit/>
          </a:bodyPr>
          <a:lstStyle/>
          <a:p>
            <a:r>
              <a:rPr lang="en-AU" b="1" dirty="0">
                <a:solidFill>
                  <a:srgbClr val="FF0000"/>
                </a:solidFill>
                <a:latin typeface="Merriweather" panose="00000500000000000000" pitchFamily="2" charset="0"/>
              </a:rPr>
              <a:t>MS infants showed contextual renewal (i.e., premature formation of adult-like fear memories)</a:t>
            </a:r>
          </a:p>
        </p:txBody>
      </p:sp>
    </p:spTree>
    <p:extLst>
      <p:ext uri="{BB962C8B-B14F-4D97-AF65-F5344CB8AC3E}">
        <p14:creationId xmlns:p14="http://schemas.microsoft.com/office/powerpoint/2010/main" val="3382233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F2B37-A1AE-A163-779B-09E019D73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058FD-4E6A-9F3B-9CA6-90DC6B667C60}"/>
              </a:ext>
            </a:extLst>
          </p:cNvPr>
          <p:cNvSpPr>
            <a:spLocks noGrp="1"/>
          </p:cNvSpPr>
          <p:nvPr>
            <p:ph type="title"/>
          </p:nvPr>
        </p:nvSpPr>
        <p:spPr>
          <a:xfrm>
            <a:off x="43253" y="-11353"/>
            <a:ext cx="11715750" cy="1325563"/>
          </a:xfrm>
        </p:spPr>
        <p:txBody>
          <a:bodyPr>
            <a:normAutofit/>
          </a:bodyPr>
          <a:lstStyle/>
          <a:p>
            <a:r>
              <a:rPr lang="en-AU" sz="4000" dirty="0">
                <a:latin typeface="Merriweather" panose="00000500000000000000" pitchFamily="2" charset="0"/>
              </a:rPr>
              <a:t>Additional impacts of ELS</a:t>
            </a:r>
          </a:p>
        </p:txBody>
      </p:sp>
      <p:sp>
        <p:nvSpPr>
          <p:cNvPr id="13" name="TextBox 12">
            <a:extLst>
              <a:ext uri="{FF2B5EF4-FFF2-40B4-BE49-F238E27FC236}">
                <a16:creationId xmlns:a16="http://schemas.microsoft.com/office/drawing/2014/main" id="{DE9A0AE0-C06A-4363-E068-C8FF4D060AC5}"/>
              </a:ext>
            </a:extLst>
          </p:cNvPr>
          <p:cNvSpPr txBox="1"/>
          <p:nvPr/>
        </p:nvSpPr>
        <p:spPr>
          <a:xfrm>
            <a:off x="76462" y="1223388"/>
            <a:ext cx="9252068" cy="769441"/>
          </a:xfrm>
          <a:prstGeom prst="rect">
            <a:avLst/>
          </a:prstGeom>
          <a:noFill/>
        </p:spPr>
        <p:txBody>
          <a:bodyPr wrap="square" rtlCol="0">
            <a:spAutoFit/>
          </a:bodyPr>
          <a:lstStyle/>
          <a:p>
            <a:pPr marL="342900" indent="-342900">
              <a:buFont typeface="Arial" panose="020B0604020202020204" pitchFamily="34" charset="0"/>
              <a:buChar char="•"/>
            </a:pPr>
            <a:r>
              <a:rPr lang="en-AU" sz="2400" dirty="0">
                <a:latin typeface="Merriweather" panose="00000500000000000000" pitchFamily="2" charset="0"/>
              </a:rPr>
              <a:t>Impacts on pubertal development</a:t>
            </a:r>
          </a:p>
          <a:p>
            <a:pPr marL="800100" lvl="1" indent="-342900">
              <a:buFont typeface="Arial" panose="020B0604020202020204" pitchFamily="34" charset="0"/>
              <a:buChar char="•"/>
            </a:pPr>
            <a:r>
              <a:rPr lang="en-AU" sz="2000" dirty="0">
                <a:latin typeface="Merriweather" panose="00000500000000000000" pitchFamily="2" charset="0"/>
              </a:rPr>
              <a:t>Premature puberty in females, delayed puberty in males</a:t>
            </a:r>
          </a:p>
        </p:txBody>
      </p:sp>
      <p:grpSp>
        <p:nvGrpSpPr>
          <p:cNvPr id="7" name="Group 6">
            <a:extLst>
              <a:ext uri="{FF2B5EF4-FFF2-40B4-BE49-F238E27FC236}">
                <a16:creationId xmlns:a16="http://schemas.microsoft.com/office/drawing/2014/main" id="{5F7F6B57-80A1-8780-8EAC-B52445A1318C}"/>
              </a:ext>
            </a:extLst>
          </p:cNvPr>
          <p:cNvGrpSpPr>
            <a:grpSpLocks noChangeAspect="1"/>
          </p:cNvGrpSpPr>
          <p:nvPr/>
        </p:nvGrpSpPr>
        <p:grpSpPr>
          <a:xfrm>
            <a:off x="3576109" y="2963713"/>
            <a:ext cx="3266160" cy="2772883"/>
            <a:chOff x="4827978" y="2540314"/>
            <a:chExt cx="2945982" cy="2501061"/>
          </a:xfrm>
        </p:grpSpPr>
        <p:pic>
          <p:nvPicPr>
            <p:cNvPr id="4" name="Picture 3">
              <a:extLst>
                <a:ext uri="{FF2B5EF4-FFF2-40B4-BE49-F238E27FC236}">
                  <a16:creationId xmlns:a16="http://schemas.microsoft.com/office/drawing/2014/main" id="{185C7368-88CD-337D-B717-0520551E8A1F}"/>
                </a:ext>
              </a:extLst>
            </p:cNvPr>
            <p:cNvPicPr>
              <a:picLocks noChangeAspect="1"/>
            </p:cNvPicPr>
            <p:nvPr/>
          </p:nvPicPr>
          <p:blipFill>
            <a:blip r:embed="rId2"/>
            <a:srcRect t="4270"/>
            <a:stretch>
              <a:fillRect/>
            </a:stretch>
          </p:blipFill>
          <p:spPr>
            <a:xfrm>
              <a:off x="4827978" y="2554941"/>
              <a:ext cx="2945982" cy="2486434"/>
            </a:xfrm>
            <a:prstGeom prst="rect">
              <a:avLst/>
            </a:prstGeom>
          </p:spPr>
        </p:pic>
        <p:sp>
          <p:nvSpPr>
            <p:cNvPr id="5" name="Rectangle 4">
              <a:extLst>
                <a:ext uri="{FF2B5EF4-FFF2-40B4-BE49-F238E27FC236}">
                  <a16:creationId xmlns:a16="http://schemas.microsoft.com/office/drawing/2014/main" id="{8AACFF9A-BDD3-5D7F-453F-D74B5120682C}"/>
                </a:ext>
              </a:extLst>
            </p:cNvPr>
            <p:cNvSpPr/>
            <p:nvPr/>
          </p:nvSpPr>
          <p:spPr>
            <a:xfrm>
              <a:off x="4957482" y="2591160"/>
              <a:ext cx="367553" cy="3316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Rectangle 5">
              <a:extLst>
                <a:ext uri="{FF2B5EF4-FFF2-40B4-BE49-F238E27FC236}">
                  <a16:creationId xmlns:a16="http://schemas.microsoft.com/office/drawing/2014/main" id="{2A9F20B4-9AC7-71FB-8E03-526FFD160E5C}"/>
                </a:ext>
              </a:extLst>
            </p:cNvPr>
            <p:cNvSpPr/>
            <p:nvPr/>
          </p:nvSpPr>
          <p:spPr>
            <a:xfrm>
              <a:off x="7189693" y="2540314"/>
              <a:ext cx="584267" cy="4001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9" name="Group 8">
            <a:extLst>
              <a:ext uri="{FF2B5EF4-FFF2-40B4-BE49-F238E27FC236}">
                <a16:creationId xmlns:a16="http://schemas.microsoft.com/office/drawing/2014/main" id="{BEEDEDA4-5790-C92E-6933-56BE6712C163}"/>
              </a:ext>
            </a:extLst>
          </p:cNvPr>
          <p:cNvGrpSpPr>
            <a:grpSpLocks noChangeAspect="1"/>
          </p:cNvGrpSpPr>
          <p:nvPr/>
        </p:nvGrpSpPr>
        <p:grpSpPr>
          <a:xfrm>
            <a:off x="0" y="3042119"/>
            <a:ext cx="3275981" cy="2728481"/>
            <a:chOff x="615128" y="2312894"/>
            <a:chExt cx="3275981" cy="2728481"/>
          </a:xfrm>
        </p:grpSpPr>
        <p:pic>
          <p:nvPicPr>
            <p:cNvPr id="3" name="Picture 2">
              <a:extLst>
                <a:ext uri="{FF2B5EF4-FFF2-40B4-BE49-F238E27FC236}">
                  <a16:creationId xmlns:a16="http://schemas.microsoft.com/office/drawing/2014/main" id="{E0A82D79-9805-20A2-285C-93F528FB2BBE}"/>
                </a:ext>
              </a:extLst>
            </p:cNvPr>
            <p:cNvPicPr>
              <a:picLocks noChangeAspect="1"/>
            </p:cNvPicPr>
            <p:nvPr/>
          </p:nvPicPr>
          <p:blipFill>
            <a:blip r:embed="rId3"/>
            <a:srcRect t="-227" b="-1"/>
            <a:stretch>
              <a:fillRect/>
            </a:stretch>
          </p:blipFill>
          <p:spPr>
            <a:xfrm>
              <a:off x="615128" y="2312894"/>
              <a:ext cx="3275981" cy="2728481"/>
            </a:xfrm>
            <a:prstGeom prst="rect">
              <a:avLst/>
            </a:prstGeom>
          </p:spPr>
        </p:pic>
        <p:sp>
          <p:nvSpPr>
            <p:cNvPr id="8" name="Rectangle 7">
              <a:extLst>
                <a:ext uri="{FF2B5EF4-FFF2-40B4-BE49-F238E27FC236}">
                  <a16:creationId xmlns:a16="http://schemas.microsoft.com/office/drawing/2014/main" id="{B4DC2095-080A-7693-FE2D-1AA5D9DC7F19}"/>
                </a:ext>
              </a:extLst>
            </p:cNvPr>
            <p:cNvSpPr/>
            <p:nvPr/>
          </p:nvSpPr>
          <p:spPr>
            <a:xfrm>
              <a:off x="905435" y="2326341"/>
              <a:ext cx="367553" cy="3316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grpSp>
      <p:pic>
        <p:nvPicPr>
          <p:cNvPr id="11" name="Picture 10" descr="Symbol Of Male Free Stock Photo - Public Domain Pictures">
            <a:extLst>
              <a:ext uri="{FF2B5EF4-FFF2-40B4-BE49-F238E27FC236}">
                <a16:creationId xmlns:a16="http://schemas.microsoft.com/office/drawing/2014/main" id="{C2A5FDA3-AED7-39E3-154C-A3F87FDE0D9A}"/>
              </a:ext>
            </a:extLst>
          </p:cNvPr>
          <p:cNvPicPr>
            <a:picLocks noChangeAspect="1"/>
          </p:cNvPicPr>
          <p:nvPr/>
        </p:nvPicPr>
        <p:blipFill>
          <a:blip r:embed="rId4">
            <a:extLst>
              <a:ext uri="{837473B0-CC2E-450A-ABE3-18F120FF3D39}">
                <a1611:picAttrSrcUrl xmlns:a1611="http://schemas.microsoft.com/office/drawing/2016/11/main" r:id="rId5"/>
              </a:ext>
            </a:extLst>
          </a:blip>
          <a:srcRect l="47159" t="18144" r="10867" b="16563"/>
          <a:stretch>
            <a:fillRect/>
          </a:stretch>
        </p:blipFill>
        <p:spPr>
          <a:xfrm>
            <a:off x="6270271" y="2497516"/>
            <a:ext cx="669073" cy="780585"/>
          </a:xfrm>
          <a:prstGeom prst="rect">
            <a:avLst/>
          </a:prstGeom>
        </p:spPr>
      </p:pic>
      <p:pic>
        <p:nvPicPr>
          <p:cNvPr id="12" name="Picture 11" descr="Symbol Of Male Free Stock Photo - Public Domain Pictures">
            <a:extLst>
              <a:ext uri="{FF2B5EF4-FFF2-40B4-BE49-F238E27FC236}">
                <a16:creationId xmlns:a16="http://schemas.microsoft.com/office/drawing/2014/main" id="{A783733A-2140-D16B-5801-FF854663A3E2}"/>
              </a:ext>
            </a:extLst>
          </p:cNvPr>
          <p:cNvPicPr>
            <a:picLocks noChangeAspect="1"/>
          </p:cNvPicPr>
          <p:nvPr/>
        </p:nvPicPr>
        <p:blipFill>
          <a:blip r:embed="rId4">
            <a:extLst>
              <a:ext uri="{837473B0-CC2E-450A-ABE3-18F120FF3D39}">
                <a1611:picAttrSrcUrl xmlns:a1611="http://schemas.microsoft.com/office/drawing/2016/11/main" r:id="rId5"/>
              </a:ext>
            </a:extLst>
          </a:blip>
          <a:srcRect l="5418" t="16946" r="52607" b="17761"/>
          <a:stretch>
            <a:fillRect/>
          </a:stretch>
        </p:blipFill>
        <p:spPr>
          <a:xfrm>
            <a:off x="2655445" y="2313644"/>
            <a:ext cx="669073" cy="780585"/>
          </a:xfrm>
          <a:prstGeom prst="rect">
            <a:avLst/>
          </a:prstGeom>
        </p:spPr>
      </p:pic>
      <p:sp>
        <p:nvSpPr>
          <p:cNvPr id="14" name="TextBox 10">
            <a:extLst>
              <a:ext uri="{FF2B5EF4-FFF2-40B4-BE49-F238E27FC236}">
                <a16:creationId xmlns:a16="http://schemas.microsoft.com/office/drawing/2014/main" id="{0340202E-A802-3B4A-CAF3-92489AECE99A}"/>
              </a:ext>
            </a:extLst>
          </p:cNvPr>
          <p:cNvSpPr txBox="1"/>
          <p:nvPr/>
        </p:nvSpPr>
        <p:spPr>
          <a:xfrm>
            <a:off x="2403030" y="5806171"/>
            <a:ext cx="4536314"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2400" dirty="0">
                <a:latin typeface="Tw Cen MT Condensed" panose="020B0606020104020203" pitchFamily="34" charset="0"/>
                <a:cs typeface="Arial" panose="020B0604020202020204" pitchFamily="34" charset="0"/>
              </a:rPr>
              <a:t>Cowan and Richardson, 2018</a:t>
            </a:r>
            <a:endParaRPr lang="en-AU" sz="2400" dirty="0">
              <a:latin typeface="Tw Cen MT Condensed" panose="020B0606020104020203" pitchFamily="34" charset="0"/>
              <a:cs typeface="Arial" panose="020B0604020202020204" pitchFamily="34" charset="0"/>
            </a:endParaRPr>
          </a:p>
        </p:txBody>
      </p:sp>
    </p:spTree>
    <p:extLst>
      <p:ext uri="{BB962C8B-B14F-4D97-AF65-F5344CB8AC3E}">
        <p14:creationId xmlns:p14="http://schemas.microsoft.com/office/powerpoint/2010/main" val="3678924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27340-8F13-3BCF-5FE2-959042C44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7DF68-E972-73F9-7769-E549BEFBC84A}"/>
              </a:ext>
            </a:extLst>
          </p:cNvPr>
          <p:cNvSpPr txBox="1">
            <a:spLocks/>
          </p:cNvSpPr>
          <p:nvPr/>
        </p:nvSpPr>
        <p:spPr>
          <a:xfrm>
            <a:off x="0" y="354407"/>
            <a:ext cx="1171575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4000" dirty="0">
                <a:latin typeface="Merriweather" panose="00000500000000000000" pitchFamily="2" charset="0"/>
              </a:rPr>
              <a:t>Impacts of ELS: Translational Perspectives</a:t>
            </a:r>
          </a:p>
        </p:txBody>
      </p:sp>
      <p:pic>
        <p:nvPicPr>
          <p:cNvPr id="4" name="Picture 3">
            <a:extLst>
              <a:ext uri="{FF2B5EF4-FFF2-40B4-BE49-F238E27FC236}">
                <a16:creationId xmlns:a16="http://schemas.microsoft.com/office/drawing/2014/main" id="{174120DE-774E-1118-A383-145E26BC16C0}"/>
              </a:ext>
            </a:extLst>
          </p:cNvPr>
          <p:cNvPicPr>
            <a:picLocks noChangeAspect="1"/>
          </p:cNvPicPr>
          <p:nvPr/>
        </p:nvPicPr>
        <p:blipFill>
          <a:blip r:embed="rId2"/>
          <a:srcRect l="11830" t="23568" r="38496" b="40653"/>
          <a:stretch>
            <a:fillRect/>
          </a:stretch>
        </p:blipFill>
        <p:spPr>
          <a:xfrm>
            <a:off x="2131857" y="4772190"/>
            <a:ext cx="4430486" cy="2075333"/>
          </a:xfrm>
          <a:prstGeom prst="rect">
            <a:avLst/>
          </a:prstGeom>
        </p:spPr>
      </p:pic>
      <p:pic>
        <p:nvPicPr>
          <p:cNvPr id="5" name="Picture 4">
            <a:extLst>
              <a:ext uri="{FF2B5EF4-FFF2-40B4-BE49-F238E27FC236}">
                <a16:creationId xmlns:a16="http://schemas.microsoft.com/office/drawing/2014/main" id="{F977A562-50A9-3132-4727-1B6BCF7EF6B5}"/>
              </a:ext>
            </a:extLst>
          </p:cNvPr>
          <p:cNvPicPr>
            <a:picLocks noChangeAspect="1"/>
          </p:cNvPicPr>
          <p:nvPr/>
        </p:nvPicPr>
        <p:blipFill>
          <a:blip r:embed="rId3"/>
          <a:srcRect l="14426" t="25449" r="42716" b="11451"/>
          <a:stretch>
            <a:fillRect/>
          </a:stretch>
        </p:blipFill>
        <p:spPr>
          <a:xfrm>
            <a:off x="372618" y="1111088"/>
            <a:ext cx="3742182" cy="3583201"/>
          </a:xfrm>
          <a:prstGeom prst="rect">
            <a:avLst/>
          </a:prstGeom>
        </p:spPr>
      </p:pic>
    </p:spTree>
    <p:extLst>
      <p:ext uri="{BB962C8B-B14F-4D97-AF65-F5344CB8AC3E}">
        <p14:creationId xmlns:p14="http://schemas.microsoft.com/office/powerpoint/2010/main" val="1347933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5F557-D597-92B1-40E6-A3F650D335EF}"/>
            </a:ext>
          </a:extLst>
        </p:cNvPr>
        <p:cNvGrpSpPr/>
        <p:nvPr/>
      </p:nvGrpSpPr>
      <p:grpSpPr>
        <a:xfrm>
          <a:off x="0" y="0"/>
          <a:ext cx="0" cy="0"/>
          <a:chOff x="0" y="0"/>
          <a:chExt cx="0" cy="0"/>
        </a:xfrm>
      </p:grpSpPr>
      <p:pic>
        <p:nvPicPr>
          <p:cNvPr id="3" name="Picture 2" descr="Stickman Stock de Foto gratis - Public Domain Pictures">
            <a:extLst>
              <a:ext uri="{FF2B5EF4-FFF2-40B4-BE49-F238E27FC236}">
                <a16:creationId xmlns:a16="http://schemas.microsoft.com/office/drawing/2014/main" id="{B9EFECB0-2F38-AE23-4805-2D7922B9A1F5}"/>
              </a:ext>
            </a:extLst>
          </p:cNvPr>
          <p:cNvPicPr>
            <a:picLocks noChangeAspect="1"/>
          </p:cNvPicPr>
          <p:nvPr/>
        </p:nvPicPr>
        <p:blipFill>
          <a:blip r:embed="rId2">
            <a:duotone>
              <a:schemeClr val="accent2">
                <a:shade val="45000"/>
                <a:satMod val="135000"/>
              </a:schemeClr>
              <a:prstClr val="white"/>
            </a:duotone>
            <a:extLst>
              <a:ext uri="{837473B0-CC2E-450A-ABE3-18F120FF3D39}">
                <a1611:picAttrSrcUrl xmlns:a1611="http://schemas.microsoft.com/office/drawing/2016/11/main" r:id="rId3"/>
              </a:ext>
            </a:extLst>
          </a:blip>
          <a:srcRect l="10921" t="8769" r="74562" b="48093"/>
          <a:stretch>
            <a:fillRect/>
          </a:stretch>
        </p:blipFill>
        <p:spPr>
          <a:xfrm>
            <a:off x="131857" y="1444067"/>
            <a:ext cx="512613" cy="1025236"/>
          </a:xfrm>
          <a:prstGeom prst="rect">
            <a:avLst/>
          </a:prstGeom>
        </p:spPr>
      </p:pic>
      <p:pic>
        <p:nvPicPr>
          <p:cNvPr id="5" name="Picture 4" descr="Stickman Stock de Foto gratis - Public Domain Pictures">
            <a:extLst>
              <a:ext uri="{FF2B5EF4-FFF2-40B4-BE49-F238E27FC236}">
                <a16:creationId xmlns:a16="http://schemas.microsoft.com/office/drawing/2014/main" id="{C0939ADB-14B2-3B92-E275-042AC969A883}"/>
              </a:ext>
            </a:extLst>
          </p:cNvPr>
          <p:cNvPicPr>
            <a:picLocks noChangeAspect="1"/>
          </p:cNvPicPr>
          <p:nvPr/>
        </p:nvPicPr>
        <p:blipFill>
          <a:blip r:embed="rId2">
            <a:duotone>
              <a:schemeClr val="accent2">
                <a:shade val="45000"/>
                <a:satMod val="135000"/>
              </a:schemeClr>
              <a:prstClr val="white"/>
            </a:duotone>
            <a:extLst>
              <a:ext uri="{837473B0-CC2E-450A-ABE3-18F120FF3D39}">
                <a1611:picAttrSrcUrl xmlns:a1611="http://schemas.microsoft.com/office/drawing/2016/11/main" r:id="rId3"/>
              </a:ext>
            </a:extLst>
          </a:blip>
          <a:srcRect l="10921" t="8769" r="69853" b="48093"/>
          <a:stretch>
            <a:fillRect/>
          </a:stretch>
        </p:blipFill>
        <p:spPr>
          <a:xfrm>
            <a:off x="588813" y="1444067"/>
            <a:ext cx="678873" cy="1025236"/>
          </a:xfrm>
          <a:prstGeom prst="rect">
            <a:avLst/>
          </a:prstGeom>
        </p:spPr>
      </p:pic>
      <p:pic>
        <p:nvPicPr>
          <p:cNvPr id="4" name="Picture 3" descr="Stickman Stock de Foto gratis - Public Domain Pictures">
            <a:extLst>
              <a:ext uri="{FF2B5EF4-FFF2-40B4-BE49-F238E27FC236}">
                <a16:creationId xmlns:a16="http://schemas.microsoft.com/office/drawing/2014/main" id="{54E7573A-D3D7-9453-6E03-0C2A8494D96F}"/>
              </a:ext>
            </a:extLst>
          </p:cNvPr>
          <p:cNvPicPr>
            <a:picLocks noChangeAspect="1"/>
          </p:cNvPicPr>
          <p:nvPr/>
        </p:nvPicPr>
        <p:blipFill>
          <a:blip r:embed="rId2">
            <a:duotone>
              <a:schemeClr val="accent2">
                <a:shade val="45000"/>
                <a:satMod val="135000"/>
              </a:schemeClr>
              <a:prstClr val="white"/>
            </a:duotone>
            <a:extLst>
              <a:ext uri="{837473B0-CC2E-450A-ABE3-18F120FF3D39}">
                <a1611:picAttrSrcUrl xmlns:a1611="http://schemas.microsoft.com/office/drawing/2016/11/main" r:id="rId3"/>
              </a:ext>
            </a:extLst>
          </a:blip>
          <a:srcRect l="10921" t="8769" r="69853" b="48093"/>
          <a:stretch>
            <a:fillRect/>
          </a:stretch>
        </p:blipFill>
        <p:spPr>
          <a:xfrm>
            <a:off x="1052933" y="1457918"/>
            <a:ext cx="678873" cy="1025236"/>
          </a:xfrm>
          <a:prstGeom prst="rect">
            <a:avLst/>
          </a:prstGeom>
        </p:spPr>
      </p:pic>
      <p:pic>
        <p:nvPicPr>
          <p:cNvPr id="6" name="Picture 5" descr="Stickman Stock de Foto gratis - Public Domain Pictures">
            <a:extLst>
              <a:ext uri="{FF2B5EF4-FFF2-40B4-BE49-F238E27FC236}">
                <a16:creationId xmlns:a16="http://schemas.microsoft.com/office/drawing/2014/main" id="{57668B6E-7D90-3106-72A7-CAA1FA066E44}"/>
              </a:ext>
            </a:extLst>
          </p:cNvPr>
          <p:cNvPicPr>
            <a:picLocks noChangeAspect="1"/>
          </p:cNvPicPr>
          <p:nvPr/>
        </p:nvPicPr>
        <p:blipFill>
          <a:blip r:embed="rId2">
            <a:duotone>
              <a:schemeClr val="accent4">
                <a:shade val="45000"/>
                <a:satMod val="135000"/>
              </a:schemeClr>
              <a:prstClr val="white"/>
            </a:duotone>
            <a:extLst>
              <a:ext uri="{837473B0-CC2E-450A-ABE3-18F120FF3D39}">
                <a1611:picAttrSrcUrl xmlns:a1611="http://schemas.microsoft.com/office/drawing/2016/11/main" r:id="rId3"/>
              </a:ext>
            </a:extLst>
          </a:blip>
          <a:srcRect l="10921" t="8769" r="74562" b="48093"/>
          <a:stretch>
            <a:fillRect/>
          </a:stretch>
        </p:blipFill>
        <p:spPr>
          <a:xfrm>
            <a:off x="2359242" y="1457918"/>
            <a:ext cx="512613" cy="1025236"/>
          </a:xfrm>
          <a:prstGeom prst="rect">
            <a:avLst/>
          </a:prstGeom>
        </p:spPr>
      </p:pic>
      <p:pic>
        <p:nvPicPr>
          <p:cNvPr id="7" name="Picture 6" descr="Stickman Stock de Foto gratis - Public Domain Pictures">
            <a:extLst>
              <a:ext uri="{FF2B5EF4-FFF2-40B4-BE49-F238E27FC236}">
                <a16:creationId xmlns:a16="http://schemas.microsoft.com/office/drawing/2014/main" id="{0CAC2B67-43F2-590B-1CFF-71B573C99271}"/>
              </a:ext>
            </a:extLst>
          </p:cNvPr>
          <p:cNvPicPr>
            <a:picLocks noChangeAspect="1"/>
          </p:cNvPicPr>
          <p:nvPr/>
        </p:nvPicPr>
        <p:blipFill>
          <a:blip r:embed="rId2">
            <a:duotone>
              <a:schemeClr val="accent4">
                <a:shade val="45000"/>
                <a:satMod val="135000"/>
              </a:schemeClr>
              <a:prstClr val="white"/>
            </a:duotone>
            <a:extLst>
              <a:ext uri="{837473B0-CC2E-450A-ABE3-18F120FF3D39}">
                <a1611:picAttrSrcUrl xmlns:a1611="http://schemas.microsoft.com/office/drawing/2016/11/main" r:id="rId3"/>
              </a:ext>
            </a:extLst>
          </a:blip>
          <a:srcRect l="10921" t="8769" r="69853" b="48093"/>
          <a:stretch>
            <a:fillRect/>
          </a:stretch>
        </p:blipFill>
        <p:spPr>
          <a:xfrm>
            <a:off x="2816198" y="1457918"/>
            <a:ext cx="678873" cy="1025236"/>
          </a:xfrm>
          <a:prstGeom prst="rect">
            <a:avLst/>
          </a:prstGeom>
        </p:spPr>
      </p:pic>
      <p:pic>
        <p:nvPicPr>
          <p:cNvPr id="8" name="Picture 7" descr="Stickman Stock de Foto gratis - Public Domain Pictures">
            <a:extLst>
              <a:ext uri="{FF2B5EF4-FFF2-40B4-BE49-F238E27FC236}">
                <a16:creationId xmlns:a16="http://schemas.microsoft.com/office/drawing/2014/main" id="{885148F8-BD15-C87A-C483-D2059F2876A3}"/>
              </a:ext>
            </a:extLst>
          </p:cNvPr>
          <p:cNvPicPr>
            <a:picLocks noChangeAspect="1"/>
          </p:cNvPicPr>
          <p:nvPr/>
        </p:nvPicPr>
        <p:blipFill>
          <a:blip r:embed="rId2">
            <a:duotone>
              <a:schemeClr val="accent4">
                <a:shade val="45000"/>
                <a:satMod val="135000"/>
              </a:schemeClr>
              <a:prstClr val="white"/>
            </a:duotone>
            <a:extLst>
              <a:ext uri="{837473B0-CC2E-450A-ABE3-18F120FF3D39}">
                <a1611:picAttrSrcUrl xmlns:a1611="http://schemas.microsoft.com/office/drawing/2016/11/main" r:id="rId3"/>
              </a:ext>
            </a:extLst>
          </a:blip>
          <a:srcRect l="10921" t="8769" r="69853" b="48093"/>
          <a:stretch>
            <a:fillRect/>
          </a:stretch>
        </p:blipFill>
        <p:spPr>
          <a:xfrm>
            <a:off x="3280318" y="1471769"/>
            <a:ext cx="678873" cy="1025236"/>
          </a:xfrm>
          <a:prstGeom prst="rect">
            <a:avLst/>
          </a:prstGeom>
        </p:spPr>
      </p:pic>
      <p:sp>
        <p:nvSpPr>
          <p:cNvPr id="11" name="TextBox 10">
            <a:extLst>
              <a:ext uri="{FF2B5EF4-FFF2-40B4-BE49-F238E27FC236}">
                <a16:creationId xmlns:a16="http://schemas.microsoft.com/office/drawing/2014/main" id="{314DEE4F-FB8A-EF26-827A-78157562F61E}"/>
              </a:ext>
            </a:extLst>
          </p:cNvPr>
          <p:cNvSpPr txBox="1"/>
          <p:nvPr/>
        </p:nvSpPr>
        <p:spPr>
          <a:xfrm>
            <a:off x="8493623" y="0"/>
            <a:ext cx="3698377" cy="954107"/>
          </a:xfrm>
          <a:prstGeom prst="rect">
            <a:avLst/>
          </a:prstGeom>
          <a:noFill/>
        </p:spPr>
        <p:txBody>
          <a:bodyPr wrap="square" rtlCol="0">
            <a:spAutoFit/>
          </a:bodyPr>
          <a:lstStyle/>
          <a:p>
            <a:r>
              <a:rPr lang="en-AU" sz="2800" b="1" dirty="0">
                <a:solidFill>
                  <a:schemeClr val="accent2">
                    <a:lumMod val="75000"/>
                  </a:schemeClr>
                </a:solidFill>
              </a:rPr>
              <a:t>Low screen time</a:t>
            </a:r>
          </a:p>
          <a:p>
            <a:r>
              <a:rPr lang="en-AU" sz="2800" b="1" dirty="0">
                <a:solidFill>
                  <a:srgbClr val="0070C0"/>
                </a:solidFill>
              </a:rPr>
              <a:t>High screen time</a:t>
            </a:r>
          </a:p>
        </p:txBody>
      </p:sp>
      <p:sp>
        <p:nvSpPr>
          <p:cNvPr id="12" name="TextBox 11">
            <a:extLst>
              <a:ext uri="{FF2B5EF4-FFF2-40B4-BE49-F238E27FC236}">
                <a16:creationId xmlns:a16="http://schemas.microsoft.com/office/drawing/2014/main" id="{9CBBD441-3006-B3EE-E10A-8F68272034EA}"/>
              </a:ext>
            </a:extLst>
          </p:cNvPr>
          <p:cNvSpPr txBox="1"/>
          <p:nvPr/>
        </p:nvSpPr>
        <p:spPr>
          <a:xfrm>
            <a:off x="4214752" y="1457918"/>
            <a:ext cx="6720271" cy="1200329"/>
          </a:xfrm>
          <a:prstGeom prst="rect">
            <a:avLst/>
          </a:prstGeom>
          <a:noFill/>
        </p:spPr>
        <p:txBody>
          <a:bodyPr wrap="square" rtlCol="0">
            <a:spAutoFit/>
          </a:bodyPr>
          <a:lstStyle/>
          <a:p>
            <a:r>
              <a:rPr lang="en-AU" sz="2400" i="1" dirty="0"/>
              <a:t>Divide sample population into Low Screen Time and High Screen Time based on questionnaire. Test language skills at a single time point.</a:t>
            </a:r>
          </a:p>
        </p:txBody>
      </p:sp>
      <p:sp>
        <p:nvSpPr>
          <p:cNvPr id="13" name="TextBox 12">
            <a:extLst>
              <a:ext uri="{FF2B5EF4-FFF2-40B4-BE49-F238E27FC236}">
                <a16:creationId xmlns:a16="http://schemas.microsoft.com/office/drawing/2014/main" id="{122A0B94-0045-DDE8-CB26-A28040A2FC79}"/>
              </a:ext>
            </a:extLst>
          </p:cNvPr>
          <p:cNvSpPr txBox="1"/>
          <p:nvPr/>
        </p:nvSpPr>
        <p:spPr>
          <a:xfrm>
            <a:off x="19321" y="38481"/>
            <a:ext cx="6720271" cy="954107"/>
          </a:xfrm>
          <a:prstGeom prst="rect">
            <a:avLst/>
          </a:prstGeom>
          <a:noFill/>
        </p:spPr>
        <p:txBody>
          <a:bodyPr wrap="square" rtlCol="0">
            <a:spAutoFit/>
          </a:bodyPr>
          <a:lstStyle/>
          <a:p>
            <a:r>
              <a:rPr lang="en-AU" sz="2800" b="1" dirty="0"/>
              <a:t>Example: </a:t>
            </a:r>
            <a:r>
              <a:rPr lang="en-AU" sz="2800" i="1" dirty="0"/>
              <a:t>Examining impacts of screen time on language acquisition</a:t>
            </a:r>
          </a:p>
        </p:txBody>
      </p:sp>
      <p:pic>
        <p:nvPicPr>
          <p:cNvPr id="14" name="Picture 13" descr="Stickman Stock de Foto gratis - Public Domain Pictures">
            <a:extLst>
              <a:ext uri="{FF2B5EF4-FFF2-40B4-BE49-F238E27FC236}">
                <a16:creationId xmlns:a16="http://schemas.microsoft.com/office/drawing/2014/main" id="{21688F06-3F93-B996-14E7-9CE2AEF767B5}"/>
              </a:ext>
            </a:extLst>
          </p:cNvPr>
          <p:cNvPicPr>
            <a:picLocks noChangeAspect="1"/>
          </p:cNvPicPr>
          <p:nvPr/>
        </p:nvPicPr>
        <p:blipFill>
          <a:blip r:embed="rId2">
            <a:extLst>
              <a:ext uri="{837473B0-CC2E-450A-ABE3-18F120FF3D39}">
                <a1611:picAttrSrcUrl xmlns:a1611="http://schemas.microsoft.com/office/drawing/2016/11/main" r:id="rId3"/>
              </a:ext>
            </a:extLst>
          </a:blip>
          <a:srcRect l="10921" t="8769" r="74562" b="48093"/>
          <a:stretch>
            <a:fillRect/>
          </a:stretch>
        </p:blipFill>
        <p:spPr>
          <a:xfrm>
            <a:off x="171129" y="4454829"/>
            <a:ext cx="279218" cy="558442"/>
          </a:xfrm>
          <a:prstGeom prst="rect">
            <a:avLst/>
          </a:prstGeom>
        </p:spPr>
      </p:pic>
      <p:pic>
        <p:nvPicPr>
          <p:cNvPr id="15" name="Picture 14" descr="Stickman Stock de Foto gratis - Public Domain Pictures">
            <a:extLst>
              <a:ext uri="{FF2B5EF4-FFF2-40B4-BE49-F238E27FC236}">
                <a16:creationId xmlns:a16="http://schemas.microsoft.com/office/drawing/2014/main" id="{64793A64-A71B-6CFE-6110-736A78567CE6}"/>
              </a:ext>
            </a:extLst>
          </p:cNvPr>
          <p:cNvPicPr>
            <a:picLocks noChangeAspect="1"/>
          </p:cNvPicPr>
          <p:nvPr/>
        </p:nvPicPr>
        <p:blipFill>
          <a:blip r:embed="rId2">
            <a:duotone>
              <a:schemeClr val="accent2">
                <a:shade val="45000"/>
                <a:satMod val="135000"/>
              </a:schemeClr>
              <a:prstClr val="white"/>
            </a:duotone>
            <a:extLst>
              <a:ext uri="{837473B0-CC2E-450A-ABE3-18F120FF3D39}">
                <a1611:picAttrSrcUrl xmlns:a1611="http://schemas.microsoft.com/office/drawing/2016/11/main" r:id="rId3"/>
              </a:ext>
            </a:extLst>
          </a:blip>
          <a:srcRect l="10921" t="8769" r="74562" b="48093"/>
          <a:stretch>
            <a:fillRect/>
          </a:stretch>
        </p:blipFill>
        <p:spPr>
          <a:xfrm>
            <a:off x="1280444" y="3703251"/>
            <a:ext cx="395958" cy="791924"/>
          </a:xfrm>
          <a:prstGeom prst="rect">
            <a:avLst/>
          </a:prstGeom>
        </p:spPr>
      </p:pic>
      <p:pic>
        <p:nvPicPr>
          <p:cNvPr id="17" name="Picture 16" descr="Stickman Stock de Foto gratis - Public Domain Pictures">
            <a:extLst>
              <a:ext uri="{FF2B5EF4-FFF2-40B4-BE49-F238E27FC236}">
                <a16:creationId xmlns:a16="http://schemas.microsoft.com/office/drawing/2014/main" id="{21D687DB-54D8-689B-804E-690E23CCB796}"/>
              </a:ext>
            </a:extLst>
          </p:cNvPr>
          <p:cNvPicPr>
            <a:picLocks noChangeAspect="1"/>
          </p:cNvPicPr>
          <p:nvPr/>
        </p:nvPicPr>
        <p:blipFill>
          <a:blip r:embed="rId2">
            <a:duotone>
              <a:schemeClr val="accent4">
                <a:shade val="45000"/>
                <a:satMod val="135000"/>
              </a:schemeClr>
              <a:prstClr val="white"/>
            </a:duotone>
            <a:extLst>
              <a:ext uri="{837473B0-CC2E-450A-ABE3-18F120FF3D39}">
                <a1611:picAttrSrcUrl xmlns:a1611="http://schemas.microsoft.com/office/drawing/2016/11/main" r:id="rId3"/>
              </a:ext>
            </a:extLst>
          </a:blip>
          <a:srcRect l="10921" t="8769" r="74562" b="48093"/>
          <a:stretch>
            <a:fillRect/>
          </a:stretch>
        </p:blipFill>
        <p:spPr>
          <a:xfrm>
            <a:off x="1289988" y="5090113"/>
            <a:ext cx="421474" cy="842957"/>
          </a:xfrm>
          <a:prstGeom prst="rect">
            <a:avLst/>
          </a:prstGeom>
        </p:spPr>
      </p:pic>
      <p:pic>
        <p:nvPicPr>
          <p:cNvPr id="19" name="Picture 18" descr="Stickman Stock de Foto gratis - Public Domain Pictures">
            <a:extLst>
              <a:ext uri="{FF2B5EF4-FFF2-40B4-BE49-F238E27FC236}">
                <a16:creationId xmlns:a16="http://schemas.microsoft.com/office/drawing/2014/main" id="{7B08D425-25EB-58E9-C705-59364228937F}"/>
              </a:ext>
            </a:extLst>
          </p:cNvPr>
          <p:cNvPicPr>
            <a:picLocks noChangeAspect="1"/>
          </p:cNvPicPr>
          <p:nvPr/>
        </p:nvPicPr>
        <p:blipFill>
          <a:blip r:embed="rId2">
            <a:duotone>
              <a:schemeClr val="accent2">
                <a:shade val="45000"/>
                <a:satMod val="135000"/>
              </a:schemeClr>
              <a:prstClr val="white"/>
            </a:duotone>
            <a:extLst>
              <a:ext uri="{837473B0-CC2E-450A-ABE3-18F120FF3D39}">
                <a1611:picAttrSrcUrl xmlns:a1611="http://schemas.microsoft.com/office/drawing/2016/11/main" r:id="rId3"/>
              </a:ext>
            </a:extLst>
          </a:blip>
          <a:srcRect l="10921" t="8769" r="69853" b="48093"/>
          <a:stretch>
            <a:fillRect/>
          </a:stretch>
        </p:blipFill>
        <p:spPr>
          <a:xfrm>
            <a:off x="2588086" y="3349611"/>
            <a:ext cx="678873" cy="1025236"/>
          </a:xfrm>
          <a:prstGeom prst="rect">
            <a:avLst/>
          </a:prstGeom>
        </p:spPr>
      </p:pic>
      <p:pic>
        <p:nvPicPr>
          <p:cNvPr id="20" name="Picture 19" descr="Stickman Stock de Foto gratis - Public Domain Pictures">
            <a:extLst>
              <a:ext uri="{FF2B5EF4-FFF2-40B4-BE49-F238E27FC236}">
                <a16:creationId xmlns:a16="http://schemas.microsoft.com/office/drawing/2014/main" id="{35DE027E-66B5-8D8D-0C92-F881386F9853}"/>
              </a:ext>
            </a:extLst>
          </p:cNvPr>
          <p:cNvPicPr>
            <a:picLocks noChangeAspect="1"/>
          </p:cNvPicPr>
          <p:nvPr/>
        </p:nvPicPr>
        <p:blipFill>
          <a:blip r:embed="rId2">
            <a:duotone>
              <a:schemeClr val="accent4">
                <a:shade val="45000"/>
                <a:satMod val="135000"/>
              </a:schemeClr>
              <a:prstClr val="white"/>
            </a:duotone>
            <a:extLst>
              <a:ext uri="{837473B0-CC2E-450A-ABE3-18F120FF3D39}">
                <a1611:picAttrSrcUrl xmlns:a1611="http://schemas.microsoft.com/office/drawing/2016/11/main" r:id="rId3"/>
              </a:ext>
            </a:extLst>
          </a:blip>
          <a:srcRect l="10921" t="8769" r="74562" b="48093"/>
          <a:stretch>
            <a:fillRect/>
          </a:stretch>
        </p:blipFill>
        <p:spPr>
          <a:xfrm>
            <a:off x="2593246" y="5264963"/>
            <a:ext cx="512613" cy="1025236"/>
          </a:xfrm>
          <a:prstGeom prst="rect">
            <a:avLst/>
          </a:prstGeom>
        </p:spPr>
      </p:pic>
      <p:sp>
        <p:nvSpPr>
          <p:cNvPr id="21" name="TextBox 20">
            <a:extLst>
              <a:ext uri="{FF2B5EF4-FFF2-40B4-BE49-F238E27FC236}">
                <a16:creationId xmlns:a16="http://schemas.microsoft.com/office/drawing/2014/main" id="{B9FE888C-F7E9-C0C8-BCB9-AB92DA301F55}"/>
              </a:ext>
            </a:extLst>
          </p:cNvPr>
          <p:cNvSpPr txBox="1"/>
          <p:nvPr/>
        </p:nvSpPr>
        <p:spPr>
          <a:xfrm>
            <a:off x="3370510" y="3429000"/>
            <a:ext cx="4981754" cy="3046988"/>
          </a:xfrm>
          <a:prstGeom prst="rect">
            <a:avLst/>
          </a:prstGeom>
          <a:noFill/>
        </p:spPr>
        <p:txBody>
          <a:bodyPr wrap="square" rtlCol="0">
            <a:spAutoFit/>
          </a:bodyPr>
          <a:lstStyle/>
          <a:p>
            <a:r>
              <a:rPr lang="en-AU" sz="2400" i="1" dirty="0"/>
              <a:t>Start with sample population before screens are introduced. Include only subjects that are meeting expressive language benchmarks at Time Point 1. Test at several time points in a longitudinal study and compare trajectories for “Screen Restricted” vs “Screen Unrestricted” children.</a:t>
            </a:r>
          </a:p>
        </p:txBody>
      </p:sp>
      <p:cxnSp>
        <p:nvCxnSpPr>
          <p:cNvPr id="2" name="Straight Arrow Connector 1">
            <a:extLst>
              <a:ext uri="{FF2B5EF4-FFF2-40B4-BE49-F238E27FC236}">
                <a16:creationId xmlns:a16="http://schemas.microsoft.com/office/drawing/2014/main" id="{556478B9-233E-962E-BD38-6DBAD8DF1999}"/>
              </a:ext>
            </a:extLst>
          </p:cNvPr>
          <p:cNvCxnSpPr>
            <a:cxnSpLocks/>
            <a:endCxn id="15" idx="1"/>
          </p:cNvCxnSpPr>
          <p:nvPr/>
        </p:nvCxnSpPr>
        <p:spPr>
          <a:xfrm flipV="1">
            <a:off x="451587" y="4099213"/>
            <a:ext cx="828857" cy="59904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C9F6582-81A0-0039-C2DF-1D0EE9264031}"/>
              </a:ext>
            </a:extLst>
          </p:cNvPr>
          <p:cNvCxnSpPr>
            <a:cxnSpLocks/>
          </p:cNvCxnSpPr>
          <p:nvPr/>
        </p:nvCxnSpPr>
        <p:spPr>
          <a:xfrm>
            <a:off x="471680" y="4786928"/>
            <a:ext cx="828857" cy="59904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0AA0AC5-29A4-EEA6-6FB3-EBC650B03DCD}"/>
              </a:ext>
            </a:extLst>
          </p:cNvPr>
          <p:cNvCxnSpPr>
            <a:cxnSpLocks/>
          </p:cNvCxnSpPr>
          <p:nvPr/>
        </p:nvCxnSpPr>
        <p:spPr>
          <a:xfrm>
            <a:off x="1760603" y="5444608"/>
            <a:ext cx="884002" cy="29952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FF95E88-0326-02D5-A39E-B2BEBC3995FD}"/>
              </a:ext>
            </a:extLst>
          </p:cNvPr>
          <p:cNvCxnSpPr>
            <a:cxnSpLocks/>
          </p:cNvCxnSpPr>
          <p:nvPr/>
        </p:nvCxnSpPr>
        <p:spPr>
          <a:xfrm flipV="1">
            <a:off x="1711462" y="3703251"/>
            <a:ext cx="884002" cy="29952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1981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38266-D7B7-0F45-4EDD-B5BA18EC9891}"/>
            </a:ext>
          </a:extLst>
        </p:cNvPr>
        <p:cNvGrpSpPr/>
        <p:nvPr/>
      </p:nvGrpSpPr>
      <p:grpSpPr>
        <a:xfrm>
          <a:off x="0" y="0"/>
          <a:ext cx="0" cy="0"/>
          <a:chOff x="0" y="0"/>
          <a:chExt cx="0" cy="0"/>
        </a:xfrm>
      </p:grpSpPr>
      <p:pic>
        <p:nvPicPr>
          <p:cNvPr id="5" name="Picture 4" descr="Stickman Stock de Foto gratis - Public Domain Pictures">
            <a:extLst>
              <a:ext uri="{FF2B5EF4-FFF2-40B4-BE49-F238E27FC236}">
                <a16:creationId xmlns:a16="http://schemas.microsoft.com/office/drawing/2014/main" id="{6D62BF67-43D4-6BBB-4DB1-26E42BD71D7F}"/>
              </a:ext>
            </a:extLst>
          </p:cNvPr>
          <p:cNvPicPr>
            <a:picLocks noChangeAspect="1"/>
          </p:cNvPicPr>
          <p:nvPr/>
        </p:nvPicPr>
        <p:blipFill>
          <a:blip r:embed="rId2">
            <a:extLst>
              <a:ext uri="{837473B0-CC2E-450A-ABE3-18F120FF3D39}">
                <a1611:picAttrSrcUrl xmlns:a1611="http://schemas.microsoft.com/office/drawing/2016/11/main" r:id="rId3"/>
              </a:ext>
            </a:extLst>
          </a:blip>
          <a:srcRect l="10921" t="8769" r="69853" b="48093"/>
          <a:stretch>
            <a:fillRect/>
          </a:stretch>
        </p:blipFill>
        <p:spPr>
          <a:xfrm>
            <a:off x="1281428" y="1463859"/>
            <a:ext cx="490053" cy="740079"/>
          </a:xfrm>
          <a:prstGeom prst="rect">
            <a:avLst/>
          </a:prstGeom>
        </p:spPr>
      </p:pic>
      <p:pic>
        <p:nvPicPr>
          <p:cNvPr id="4" name="Picture 3" descr="Stickman Stock de Foto gratis - Public Domain Pictures">
            <a:extLst>
              <a:ext uri="{FF2B5EF4-FFF2-40B4-BE49-F238E27FC236}">
                <a16:creationId xmlns:a16="http://schemas.microsoft.com/office/drawing/2014/main" id="{2D923241-91FB-FF5B-C6FC-2DB18AE73A74}"/>
              </a:ext>
            </a:extLst>
          </p:cNvPr>
          <p:cNvPicPr>
            <a:picLocks noChangeAspect="1"/>
          </p:cNvPicPr>
          <p:nvPr/>
        </p:nvPicPr>
        <p:blipFill>
          <a:blip r:embed="rId2">
            <a:duotone>
              <a:schemeClr val="accent2">
                <a:shade val="45000"/>
                <a:satMod val="135000"/>
              </a:schemeClr>
              <a:prstClr val="white"/>
            </a:duotone>
            <a:extLst>
              <a:ext uri="{837473B0-CC2E-450A-ABE3-18F120FF3D39}">
                <a1611:picAttrSrcUrl xmlns:a1611="http://schemas.microsoft.com/office/drawing/2016/11/main" r:id="rId3"/>
              </a:ext>
            </a:extLst>
          </a:blip>
          <a:srcRect l="10921" t="8769" r="69853" b="48093"/>
          <a:stretch>
            <a:fillRect/>
          </a:stretch>
        </p:blipFill>
        <p:spPr>
          <a:xfrm>
            <a:off x="411609" y="2738930"/>
            <a:ext cx="678873" cy="1025236"/>
          </a:xfrm>
          <a:prstGeom prst="rect">
            <a:avLst/>
          </a:prstGeom>
        </p:spPr>
      </p:pic>
      <p:pic>
        <p:nvPicPr>
          <p:cNvPr id="6" name="Picture 5" descr="Stickman Stock de Foto gratis - Public Domain Pictures">
            <a:extLst>
              <a:ext uri="{FF2B5EF4-FFF2-40B4-BE49-F238E27FC236}">
                <a16:creationId xmlns:a16="http://schemas.microsoft.com/office/drawing/2014/main" id="{7C79F3B1-0647-5ECF-3F37-78436911D97E}"/>
              </a:ext>
            </a:extLst>
          </p:cNvPr>
          <p:cNvPicPr>
            <a:picLocks noChangeAspect="1"/>
          </p:cNvPicPr>
          <p:nvPr/>
        </p:nvPicPr>
        <p:blipFill>
          <a:blip r:embed="rId2">
            <a:duotone>
              <a:schemeClr val="accent4">
                <a:shade val="45000"/>
                <a:satMod val="135000"/>
              </a:schemeClr>
              <a:prstClr val="white"/>
            </a:duotone>
            <a:extLst>
              <a:ext uri="{837473B0-CC2E-450A-ABE3-18F120FF3D39}">
                <a1611:picAttrSrcUrl xmlns:a1611="http://schemas.microsoft.com/office/drawing/2016/11/main" r:id="rId3"/>
              </a:ext>
            </a:extLst>
          </a:blip>
          <a:srcRect l="10921" t="8769" r="74562" b="48093"/>
          <a:stretch>
            <a:fillRect/>
          </a:stretch>
        </p:blipFill>
        <p:spPr>
          <a:xfrm>
            <a:off x="2341614" y="2738930"/>
            <a:ext cx="512613" cy="1025236"/>
          </a:xfrm>
          <a:prstGeom prst="rect">
            <a:avLst/>
          </a:prstGeom>
        </p:spPr>
      </p:pic>
      <p:sp>
        <p:nvSpPr>
          <p:cNvPr id="11" name="TextBox 10">
            <a:extLst>
              <a:ext uri="{FF2B5EF4-FFF2-40B4-BE49-F238E27FC236}">
                <a16:creationId xmlns:a16="http://schemas.microsoft.com/office/drawing/2014/main" id="{8D911E8A-AEEC-5705-FA6A-8FA9EFA888AB}"/>
              </a:ext>
            </a:extLst>
          </p:cNvPr>
          <p:cNvSpPr txBox="1"/>
          <p:nvPr/>
        </p:nvSpPr>
        <p:spPr>
          <a:xfrm>
            <a:off x="8493623" y="0"/>
            <a:ext cx="3698377" cy="954107"/>
          </a:xfrm>
          <a:prstGeom prst="rect">
            <a:avLst/>
          </a:prstGeom>
          <a:noFill/>
        </p:spPr>
        <p:txBody>
          <a:bodyPr wrap="square" rtlCol="0">
            <a:spAutoFit/>
          </a:bodyPr>
          <a:lstStyle/>
          <a:p>
            <a:r>
              <a:rPr lang="en-AU" sz="2800" b="1" dirty="0">
                <a:solidFill>
                  <a:schemeClr val="accent2">
                    <a:lumMod val="75000"/>
                  </a:schemeClr>
                </a:solidFill>
              </a:rPr>
              <a:t>A</a:t>
            </a:r>
            <a:r>
              <a:rPr lang="en-AU" sz="2800" b="1" dirty="0"/>
              <a:t> = Low screen time</a:t>
            </a:r>
          </a:p>
          <a:p>
            <a:r>
              <a:rPr lang="en-AU" sz="2800" b="1" dirty="0">
                <a:solidFill>
                  <a:srgbClr val="0070C0"/>
                </a:solidFill>
              </a:rPr>
              <a:t>B</a:t>
            </a:r>
            <a:r>
              <a:rPr lang="en-AU" sz="2800" b="1" dirty="0"/>
              <a:t> = High screen time</a:t>
            </a:r>
          </a:p>
        </p:txBody>
      </p:sp>
      <p:sp>
        <p:nvSpPr>
          <p:cNvPr id="12" name="TextBox 11">
            <a:extLst>
              <a:ext uri="{FF2B5EF4-FFF2-40B4-BE49-F238E27FC236}">
                <a16:creationId xmlns:a16="http://schemas.microsoft.com/office/drawing/2014/main" id="{F11381E1-9431-4324-E0B2-DA59B5316B15}"/>
              </a:ext>
            </a:extLst>
          </p:cNvPr>
          <p:cNvSpPr txBox="1"/>
          <p:nvPr/>
        </p:nvSpPr>
        <p:spPr>
          <a:xfrm>
            <a:off x="3501198" y="1775508"/>
            <a:ext cx="6720271" cy="1384995"/>
          </a:xfrm>
          <a:prstGeom prst="rect">
            <a:avLst/>
          </a:prstGeom>
          <a:noFill/>
        </p:spPr>
        <p:txBody>
          <a:bodyPr wrap="square" rtlCol="0">
            <a:spAutoFit/>
          </a:bodyPr>
          <a:lstStyle/>
          <a:p>
            <a:r>
              <a:rPr lang="en-AU" sz="2800" b="1" dirty="0"/>
              <a:t>Twin Study: </a:t>
            </a:r>
            <a:r>
              <a:rPr lang="en-AU" sz="2800" i="1" dirty="0"/>
              <a:t>Compare language acquisition in monozygotic twins reared apart in high screen vs low screen homes.</a:t>
            </a:r>
          </a:p>
        </p:txBody>
      </p:sp>
      <p:sp>
        <p:nvSpPr>
          <p:cNvPr id="13" name="TextBox 12">
            <a:extLst>
              <a:ext uri="{FF2B5EF4-FFF2-40B4-BE49-F238E27FC236}">
                <a16:creationId xmlns:a16="http://schemas.microsoft.com/office/drawing/2014/main" id="{D42218A3-8041-744D-BF4A-34BF991F4982}"/>
              </a:ext>
            </a:extLst>
          </p:cNvPr>
          <p:cNvSpPr txBox="1"/>
          <p:nvPr/>
        </p:nvSpPr>
        <p:spPr>
          <a:xfrm>
            <a:off x="19321" y="38481"/>
            <a:ext cx="6720271" cy="954107"/>
          </a:xfrm>
          <a:prstGeom prst="rect">
            <a:avLst/>
          </a:prstGeom>
          <a:noFill/>
        </p:spPr>
        <p:txBody>
          <a:bodyPr wrap="square" rtlCol="0">
            <a:spAutoFit/>
          </a:bodyPr>
          <a:lstStyle/>
          <a:p>
            <a:r>
              <a:rPr lang="en-AU" sz="2800" b="1" dirty="0"/>
              <a:t>Example: </a:t>
            </a:r>
            <a:r>
              <a:rPr lang="en-AU" sz="2800" i="1" dirty="0"/>
              <a:t>Examining impacts of screen time on language acquisition</a:t>
            </a:r>
          </a:p>
        </p:txBody>
      </p:sp>
      <p:pic>
        <p:nvPicPr>
          <p:cNvPr id="2" name="Picture 1" descr="Stickman Stock de Foto gratis - Public Domain Pictures">
            <a:extLst>
              <a:ext uri="{FF2B5EF4-FFF2-40B4-BE49-F238E27FC236}">
                <a16:creationId xmlns:a16="http://schemas.microsoft.com/office/drawing/2014/main" id="{0E170D34-1451-01E4-E5B3-273F9E8CAC89}"/>
              </a:ext>
            </a:extLst>
          </p:cNvPr>
          <p:cNvPicPr>
            <a:picLocks noChangeAspect="1"/>
          </p:cNvPicPr>
          <p:nvPr/>
        </p:nvPicPr>
        <p:blipFill>
          <a:blip r:embed="rId2">
            <a:extLst>
              <a:ext uri="{837473B0-CC2E-450A-ABE3-18F120FF3D39}">
                <a1611:picAttrSrcUrl xmlns:a1611="http://schemas.microsoft.com/office/drawing/2016/11/main" r:id="rId3"/>
              </a:ext>
            </a:extLst>
          </a:blip>
          <a:srcRect l="10921" t="8769" r="69853" b="48093"/>
          <a:stretch>
            <a:fillRect/>
          </a:stretch>
        </p:blipFill>
        <p:spPr>
          <a:xfrm>
            <a:off x="1672855" y="1470714"/>
            <a:ext cx="490053" cy="740079"/>
          </a:xfrm>
          <a:prstGeom prst="rect">
            <a:avLst/>
          </a:prstGeom>
        </p:spPr>
      </p:pic>
      <p:cxnSp>
        <p:nvCxnSpPr>
          <p:cNvPr id="18" name="Straight Arrow Connector 17">
            <a:extLst>
              <a:ext uri="{FF2B5EF4-FFF2-40B4-BE49-F238E27FC236}">
                <a16:creationId xmlns:a16="http://schemas.microsoft.com/office/drawing/2014/main" id="{20C2EBA8-5090-2924-1955-400CA0174578}"/>
              </a:ext>
            </a:extLst>
          </p:cNvPr>
          <p:cNvCxnSpPr/>
          <p:nvPr/>
        </p:nvCxnSpPr>
        <p:spPr>
          <a:xfrm flipH="1">
            <a:off x="879231" y="2210793"/>
            <a:ext cx="402197" cy="52813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14E8A73-C65E-70E8-D4DC-362ED19549FB}"/>
              </a:ext>
            </a:extLst>
          </p:cNvPr>
          <p:cNvCxnSpPr>
            <a:cxnSpLocks/>
          </p:cNvCxnSpPr>
          <p:nvPr/>
        </p:nvCxnSpPr>
        <p:spPr>
          <a:xfrm>
            <a:off x="2038815" y="2203938"/>
            <a:ext cx="402197" cy="52813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837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62727-738B-1A20-76E2-CCE3D46E6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CC1BC-15BC-F5BD-6CFC-F6184EB633E8}"/>
              </a:ext>
            </a:extLst>
          </p:cNvPr>
          <p:cNvSpPr>
            <a:spLocks noGrp="1"/>
          </p:cNvSpPr>
          <p:nvPr>
            <p:ph type="title"/>
          </p:nvPr>
        </p:nvSpPr>
        <p:spPr>
          <a:xfrm>
            <a:off x="46390" y="337550"/>
            <a:ext cx="11715750" cy="1325563"/>
          </a:xfrm>
        </p:spPr>
        <p:txBody>
          <a:bodyPr>
            <a:normAutofit/>
          </a:bodyPr>
          <a:lstStyle/>
          <a:p>
            <a:r>
              <a:rPr lang="en-AU" sz="4000" dirty="0">
                <a:latin typeface="Merriweather" panose="00000500000000000000" pitchFamily="2" charset="0"/>
              </a:rPr>
              <a:t>Mauritius Child Health Study</a:t>
            </a:r>
          </a:p>
        </p:txBody>
      </p:sp>
      <p:sp>
        <p:nvSpPr>
          <p:cNvPr id="7" name="Content Placeholder 2">
            <a:extLst>
              <a:ext uri="{FF2B5EF4-FFF2-40B4-BE49-F238E27FC236}">
                <a16:creationId xmlns:a16="http://schemas.microsoft.com/office/drawing/2014/main" id="{D2D26031-4319-BC6C-541C-5093038F4085}"/>
              </a:ext>
            </a:extLst>
          </p:cNvPr>
          <p:cNvSpPr txBox="1">
            <a:spLocks/>
          </p:cNvSpPr>
          <p:nvPr/>
        </p:nvSpPr>
        <p:spPr>
          <a:xfrm>
            <a:off x="0" y="1663113"/>
            <a:ext cx="7057795" cy="450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dirty="0">
                <a:latin typeface="Merriweather" panose="00000500000000000000" pitchFamily="2" charset="0"/>
              </a:rPr>
              <a:t>Longitudinal study that has been ongoing since 1972 to examine child health and development</a:t>
            </a:r>
          </a:p>
          <a:p>
            <a:r>
              <a:rPr lang="en-AU" sz="2400" dirty="0">
                <a:latin typeface="Merriweather" panose="00000500000000000000" pitchFamily="2" charset="0"/>
              </a:rPr>
              <a:t>Cohort of 1,795 children born in 1969 (subjects assessed at 3 years old)</a:t>
            </a:r>
          </a:p>
          <a:p>
            <a:r>
              <a:rPr lang="en-AU" sz="2400" dirty="0">
                <a:latin typeface="Merriweather" panose="00000500000000000000" pitchFamily="2" charset="0"/>
              </a:rPr>
              <a:t>Follow-ups at 8, 11, 17, 23, 28, 35, and 39yo </a:t>
            </a:r>
          </a:p>
        </p:txBody>
      </p:sp>
      <p:pic>
        <p:nvPicPr>
          <p:cNvPr id="3" name="Picture 2" descr="Mauritius country profile - BBC News">
            <a:extLst>
              <a:ext uri="{FF2B5EF4-FFF2-40B4-BE49-F238E27FC236}">
                <a16:creationId xmlns:a16="http://schemas.microsoft.com/office/drawing/2014/main" id="{6525AD39-9F94-98C1-38FD-D8DE1D4F4107}"/>
              </a:ext>
            </a:extLst>
          </p:cNvPr>
          <p:cNvPicPr>
            <a:picLocks noChangeAspect="1"/>
          </p:cNvPicPr>
          <p:nvPr/>
        </p:nvPicPr>
        <p:blipFill>
          <a:blip r:embed="rId2"/>
          <a:stretch>
            <a:fillRect/>
          </a:stretch>
        </p:blipFill>
        <p:spPr>
          <a:xfrm>
            <a:off x="7794701" y="1000331"/>
            <a:ext cx="4139893" cy="2328690"/>
          </a:xfrm>
          <a:prstGeom prst="rect">
            <a:avLst/>
          </a:prstGeom>
        </p:spPr>
      </p:pic>
    </p:spTree>
    <p:extLst>
      <p:ext uri="{BB962C8B-B14F-4D97-AF65-F5344CB8AC3E}">
        <p14:creationId xmlns:p14="http://schemas.microsoft.com/office/powerpoint/2010/main" val="320670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3E976-02C4-4266-6393-601EEA9A0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82BF6-C917-D8F2-BBD8-7E3303A91ECE}"/>
              </a:ext>
            </a:extLst>
          </p:cNvPr>
          <p:cNvSpPr>
            <a:spLocks noGrp="1"/>
          </p:cNvSpPr>
          <p:nvPr>
            <p:ph type="title"/>
          </p:nvPr>
        </p:nvSpPr>
        <p:spPr>
          <a:xfrm>
            <a:off x="46390" y="337550"/>
            <a:ext cx="11715750" cy="1325563"/>
          </a:xfrm>
        </p:spPr>
        <p:txBody>
          <a:bodyPr>
            <a:normAutofit/>
          </a:bodyPr>
          <a:lstStyle/>
          <a:p>
            <a:r>
              <a:rPr lang="en-AU" sz="4000" dirty="0">
                <a:latin typeface="Merriweather" panose="00000500000000000000" pitchFamily="2" charset="0"/>
              </a:rPr>
              <a:t>Early Maturation of Learning and Memory: </a:t>
            </a:r>
            <a:br>
              <a:rPr lang="en-AU" sz="4000" dirty="0">
                <a:latin typeface="Merriweather" panose="00000500000000000000" pitchFamily="2" charset="0"/>
              </a:rPr>
            </a:br>
            <a:r>
              <a:rPr lang="en-AU" sz="4000" dirty="0">
                <a:latin typeface="Merriweather" panose="00000500000000000000" pitchFamily="2" charset="0"/>
              </a:rPr>
              <a:t>A Predictive Tool? </a:t>
            </a:r>
          </a:p>
        </p:txBody>
      </p:sp>
      <p:pic>
        <p:nvPicPr>
          <p:cNvPr id="6" name="Picture 5">
            <a:extLst>
              <a:ext uri="{FF2B5EF4-FFF2-40B4-BE49-F238E27FC236}">
                <a16:creationId xmlns:a16="http://schemas.microsoft.com/office/drawing/2014/main" id="{623CE0DA-8719-0BF8-51F2-D0CA16C295FA}"/>
              </a:ext>
            </a:extLst>
          </p:cNvPr>
          <p:cNvPicPr>
            <a:picLocks noChangeAspect="1"/>
          </p:cNvPicPr>
          <p:nvPr/>
        </p:nvPicPr>
        <p:blipFill>
          <a:blip r:embed="rId2"/>
          <a:stretch>
            <a:fillRect/>
          </a:stretch>
        </p:blipFill>
        <p:spPr>
          <a:xfrm>
            <a:off x="46390" y="1663113"/>
            <a:ext cx="7532970" cy="2583767"/>
          </a:xfrm>
          <a:prstGeom prst="rect">
            <a:avLst/>
          </a:prstGeom>
        </p:spPr>
      </p:pic>
      <p:sp>
        <p:nvSpPr>
          <p:cNvPr id="4" name="TextBox 3">
            <a:extLst>
              <a:ext uri="{FF2B5EF4-FFF2-40B4-BE49-F238E27FC236}">
                <a16:creationId xmlns:a16="http://schemas.microsoft.com/office/drawing/2014/main" id="{878AA156-96AB-8348-FC8A-AEBC8D8F7576}"/>
              </a:ext>
            </a:extLst>
          </p:cNvPr>
          <p:cNvSpPr txBox="1"/>
          <p:nvPr/>
        </p:nvSpPr>
        <p:spPr>
          <a:xfrm>
            <a:off x="46389" y="4246879"/>
            <a:ext cx="7532969" cy="1631216"/>
          </a:xfrm>
          <a:prstGeom prst="rect">
            <a:avLst/>
          </a:prstGeom>
          <a:noFill/>
        </p:spPr>
        <p:txBody>
          <a:bodyPr wrap="square" rtlCol="0">
            <a:spAutoFit/>
          </a:bodyPr>
          <a:lstStyle/>
          <a:p>
            <a:pPr marL="342900" indent="-342900">
              <a:buFont typeface="Arial" panose="020B0604020202020204" pitchFamily="34" charset="0"/>
              <a:buChar char="•"/>
            </a:pPr>
            <a:r>
              <a:rPr lang="en-AU" sz="2000" dirty="0">
                <a:latin typeface="Merriweather" panose="00000500000000000000" pitchFamily="2" charset="0"/>
              </a:rPr>
              <a:t>One measure taken at 3yo: fear conditioning</a:t>
            </a:r>
          </a:p>
          <a:p>
            <a:pPr marL="342900" indent="-342900">
              <a:buFont typeface="Arial" panose="020B0604020202020204" pitchFamily="34" charset="0"/>
              <a:buChar char="•"/>
            </a:pPr>
            <a:r>
              <a:rPr lang="en-AU" sz="2000" dirty="0">
                <a:latin typeface="Merriweather" panose="00000500000000000000" pitchFamily="2" charset="0"/>
              </a:rPr>
              <a:t>Conditioned Stimulus (CS+): Tone that co-terminated with an aversive sound</a:t>
            </a:r>
          </a:p>
          <a:p>
            <a:pPr marL="342900" indent="-342900">
              <a:buFont typeface="Arial" panose="020B0604020202020204" pitchFamily="34" charset="0"/>
              <a:buChar char="•"/>
            </a:pPr>
            <a:r>
              <a:rPr lang="en-AU" sz="2000" dirty="0">
                <a:latin typeface="Merriweather" panose="00000500000000000000" pitchFamily="2" charset="0"/>
              </a:rPr>
              <a:t>(CS-): Different tone that was not paired with the aversive sound</a:t>
            </a:r>
          </a:p>
        </p:txBody>
      </p:sp>
    </p:spTree>
    <p:extLst>
      <p:ext uri="{BB962C8B-B14F-4D97-AF65-F5344CB8AC3E}">
        <p14:creationId xmlns:p14="http://schemas.microsoft.com/office/powerpoint/2010/main" val="2485578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DA19D-2736-C20E-B99A-0EAB1F5AD38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00D73D1-466A-AF44-00CA-949F37C59813}"/>
              </a:ext>
            </a:extLst>
          </p:cNvPr>
          <p:cNvPicPr>
            <a:picLocks noChangeAspect="1"/>
          </p:cNvPicPr>
          <p:nvPr/>
        </p:nvPicPr>
        <p:blipFill>
          <a:blip r:embed="rId2"/>
          <a:stretch>
            <a:fillRect/>
          </a:stretch>
        </p:blipFill>
        <p:spPr>
          <a:xfrm>
            <a:off x="129225" y="1663113"/>
            <a:ext cx="5248031" cy="3936023"/>
          </a:xfrm>
          <a:prstGeom prst="rect">
            <a:avLst/>
          </a:prstGeom>
        </p:spPr>
      </p:pic>
      <p:sp>
        <p:nvSpPr>
          <p:cNvPr id="6" name="Title 1">
            <a:extLst>
              <a:ext uri="{FF2B5EF4-FFF2-40B4-BE49-F238E27FC236}">
                <a16:creationId xmlns:a16="http://schemas.microsoft.com/office/drawing/2014/main" id="{620B310A-29E7-88A5-1EA2-BFFDBBC8F7A9}"/>
              </a:ext>
            </a:extLst>
          </p:cNvPr>
          <p:cNvSpPr>
            <a:spLocks noGrp="1"/>
          </p:cNvSpPr>
          <p:nvPr>
            <p:ph type="title"/>
          </p:nvPr>
        </p:nvSpPr>
        <p:spPr>
          <a:xfrm>
            <a:off x="46390" y="337550"/>
            <a:ext cx="11715750" cy="1325563"/>
          </a:xfrm>
        </p:spPr>
        <p:txBody>
          <a:bodyPr>
            <a:normAutofit/>
          </a:bodyPr>
          <a:lstStyle/>
          <a:p>
            <a:r>
              <a:rPr lang="en-AU" sz="4000" dirty="0">
                <a:latin typeface="Merriweather" panose="00000500000000000000" pitchFamily="2" charset="0"/>
              </a:rPr>
              <a:t>Early Maturation of Learning and Memory: </a:t>
            </a:r>
            <a:br>
              <a:rPr lang="en-AU" sz="4000" dirty="0">
                <a:latin typeface="Merriweather" panose="00000500000000000000" pitchFamily="2" charset="0"/>
              </a:rPr>
            </a:br>
            <a:r>
              <a:rPr lang="en-AU" sz="4000" dirty="0">
                <a:latin typeface="Merriweather" panose="00000500000000000000" pitchFamily="2" charset="0"/>
              </a:rPr>
              <a:t>A Predictive Tool? </a:t>
            </a:r>
          </a:p>
        </p:txBody>
      </p:sp>
      <p:sp>
        <p:nvSpPr>
          <p:cNvPr id="8" name="TextBox 7">
            <a:extLst>
              <a:ext uri="{FF2B5EF4-FFF2-40B4-BE49-F238E27FC236}">
                <a16:creationId xmlns:a16="http://schemas.microsoft.com/office/drawing/2014/main" id="{136CC7DD-E7C6-C2E2-065D-FE08DF2489D0}"/>
              </a:ext>
            </a:extLst>
          </p:cNvPr>
          <p:cNvSpPr txBox="1"/>
          <p:nvPr/>
        </p:nvSpPr>
        <p:spPr>
          <a:xfrm>
            <a:off x="5603630" y="1110059"/>
            <a:ext cx="6158510" cy="2492990"/>
          </a:xfrm>
          <a:prstGeom prst="rect">
            <a:avLst/>
          </a:prstGeom>
          <a:noFill/>
        </p:spPr>
        <p:txBody>
          <a:bodyPr wrap="square" rtlCol="0">
            <a:spAutoFit/>
          </a:bodyPr>
          <a:lstStyle/>
          <a:p>
            <a:r>
              <a:rPr lang="en-AU" sz="2000" dirty="0">
                <a:latin typeface="Merriweather" panose="00000500000000000000" pitchFamily="2" charset="0"/>
              </a:rPr>
              <a:t>Controls showed successful fear conditioning. Small effect attributed to maternal buffering</a:t>
            </a:r>
          </a:p>
          <a:p>
            <a:endParaRPr lang="en-AU" sz="800" dirty="0">
              <a:latin typeface="Merriweather" panose="00000500000000000000" pitchFamily="2" charset="0"/>
            </a:endParaRPr>
          </a:p>
          <a:p>
            <a:r>
              <a:rPr lang="en-AU" sz="2000" dirty="0">
                <a:latin typeface="Merriweather" panose="00000500000000000000" pitchFamily="2" charset="0"/>
              </a:rPr>
              <a:t>Unsuccessful criminals (i.e., those who were caught), showed reduced fear conditioning relative to non-criminal controls</a:t>
            </a:r>
          </a:p>
          <a:p>
            <a:endParaRPr lang="en-AU" sz="800" dirty="0">
              <a:latin typeface="Merriweather" panose="00000500000000000000" pitchFamily="2" charset="0"/>
            </a:endParaRPr>
          </a:p>
          <a:p>
            <a:r>
              <a:rPr lang="en-AU" sz="2000" dirty="0">
                <a:latin typeface="Merriweather" panose="00000500000000000000" pitchFamily="2" charset="0"/>
              </a:rPr>
              <a:t>Successful (not caught) criminals showed enhanced fear conditioning</a:t>
            </a:r>
          </a:p>
        </p:txBody>
      </p:sp>
      <p:sp>
        <p:nvSpPr>
          <p:cNvPr id="2" name="TextBox 10">
            <a:extLst>
              <a:ext uri="{FF2B5EF4-FFF2-40B4-BE49-F238E27FC236}">
                <a16:creationId xmlns:a16="http://schemas.microsoft.com/office/drawing/2014/main" id="{22C6EFFF-70D0-339F-0DD3-5E6EFD3ECD71}"/>
              </a:ext>
            </a:extLst>
          </p:cNvPr>
          <p:cNvSpPr txBox="1"/>
          <p:nvPr/>
        </p:nvSpPr>
        <p:spPr>
          <a:xfrm>
            <a:off x="632419" y="5761567"/>
            <a:ext cx="4536314"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2400" dirty="0">
                <a:latin typeface="Tw Cen MT Condensed" panose="020B0606020104020203" pitchFamily="34" charset="0"/>
                <a:cs typeface="Arial" panose="020B0604020202020204" pitchFamily="34" charset="0"/>
              </a:rPr>
              <a:t>Raine et al., 2026</a:t>
            </a:r>
            <a:endParaRPr lang="en-AU" sz="2400" dirty="0">
              <a:latin typeface="Tw Cen MT Condensed" panose="020B0606020104020203" pitchFamily="34" charset="0"/>
              <a:cs typeface="Arial" panose="020B0604020202020204" pitchFamily="34" charset="0"/>
            </a:endParaRPr>
          </a:p>
        </p:txBody>
      </p:sp>
    </p:spTree>
    <p:extLst>
      <p:ext uri="{BB962C8B-B14F-4D97-AF65-F5344CB8AC3E}">
        <p14:creationId xmlns:p14="http://schemas.microsoft.com/office/powerpoint/2010/main" val="3297349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1A54A-59F5-BD12-C509-798BCE51A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A4C5A-6183-5F91-8D56-DC7438E40556}"/>
              </a:ext>
            </a:extLst>
          </p:cNvPr>
          <p:cNvSpPr>
            <a:spLocks noGrp="1"/>
          </p:cNvSpPr>
          <p:nvPr>
            <p:ph type="title"/>
          </p:nvPr>
        </p:nvSpPr>
        <p:spPr>
          <a:xfrm>
            <a:off x="46390" y="337550"/>
            <a:ext cx="11715750" cy="1325563"/>
          </a:xfrm>
        </p:spPr>
        <p:txBody>
          <a:bodyPr>
            <a:normAutofit/>
          </a:bodyPr>
          <a:lstStyle/>
          <a:p>
            <a:r>
              <a:rPr lang="en-AU" sz="4000" dirty="0">
                <a:latin typeface="Merriweather" panose="00000500000000000000" pitchFamily="2" charset="0"/>
              </a:rPr>
              <a:t>Conclusion</a:t>
            </a:r>
          </a:p>
        </p:txBody>
      </p:sp>
      <p:sp>
        <p:nvSpPr>
          <p:cNvPr id="7" name="Content Placeholder 2">
            <a:extLst>
              <a:ext uri="{FF2B5EF4-FFF2-40B4-BE49-F238E27FC236}">
                <a16:creationId xmlns:a16="http://schemas.microsoft.com/office/drawing/2014/main" id="{4D89AA4E-C490-1732-D1B7-4F91F3805308}"/>
              </a:ext>
            </a:extLst>
          </p:cNvPr>
          <p:cNvSpPr txBox="1">
            <a:spLocks/>
          </p:cNvSpPr>
          <p:nvPr/>
        </p:nvSpPr>
        <p:spPr>
          <a:xfrm>
            <a:off x="46390" y="1453596"/>
            <a:ext cx="6601522" cy="450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dirty="0">
                <a:latin typeface="Merriweather" panose="00000500000000000000" pitchFamily="2" charset="0"/>
              </a:rPr>
              <a:t>Nature and Nurture are both important!</a:t>
            </a:r>
          </a:p>
          <a:p>
            <a:r>
              <a:rPr lang="en-AU" sz="2400" dirty="0">
                <a:latin typeface="Merriweather" panose="00000500000000000000" pitchFamily="2" charset="0"/>
              </a:rPr>
              <a:t>Exposure to early life stress has lasting impacts on development</a:t>
            </a:r>
          </a:p>
          <a:p>
            <a:r>
              <a:rPr lang="en-AU" sz="2400" dirty="0">
                <a:latin typeface="Merriweather" panose="00000500000000000000" pitchFamily="2" charset="0"/>
              </a:rPr>
              <a:t>It is difficult to study the impact of isolated variables on human development</a:t>
            </a:r>
          </a:p>
          <a:p>
            <a:r>
              <a:rPr lang="en-AU" sz="2400" dirty="0">
                <a:latin typeface="Merriweather" panose="00000500000000000000" pitchFamily="2" charset="0"/>
              </a:rPr>
              <a:t>Combining data and methods from multiple studies may give us a more complete picture</a:t>
            </a:r>
          </a:p>
          <a:p>
            <a:r>
              <a:rPr lang="en-AU" sz="2400" dirty="0">
                <a:latin typeface="Merriweather" panose="00000500000000000000" pitchFamily="2" charset="0"/>
              </a:rPr>
              <a:t>Beware of oversimplified headlines!</a:t>
            </a:r>
          </a:p>
          <a:p>
            <a:endParaRPr lang="en-AU" sz="1800" dirty="0">
              <a:latin typeface="Merriweather" panose="00000500000000000000" pitchFamily="2" charset="0"/>
            </a:endParaRPr>
          </a:p>
        </p:txBody>
      </p:sp>
    </p:spTree>
    <p:extLst>
      <p:ext uri="{BB962C8B-B14F-4D97-AF65-F5344CB8AC3E}">
        <p14:creationId xmlns:p14="http://schemas.microsoft.com/office/powerpoint/2010/main" val="1264556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426</TotalTime>
  <Words>823</Words>
  <Application>Microsoft Macintosh PowerPoint</Application>
  <PresentationFormat>Widescreen</PresentationFormat>
  <Paragraphs>91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Merriweather</vt:lpstr>
      <vt:lpstr>Tw Cen MT Condensed</vt:lpstr>
      <vt:lpstr>Office Theme</vt:lpstr>
      <vt:lpstr>Lecture 3:  The Good Enough Dam</vt:lpstr>
      <vt:lpstr>PowerPoint Presentation</vt:lpstr>
      <vt:lpstr>PowerPoint Presentation</vt:lpstr>
      <vt:lpstr>PowerPoint Presentation</vt:lpstr>
      <vt:lpstr>PowerPoint Presentation</vt:lpstr>
      <vt:lpstr>Animal Models of Early Life Stress (ELS)</vt:lpstr>
      <vt:lpstr>Impacts of Maternal Separation  (and maternal stress)</vt:lpstr>
      <vt:lpstr>PowerPoint Presentation</vt:lpstr>
      <vt:lpstr>Maternal Separation and Infantile Amnesia</vt:lpstr>
      <vt:lpstr>Maternal Separation and Infantile Amnesia</vt:lpstr>
      <vt:lpstr>Maternal Separation and Infantile Amnesia</vt:lpstr>
      <vt:lpstr>Maternal Separation and Infantile Amnesia</vt:lpstr>
      <vt:lpstr>Additional impacts of ELS</vt:lpstr>
      <vt:lpstr>PowerPoint Presentation</vt:lpstr>
      <vt:lpstr>PowerPoint Presentation</vt:lpstr>
      <vt:lpstr>PowerPoint Presentation</vt:lpstr>
      <vt:lpstr>Mauritius Child Health Study</vt:lpstr>
      <vt:lpstr>Early Maturation of Learning and Memory:  A Predictive Tool? </vt:lpstr>
      <vt:lpstr>Early Maturation of Learning and Memory:  A Predictive Tool?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9</cp:revision>
  <dcterms:created xsi:type="dcterms:W3CDTF">2026-08-18T12:20:05Z</dcterms:created>
  <dcterms:modified xsi:type="dcterms:W3CDTF">2026-08-18T21:50:06Z</dcterms:modified>
</cp:coreProperties>
</file>