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69" r:id="rId3"/>
    <p:sldId id="260" r:id="rId4"/>
    <p:sldId id="280" r:id="rId5"/>
    <p:sldId id="304" r:id="rId6"/>
    <p:sldId id="305" r:id="rId7"/>
    <p:sldId id="308" r:id="rId8"/>
    <p:sldId id="309" r:id="rId9"/>
    <p:sldId id="284" r:id="rId10"/>
    <p:sldId id="277" r:id="rId11"/>
    <p:sldId id="285" r:id="rId12"/>
    <p:sldId id="272" r:id="rId13"/>
    <p:sldId id="314" r:id="rId14"/>
    <p:sldId id="271" r:id="rId15"/>
    <p:sldId id="288" r:id="rId16"/>
    <p:sldId id="319" r:id="rId17"/>
    <p:sldId id="323" r:id="rId18"/>
    <p:sldId id="32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6"/>
  </p:normalViewPr>
  <p:slideViewPr>
    <p:cSldViewPr snapToGrid="0">
      <p:cViewPr varScale="1">
        <p:scale>
          <a:sx n="114" d="100"/>
          <a:sy n="114" d="100"/>
        </p:scale>
        <p:origin x="4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FB062-0EF6-B4CD-4920-749C5B8DD69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91DBBF5-16EC-5D42-8B73-236BAA16A4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5E188C43-2923-46E9-45FC-A32BA5FA5EFF}"/>
              </a:ext>
            </a:extLst>
          </p:cNvPr>
          <p:cNvSpPr>
            <a:spLocks noGrp="1"/>
          </p:cNvSpPr>
          <p:nvPr>
            <p:ph type="dt" sz="half" idx="10"/>
          </p:nvPr>
        </p:nvSpPr>
        <p:spPr/>
        <p:txBody>
          <a:bodyPr/>
          <a:lstStyle/>
          <a:p>
            <a:fld id="{D0698334-6408-0E4E-8933-6428AE768C2A}" type="datetimeFigureOut">
              <a:rPr lang="en-AU" smtClean="0"/>
              <a:t>17/8/2026</a:t>
            </a:fld>
            <a:endParaRPr lang="en-AU"/>
          </a:p>
        </p:txBody>
      </p:sp>
      <p:sp>
        <p:nvSpPr>
          <p:cNvPr id="5" name="Footer Placeholder 4">
            <a:extLst>
              <a:ext uri="{FF2B5EF4-FFF2-40B4-BE49-F238E27FC236}">
                <a16:creationId xmlns:a16="http://schemas.microsoft.com/office/drawing/2014/main" id="{6FA55A28-141D-69C4-DE20-9812221F0C8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529D084-15F6-5D82-E937-7B3AAFA8DE3E}"/>
              </a:ext>
            </a:extLst>
          </p:cNvPr>
          <p:cNvSpPr>
            <a:spLocks noGrp="1"/>
          </p:cNvSpPr>
          <p:nvPr>
            <p:ph type="sldNum" sz="quarter" idx="12"/>
          </p:nvPr>
        </p:nvSpPr>
        <p:spPr/>
        <p:txBody>
          <a:bodyPr/>
          <a:lstStyle/>
          <a:p>
            <a:fld id="{B0004BCE-4059-F648-A52F-C47716088C50}" type="slidenum">
              <a:rPr lang="en-AU" smtClean="0"/>
              <a:t>‹#›</a:t>
            </a:fld>
            <a:endParaRPr lang="en-AU"/>
          </a:p>
        </p:txBody>
      </p:sp>
    </p:spTree>
    <p:extLst>
      <p:ext uri="{BB962C8B-B14F-4D97-AF65-F5344CB8AC3E}">
        <p14:creationId xmlns:p14="http://schemas.microsoft.com/office/powerpoint/2010/main" val="3266726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17492-56A6-7605-F502-8DA114A440CC}"/>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2697E60B-4831-2CE2-6B48-E7A4597A64D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386F7F46-155D-4D53-9671-1BE24C74DF8C}"/>
              </a:ext>
            </a:extLst>
          </p:cNvPr>
          <p:cNvSpPr>
            <a:spLocks noGrp="1"/>
          </p:cNvSpPr>
          <p:nvPr>
            <p:ph type="dt" sz="half" idx="10"/>
          </p:nvPr>
        </p:nvSpPr>
        <p:spPr/>
        <p:txBody>
          <a:bodyPr/>
          <a:lstStyle/>
          <a:p>
            <a:fld id="{D0698334-6408-0E4E-8933-6428AE768C2A}" type="datetimeFigureOut">
              <a:rPr lang="en-AU" smtClean="0"/>
              <a:t>17/8/2026</a:t>
            </a:fld>
            <a:endParaRPr lang="en-AU"/>
          </a:p>
        </p:txBody>
      </p:sp>
      <p:sp>
        <p:nvSpPr>
          <p:cNvPr id="5" name="Footer Placeholder 4">
            <a:extLst>
              <a:ext uri="{FF2B5EF4-FFF2-40B4-BE49-F238E27FC236}">
                <a16:creationId xmlns:a16="http://schemas.microsoft.com/office/drawing/2014/main" id="{83568D17-DB4D-875F-6804-3643359A689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99BF394-9B69-5321-6393-3DCC7AC64A68}"/>
              </a:ext>
            </a:extLst>
          </p:cNvPr>
          <p:cNvSpPr>
            <a:spLocks noGrp="1"/>
          </p:cNvSpPr>
          <p:nvPr>
            <p:ph type="sldNum" sz="quarter" idx="12"/>
          </p:nvPr>
        </p:nvSpPr>
        <p:spPr/>
        <p:txBody>
          <a:bodyPr/>
          <a:lstStyle/>
          <a:p>
            <a:fld id="{B0004BCE-4059-F648-A52F-C47716088C50}" type="slidenum">
              <a:rPr lang="en-AU" smtClean="0"/>
              <a:t>‹#›</a:t>
            </a:fld>
            <a:endParaRPr lang="en-AU"/>
          </a:p>
        </p:txBody>
      </p:sp>
    </p:spTree>
    <p:extLst>
      <p:ext uri="{BB962C8B-B14F-4D97-AF65-F5344CB8AC3E}">
        <p14:creationId xmlns:p14="http://schemas.microsoft.com/office/powerpoint/2010/main" val="299425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2DC0A-0A64-0F06-2B36-31E660602C5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E67B8C78-1E0F-02B2-4D2D-B25F3A94FF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C8318AA-1568-9EE0-55C8-A1F5BFB4CB70}"/>
              </a:ext>
            </a:extLst>
          </p:cNvPr>
          <p:cNvSpPr>
            <a:spLocks noGrp="1"/>
          </p:cNvSpPr>
          <p:nvPr>
            <p:ph type="dt" sz="half" idx="10"/>
          </p:nvPr>
        </p:nvSpPr>
        <p:spPr/>
        <p:txBody>
          <a:bodyPr/>
          <a:lstStyle/>
          <a:p>
            <a:fld id="{D0698334-6408-0E4E-8933-6428AE768C2A}" type="datetimeFigureOut">
              <a:rPr lang="en-AU" smtClean="0"/>
              <a:t>17/8/2026</a:t>
            </a:fld>
            <a:endParaRPr lang="en-AU"/>
          </a:p>
        </p:txBody>
      </p:sp>
      <p:sp>
        <p:nvSpPr>
          <p:cNvPr id="5" name="Footer Placeholder 4">
            <a:extLst>
              <a:ext uri="{FF2B5EF4-FFF2-40B4-BE49-F238E27FC236}">
                <a16:creationId xmlns:a16="http://schemas.microsoft.com/office/drawing/2014/main" id="{941B64A6-DE5C-0116-CDEA-D096858606B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CF6BC15-E435-41DA-F237-84539BF25E72}"/>
              </a:ext>
            </a:extLst>
          </p:cNvPr>
          <p:cNvSpPr>
            <a:spLocks noGrp="1"/>
          </p:cNvSpPr>
          <p:nvPr>
            <p:ph type="sldNum" sz="quarter" idx="12"/>
          </p:nvPr>
        </p:nvSpPr>
        <p:spPr/>
        <p:txBody>
          <a:bodyPr/>
          <a:lstStyle/>
          <a:p>
            <a:fld id="{B0004BCE-4059-F648-A52F-C47716088C50}" type="slidenum">
              <a:rPr lang="en-AU" smtClean="0"/>
              <a:t>‹#›</a:t>
            </a:fld>
            <a:endParaRPr lang="en-AU"/>
          </a:p>
        </p:txBody>
      </p:sp>
    </p:spTree>
    <p:extLst>
      <p:ext uri="{BB962C8B-B14F-4D97-AF65-F5344CB8AC3E}">
        <p14:creationId xmlns:p14="http://schemas.microsoft.com/office/powerpoint/2010/main" val="4034295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9968D-4AE6-37EB-6A93-B70C7EBB82F8}"/>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E942A8B4-AED6-0083-564F-A32581283FA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22F3C055-4636-06AC-ED1E-9757C10627F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0C3069EF-D6D8-2256-C278-59132576D226}"/>
              </a:ext>
            </a:extLst>
          </p:cNvPr>
          <p:cNvSpPr>
            <a:spLocks noGrp="1"/>
          </p:cNvSpPr>
          <p:nvPr>
            <p:ph type="dt" sz="half" idx="10"/>
          </p:nvPr>
        </p:nvSpPr>
        <p:spPr/>
        <p:txBody>
          <a:bodyPr/>
          <a:lstStyle/>
          <a:p>
            <a:fld id="{D0698334-6408-0E4E-8933-6428AE768C2A}" type="datetimeFigureOut">
              <a:rPr lang="en-AU" smtClean="0"/>
              <a:t>17/8/2026</a:t>
            </a:fld>
            <a:endParaRPr lang="en-AU"/>
          </a:p>
        </p:txBody>
      </p:sp>
      <p:sp>
        <p:nvSpPr>
          <p:cNvPr id="6" name="Footer Placeholder 5">
            <a:extLst>
              <a:ext uri="{FF2B5EF4-FFF2-40B4-BE49-F238E27FC236}">
                <a16:creationId xmlns:a16="http://schemas.microsoft.com/office/drawing/2014/main" id="{343BC68B-6465-7E53-E443-0DA2ECEF56B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F4B2F52-ACB1-3956-455B-AEB40D3B775C}"/>
              </a:ext>
            </a:extLst>
          </p:cNvPr>
          <p:cNvSpPr>
            <a:spLocks noGrp="1"/>
          </p:cNvSpPr>
          <p:nvPr>
            <p:ph type="sldNum" sz="quarter" idx="12"/>
          </p:nvPr>
        </p:nvSpPr>
        <p:spPr/>
        <p:txBody>
          <a:bodyPr/>
          <a:lstStyle/>
          <a:p>
            <a:fld id="{B0004BCE-4059-F648-A52F-C47716088C50}" type="slidenum">
              <a:rPr lang="en-AU" smtClean="0"/>
              <a:t>‹#›</a:t>
            </a:fld>
            <a:endParaRPr lang="en-AU"/>
          </a:p>
        </p:txBody>
      </p:sp>
    </p:spTree>
    <p:extLst>
      <p:ext uri="{BB962C8B-B14F-4D97-AF65-F5344CB8AC3E}">
        <p14:creationId xmlns:p14="http://schemas.microsoft.com/office/powerpoint/2010/main" val="1795244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2038F-83F9-C75B-2708-058B1DFFE743}"/>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5F181776-429F-3370-3AE6-C2B24A8F89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86D1A8-FDE5-6539-9450-235F4F5F108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95482594-F8E8-38E1-0C78-7160B51D11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0972E15-AFFC-B2E7-3F14-B8C5DE7B5AE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C8DE6DA6-BC80-8F5F-002C-334965CCC0F8}"/>
              </a:ext>
            </a:extLst>
          </p:cNvPr>
          <p:cNvSpPr>
            <a:spLocks noGrp="1"/>
          </p:cNvSpPr>
          <p:nvPr>
            <p:ph type="dt" sz="half" idx="10"/>
          </p:nvPr>
        </p:nvSpPr>
        <p:spPr/>
        <p:txBody>
          <a:bodyPr/>
          <a:lstStyle/>
          <a:p>
            <a:fld id="{D0698334-6408-0E4E-8933-6428AE768C2A}" type="datetimeFigureOut">
              <a:rPr lang="en-AU" smtClean="0"/>
              <a:t>17/8/2026</a:t>
            </a:fld>
            <a:endParaRPr lang="en-AU"/>
          </a:p>
        </p:txBody>
      </p:sp>
      <p:sp>
        <p:nvSpPr>
          <p:cNvPr id="8" name="Footer Placeholder 7">
            <a:extLst>
              <a:ext uri="{FF2B5EF4-FFF2-40B4-BE49-F238E27FC236}">
                <a16:creationId xmlns:a16="http://schemas.microsoft.com/office/drawing/2014/main" id="{471706EF-9632-EEC6-CA57-F25B577CDE7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AF7CDBA2-2AF1-DFD4-F10F-CCFDB2A19576}"/>
              </a:ext>
            </a:extLst>
          </p:cNvPr>
          <p:cNvSpPr>
            <a:spLocks noGrp="1"/>
          </p:cNvSpPr>
          <p:nvPr>
            <p:ph type="sldNum" sz="quarter" idx="12"/>
          </p:nvPr>
        </p:nvSpPr>
        <p:spPr/>
        <p:txBody>
          <a:bodyPr/>
          <a:lstStyle/>
          <a:p>
            <a:fld id="{B0004BCE-4059-F648-A52F-C47716088C50}" type="slidenum">
              <a:rPr lang="en-AU" smtClean="0"/>
              <a:t>‹#›</a:t>
            </a:fld>
            <a:endParaRPr lang="en-AU"/>
          </a:p>
        </p:txBody>
      </p:sp>
    </p:spTree>
    <p:extLst>
      <p:ext uri="{BB962C8B-B14F-4D97-AF65-F5344CB8AC3E}">
        <p14:creationId xmlns:p14="http://schemas.microsoft.com/office/powerpoint/2010/main" val="2185321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C0FD0-8B6D-FBFB-5A75-8DBEDB648B27}"/>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D74CE893-2C9E-9F2E-40F6-79CB826DDA62}"/>
              </a:ext>
            </a:extLst>
          </p:cNvPr>
          <p:cNvSpPr>
            <a:spLocks noGrp="1"/>
          </p:cNvSpPr>
          <p:nvPr>
            <p:ph type="dt" sz="half" idx="10"/>
          </p:nvPr>
        </p:nvSpPr>
        <p:spPr/>
        <p:txBody>
          <a:bodyPr/>
          <a:lstStyle/>
          <a:p>
            <a:fld id="{D0698334-6408-0E4E-8933-6428AE768C2A}" type="datetimeFigureOut">
              <a:rPr lang="en-AU" smtClean="0"/>
              <a:t>17/8/2026</a:t>
            </a:fld>
            <a:endParaRPr lang="en-AU"/>
          </a:p>
        </p:txBody>
      </p:sp>
      <p:sp>
        <p:nvSpPr>
          <p:cNvPr id="4" name="Footer Placeholder 3">
            <a:extLst>
              <a:ext uri="{FF2B5EF4-FFF2-40B4-BE49-F238E27FC236}">
                <a16:creationId xmlns:a16="http://schemas.microsoft.com/office/drawing/2014/main" id="{1F5205D0-B139-7327-602F-22D625210F05}"/>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B4374085-79EF-7B5B-93EF-6BBAC9A150AF}"/>
              </a:ext>
            </a:extLst>
          </p:cNvPr>
          <p:cNvSpPr>
            <a:spLocks noGrp="1"/>
          </p:cNvSpPr>
          <p:nvPr>
            <p:ph type="sldNum" sz="quarter" idx="12"/>
          </p:nvPr>
        </p:nvSpPr>
        <p:spPr/>
        <p:txBody>
          <a:bodyPr/>
          <a:lstStyle/>
          <a:p>
            <a:fld id="{B0004BCE-4059-F648-A52F-C47716088C50}" type="slidenum">
              <a:rPr lang="en-AU" smtClean="0"/>
              <a:t>‹#›</a:t>
            </a:fld>
            <a:endParaRPr lang="en-AU"/>
          </a:p>
        </p:txBody>
      </p:sp>
    </p:spTree>
    <p:extLst>
      <p:ext uri="{BB962C8B-B14F-4D97-AF65-F5344CB8AC3E}">
        <p14:creationId xmlns:p14="http://schemas.microsoft.com/office/powerpoint/2010/main" val="1120059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C29570-0532-EDE0-4C3D-5C4711E49097}"/>
              </a:ext>
            </a:extLst>
          </p:cNvPr>
          <p:cNvSpPr>
            <a:spLocks noGrp="1"/>
          </p:cNvSpPr>
          <p:nvPr>
            <p:ph type="dt" sz="half" idx="10"/>
          </p:nvPr>
        </p:nvSpPr>
        <p:spPr/>
        <p:txBody>
          <a:bodyPr/>
          <a:lstStyle/>
          <a:p>
            <a:fld id="{D0698334-6408-0E4E-8933-6428AE768C2A}" type="datetimeFigureOut">
              <a:rPr lang="en-AU" smtClean="0"/>
              <a:t>17/8/2026</a:t>
            </a:fld>
            <a:endParaRPr lang="en-AU"/>
          </a:p>
        </p:txBody>
      </p:sp>
      <p:sp>
        <p:nvSpPr>
          <p:cNvPr id="3" name="Footer Placeholder 2">
            <a:extLst>
              <a:ext uri="{FF2B5EF4-FFF2-40B4-BE49-F238E27FC236}">
                <a16:creationId xmlns:a16="http://schemas.microsoft.com/office/drawing/2014/main" id="{E175E06E-2F57-AFE4-FD8B-7B951C709CBB}"/>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7FB331D0-EAD0-0961-273D-0B39A5231D85}"/>
              </a:ext>
            </a:extLst>
          </p:cNvPr>
          <p:cNvSpPr>
            <a:spLocks noGrp="1"/>
          </p:cNvSpPr>
          <p:nvPr>
            <p:ph type="sldNum" sz="quarter" idx="12"/>
          </p:nvPr>
        </p:nvSpPr>
        <p:spPr/>
        <p:txBody>
          <a:bodyPr/>
          <a:lstStyle/>
          <a:p>
            <a:fld id="{B0004BCE-4059-F648-A52F-C47716088C50}" type="slidenum">
              <a:rPr lang="en-AU" smtClean="0"/>
              <a:t>‹#›</a:t>
            </a:fld>
            <a:endParaRPr lang="en-AU"/>
          </a:p>
        </p:txBody>
      </p:sp>
    </p:spTree>
    <p:extLst>
      <p:ext uri="{BB962C8B-B14F-4D97-AF65-F5344CB8AC3E}">
        <p14:creationId xmlns:p14="http://schemas.microsoft.com/office/powerpoint/2010/main" val="1013123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A56A4-360A-901B-DE97-93B2264E59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1F4F33C2-4F4D-62C9-30F4-F0BA76340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71C4614F-A6AE-97A3-4626-28D7E0B667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C8C749E-678E-FEB3-3868-91541B62E0FD}"/>
              </a:ext>
            </a:extLst>
          </p:cNvPr>
          <p:cNvSpPr>
            <a:spLocks noGrp="1"/>
          </p:cNvSpPr>
          <p:nvPr>
            <p:ph type="dt" sz="half" idx="10"/>
          </p:nvPr>
        </p:nvSpPr>
        <p:spPr/>
        <p:txBody>
          <a:bodyPr/>
          <a:lstStyle/>
          <a:p>
            <a:fld id="{D0698334-6408-0E4E-8933-6428AE768C2A}" type="datetimeFigureOut">
              <a:rPr lang="en-AU" smtClean="0"/>
              <a:t>17/8/2026</a:t>
            </a:fld>
            <a:endParaRPr lang="en-AU"/>
          </a:p>
        </p:txBody>
      </p:sp>
      <p:sp>
        <p:nvSpPr>
          <p:cNvPr id="6" name="Footer Placeholder 5">
            <a:extLst>
              <a:ext uri="{FF2B5EF4-FFF2-40B4-BE49-F238E27FC236}">
                <a16:creationId xmlns:a16="http://schemas.microsoft.com/office/drawing/2014/main" id="{65F0A2C4-322A-D8EA-D148-A9AA69B88D0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90BA192-A3E8-9175-6D65-BC1683AA0D46}"/>
              </a:ext>
            </a:extLst>
          </p:cNvPr>
          <p:cNvSpPr>
            <a:spLocks noGrp="1"/>
          </p:cNvSpPr>
          <p:nvPr>
            <p:ph type="sldNum" sz="quarter" idx="12"/>
          </p:nvPr>
        </p:nvSpPr>
        <p:spPr/>
        <p:txBody>
          <a:bodyPr/>
          <a:lstStyle/>
          <a:p>
            <a:fld id="{B0004BCE-4059-F648-A52F-C47716088C50}" type="slidenum">
              <a:rPr lang="en-AU" smtClean="0"/>
              <a:t>‹#›</a:t>
            </a:fld>
            <a:endParaRPr lang="en-AU"/>
          </a:p>
        </p:txBody>
      </p:sp>
    </p:spTree>
    <p:extLst>
      <p:ext uri="{BB962C8B-B14F-4D97-AF65-F5344CB8AC3E}">
        <p14:creationId xmlns:p14="http://schemas.microsoft.com/office/powerpoint/2010/main" val="785174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69341-0EDE-9C5D-9100-E01C1AD8FE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20BC7C14-2A93-38FE-9B21-67A3E0142E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883483AE-773F-D311-5EDF-5E6209CB62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0D15376-7B18-1266-1AC5-376EB217EA8B}"/>
              </a:ext>
            </a:extLst>
          </p:cNvPr>
          <p:cNvSpPr>
            <a:spLocks noGrp="1"/>
          </p:cNvSpPr>
          <p:nvPr>
            <p:ph type="dt" sz="half" idx="10"/>
          </p:nvPr>
        </p:nvSpPr>
        <p:spPr/>
        <p:txBody>
          <a:bodyPr/>
          <a:lstStyle/>
          <a:p>
            <a:fld id="{D0698334-6408-0E4E-8933-6428AE768C2A}" type="datetimeFigureOut">
              <a:rPr lang="en-AU" smtClean="0"/>
              <a:t>17/8/2026</a:t>
            </a:fld>
            <a:endParaRPr lang="en-AU"/>
          </a:p>
        </p:txBody>
      </p:sp>
      <p:sp>
        <p:nvSpPr>
          <p:cNvPr id="6" name="Footer Placeholder 5">
            <a:extLst>
              <a:ext uri="{FF2B5EF4-FFF2-40B4-BE49-F238E27FC236}">
                <a16:creationId xmlns:a16="http://schemas.microsoft.com/office/drawing/2014/main" id="{BE609290-2AFA-1116-BD0E-08D1062A7FF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1922D6F-A4A7-5229-A2BC-03FE3A9EBDD9}"/>
              </a:ext>
            </a:extLst>
          </p:cNvPr>
          <p:cNvSpPr>
            <a:spLocks noGrp="1"/>
          </p:cNvSpPr>
          <p:nvPr>
            <p:ph type="sldNum" sz="quarter" idx="12"/>
          </p:nvPr>
        </p:nvSpPr>
        <p:spPr/>
        <p:txBody>
          <a:bodyPr/>
          <a:lstStyle/>
          <a:p>
            <a:fld id="{B0004BCE-4059-F648-A52F-C47716088C50}" type="slidenum">
              <a:rPr lang="en-AU" smtClean="0"/>
              <a:t>‹#›</a:t>
            </a:fld>
            <a:endParaRPr lang="en-AU"/>
          </a:p>
        </p:txBody>
      </p:sp>
    </p:spTree>
    <p:extLst>
      <p:ext uri="{BB962C8B-B14F-4D97-AF65-F5344CB8AC3E}">
        <p14:creationId xmlns:p14="http://schemas.microsoft.com/office/powerpoint/2010/main" val="3645468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4BBE7-82A5-417F-C57D-B35403EC27B0}"/>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6ED00E58-9D3E-FBBE-0E59-CD60AEB98ED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08742783-D75A-B2A0-90AB-6DC9E0796204}"/>
              </a:ext>
            </a:extLst>
          </p:cNvPr>
          <p:cNvSpPr>
            <a:spLocks noGrp="1"/>
          </p:cNvSpPr>
          <p:nvPr>
            <p:ph type="dt" sz="half" idx="10"/>
          </p:nvPr>
        </p:nvSpPr>
        <p:spPr/>
        <p:txBody>
          <a:bodyPr/>
          <a:lstStyle/>
          <a:p>
            <a:fld id="{D0698334-6408-0E4E-8933-6428AE768C2A}" type="datetimeFigureOut">
              <a:rPr lang="en-AU" smtClean="0"/>
              <a:t>17/8/2026</a:t>
            </a:fld>
            <a:endParaRPr lang="en-AU"/>
          </a:p>
        </p:txBody>
      </p:sp>
      <p:sp>
        <p:nvSpPr>
          <p:cNvPr id="5" name="Footer Placeholder 4">
            <a:extLst>
              <a:ext uri="{FF2B5EF4-FFF2-40B4-BE49-F238E27FC236}">
                <a16:creationId xmlns:a16="http://schemas.microsoft.com/office/drawing/2014/main" id="{6C4F7110-A787-2C58-16B2-CE978C3D2BB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7ADC5F7-BD91-DCE0-9686-B137FEEEE32C}"/>
              </a:ext>
            </a:extLst>
          </p:cNvPr>
          <p:cNvSpPr>
            <a:spLocks noGrp="1"/>
          </p:cNvSpPr>
          <p:nvPr>
            <p:ph type="sldNum" sz="quarter" idx="12"/>
          </p:nvPr>
        </p:nvSpPr>
        <p:spPr/>
        <p:txBody>
          <a:bodyPr/>
          <a:lstStyle/>
          <a:p>
            <a:fld id="{B0004BCE-4059-F648-A52F-C47716088C50}" type="slidenum">
              <a:rPr lang="en-AU" smtClean="0"/>
              <a:t>‹#›</a:t>
            </a:fld>
            <a:endParaRPr lang="en-AU"/>
          </a:p>
        </p:txBody>
      </p:sp>
    </p:spTree>
    <p:extLst>
      <p:ext uri="{BB962C8B-B14F-4D97-AF65-F5344CB8AC3E}">
        <p14:creationId xmlns:p14="http://schemas.microsoft.com/office/powerpoint/2010/main" val="1065494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C23B0B-049F-0C4E-0825-EB57D2E6EE2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27AAACE8-3356-4E8E-EB31-DE3F8E9D98B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B6D4B0F0-805D-7FAF-854C-A01ADD55A0E6}"/>
              </a:ext>
            </a:extLst>
          </p:cNvPr>
          <p:cNvSpPr>
            <a:spLocks noGrp="1"/>
          </p:cNvSpPr>
          <p:nvPr>
            <p:ph type="dt" sz="half" idx="10"/>
          </p:nvPr>
        </p:nvSpPr>
        <p:spPr/>
        <p:txBody>
          <a:bodyPr/>
          <a:lstStyle/>
          <a:p>
            <a:fld id="{D0698334-6408-0E4E-8933-6428AE768C2A}" type="datetimeFigureOut">
              <a:rPr lang="en-AU" smtClean="0"/>
              <a:t>17/8/2026</a:t>
            </a:fld>
            <a:endParaRPr lang="en-AU"/>
          </a:p>
        </p:txBody>
      </p:sp>
      <p:sp>
        <p:nvSpPr>
          <p:cNvPr id="5" name="Footer Placeholder 4">
            <a:extLst>
              <a:ext uri="{FF2B5EF4-FFF2-40B4-BE49-F238E27FC236}">
                <a16:creationId xmlns:a16="http://schemas.microsoft.com/office/drawing/2014/main" id="{19AB8487-2162-469B-0E35-F023B153047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3833B67-85D8-3664-D16D-F2AD964D0C44}"/>
              </a:ext>
            </a:extLst>
          </p:cNvPr>
          <p:cNvSpPr>
            <a:spLocks noGrp="1"/>
          </p:cNvSpPr>
          <p:nvPr>
            <p:ph type="sldNum" sz="quarter" idx="12"/>
          </p:nvPr>
        </p:nvSpPr>
        <p:spPr/>
        <p:txBody>
          <a:bodyPr/>
          <a:lstStyle/>
          <a:p>
            <a:fld id="{B0004BCE-4059-F648-A52F-C47716088C50}" type="slidenum">
              <a:rPr lang="en-AU" smtClean="0"/>
              <a:t>‹#›</a:t>
            </a:fld>
            <a:endParaRPr lang="en-AU"/>
          </a:p>
        </p:txBody>
      </p:sp>
    </p:spTree>
    <p:extLst>
      <p:ext uri="{BB962C8B-B14F-4D97-AF65-F5344CB8AC3E}">
        <p14:creationId xmlns:p14="http://schemas.microsoft.com/office/powerpoint/2010/main" val="258990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32BA53-EFAF-3DC1-D09B-76881D9FE0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AB22F905-E07C-BF48-C43F-3D8750D771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DC4C0289-A5FF-8EB2-1A76-652582207B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0698334-6408-0E4E-8933-6428AE768C2A}" type="datetimeFigureOut">
              <a:rPr lang="en-AU" smtClean="0"/>
              <a:t>17/8/2026</a:t>
            </a:fld>
            <a:endParaRPr lang="en-AU"/>
          </a:p>
        </p:txBody>
      </p:sp>
      <p:sp>
        <p:nvSpPr>
          <p:cNvPr id="5" name="Footer Placeholder 4">
            <a:extLst>
              <a:ext uri="{FF2B5EF4-FFF2-40B4-BE49-F238E27FC236}">
                <a16:creationId xmlns:a16="http://schemas.microsoft.com/office/drawing/2014/main" id="{2FF7205E-FAFF-4F69-BCDF-FACCCB4345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4A07137E-A89F-5D51-DE55-EBD6AE9330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004BCE-4059-F648-A52F-C47716088C50}" type="slidenum">
              <a:rPr lang="en-AU" smtClean="0"/>
              <a:t>‹#›</a:t>
            </a:fld>
            <a:endParaRPr lang="en-AU"/>
          </a:p>
        </p:txBody>
      </p:sp>
    </p:spTree>
    <p:extLst>
      <p:ext uri="{BB962C8B-B14F-4D97-AF65-F5344CB8AC3E}">
        <p14:creationId xmlns:p14="http://schemas.microsoft.com/office/powerpoint/2010/main" val="3049692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hyperlink" Target="https://www.stocksy.com/1899299/beautiful-mother-holding-her-newborn-baby-tight"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tudy of a Masterpiece: &quot;Mother&quot; by Louise Bourgeois - Artsper Magzine">
            <a:extLst>
              <a:ext uri="{FF2B5EF4-FFF2-40B4-BE49-F238E27FC236}">
                <a16:creationId xmlns:a16="http://schemas.microsoft.com/office/drawing/2014/main" id="{D1EBDA45-C0F3-AE6F-F3F7-D0AFD5224252}"/>
              </a:ext>
            </a:extLst>
          </p:cNvPr>
          <p:cNvPicPr>
            <a:picLocks noChangeAspect="1"/>
          </p:cNvPicPr>
          <p:nvPr/>
        </p:nvPicPr>
        <p:blipFill>
          <a:blip r:embed="rId2"/>
          <a:srcRect l="4395" t="-1" r="6023" b="-1"/>
          <a:stretch>
            <a:fillRect/>
          </a:stretch>
        </p:blipFill>
        <p:spPr>
          <a:xfrm>
            <a:off x="2961313" y="148591"/>
            <a:ext cx="9203673" cy="6857990"/>
          </a:xfrm>
          <a:prstGeom prst="rect">
            <a:avLst/>
          </a:prstGeom>
        </p:spPr>
      </p:pic>
      <p:sp>
        <p:nvSpPr>
          <p:cNvPr id="6" name="Title 5">
            <a:extLst>
              <a:ext uri="{FF2B5EF4-FFF2-40B4-BE49-F238E27FC236}">
                <a16:creationId xmlns:a16="http://schemas.microsoft.com/office/drawing/2014/main" id="{1D4EFE65-6242-0870-569B-55D067B86786}"/>
              </a:ext>
            </a:extLst>
          </p:cNvPr>
          <p:cNvSpPr>
            <a:spLocks noGrp="1"/>
          </p:cNvSpPr>
          <p:nvPr>
            <p:ph type="ctrTitle"/>
          </p:nvPr>
        </p:nvSpPr>
        <p:spPr>
          <a:xfrm>
            <a:off x="-3050" y="1"/>
            <a:ext cx="8799809" cy="1967696"/>
          </a:xfrm>
          <a:noFill/>
        </p:spPr>
        <p:txBody>
          <a:bodyPr>
            <a:normAutofit/>
          </a:bodyPr>
          <a:lstStyle/>
          <a:p>
            <a:pPr algn="l"/>
            <a:r>
              <a:rPr lang="en-AU" sz="4000" b="1" dirty="0"/>
              <a:t>Week 3</a:t>
            </a:r>
            <a:br>
              <a:rPr lang="en-AU" sz="4000" dirty="0"/>
            </a:br>
            <a:r>
              <a:rPr lang="en-AU" sz="4000" dirty="0"/>
              <a:t>Mother, Dearest</a:t>
            </a:r>
            <a:br>
              <a:rPr lang="en-AU" sz="4000" dirty="0"/>
            </a:br>
            <a:r>
              <a:rPr lang="en-AU" sz="3600" i="1" dirty="0"/>
              <a:t>(Developmental Psychology)</a:t>
            </a:r>
            <a:endParaRPr lang="en-AU" sz="4000" i="1" dirty="0"/>
          </a:p>
        </p:txBody>
      </p:sp>
      <p:sp>
        <p:nvSpPr>
          <p:cNvPr id="3" name="Subtitle 2">
            <a:extLst>
              <a:ext uri="{FF2B5EF4-FFF2-40B4-BE49-F238E27FC236}">
                <a16:creationId xmlns:a16="http://schemas.microsoft.com/office/drawing/2014/main" id="{0E293171-93F5-1043-4497-0AC184EFB011}"/>
              </a:ext>
            </a:extLst>
          </p:cNvPr>
          <p:cNvSpPr>
            <a:spLocks noGrp="1"/>
          </p:cNvSpPr>
          <p:nvPr>
            <p:ph type="subTitle" idx="1"/>
          </p:nvPr>
        </p:nvSpPr>
        <p:spPr>
          <a:xfrm>
            <a:off x="-3050" y="2092267"/>
            <a:ext cx="4575050" cy="1485319"/>
          </a:xfrm>
          <a:noFill/>
        </p:spPr>
        <p:txBody>
          <a:bodyPr>
            <a:normAutofit/>
          </a:bodyPr>
          <a:lstStyle/>
          <a:p>
            <a:pPr algn="l"/>
            <a:r>
              <a:rPr lang="en-AU" sz="2800" b="1" i="1" dirty="0"/>
              <a:t>Lecture 2: The Dark Side</a:t>
            </a:r>
          </a:p>
        </p:txBody>
      </p:sp>
    </p:spTree>
    <p:extLst>
      <p:ext uri="{BB962C8B-B14F-4D97-AF65-F5344CB8AC3E}">
        <p14:creationId xmlns:p14="http://schemas.microsoft.com/office/powerpoint/2010/main" val="556967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96405-EA5F-4825-8BBF-D0BC872AE991}"/>
            </a:ext>
          </a:extLst>
        </p:cNvPr>
        <p:cNvGrpSpPr/>
        <p:nvPr/>
      </p:nvGrpSpPr>
      <p:grpSpPr>
        <a:xfrm>
          <a:off x="0" y="0"/>
          <a:ext cx="0" cy="0"/>
          <a:chOff x="0" y="0"/>
          <a:chExt cx="0" cy="0"/>
        </a:xfrm>
      </p:grpSpPr>
      <p:pic>
        <p:nvPicPr>
          <p:cNvPr id="3" name="Picture 2" descr="The 23 Best Ever Ice Cream Sundae Recipe Ideas">
            <a:extLst>
              <a:ext uri="{FF2B5EF4-FFF2-40B4-BE49-F238E27FC236}">
                <a16:creationId xmlns:a16="http://schemas.microsoft.com/office/drawing/2014/main" id="{BF065DB8-7CD3-62C4-F9FC-7B7DF735AAC3}"/>
              </a:ext>
            </a:extLst>
          </p:cNvPr>
          <p:cNvPicPr>
            <a:picLocks noChangeAspect="1"/>
          </p:cNvPicPr>
          <p:nvPr/>
        </p:nvPicPr>
        <p:blipFill>
          <a:blip r:embed="rId2"/>
          <a:stretch>
            <a:fillRect/>
          </a:stretch>
        </p:blipFill>
        <p:spPr>
          <a:xfrm>
            <a:off x="791922" y="1352861"/>
            <a:ext cx="5851276" cy="5149123"/>
          </a:xfrm>
          <a:prstGeom prst="rect">
            <a:avLst/>
          </a:prstGeom>
        </p:spPr>
      </p:pic>
      <p:sp>
        <p:nvSpPr>
          <p:cNvPr id="4" name="Subtitle 2">
            <a:extLst>
              <a:ext uri="{FF2B5EF4-FFF2-40B4-BE49-F238E27FC236}">
                <a16:creationId xmlns:a16="http://schemas.microsoft.com/office/drawing/2014/main" id="{A40B47BF-8B85-8B8A-2603-D86240565E33}"/>
              </a:ext>
            </a:extLst>
          </p:cNvPr>
          <p:cNvSpPr txBox="1">
            <a:spLocks/>
          </p:cNvSpPr>
          <p:nvPr/>
        </p:nvSpPr>
        <p:spPr>
          <a:xfrm>
            <a:off x="0" y="389743"/>
            <a:ext cx="10713362" cy="129354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4600" i="1" dirty="0"/>
              <a:t>Of Blood and Ice Cream…</a:t>
            </a:r>
          </a:p>
        </p:txBody>
      </p:sp>
    </p:spTree>
    <p:extLst>
      <p:ext uri="{BB962C8B-B14F-4D97-AF65-F5344CB8AC3E}">
        <p14:creationId xmlns:p14="http://schemas.microsoft.com/office/powerpoint/2010/main" val="3572833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B751415-FF7F-A1C0-C0D2-4BEEBDF3F01D}"/>
              </a:ext>
            </a:extLst>
          </p:cNvPr>
          <p:cNvGrpSpPr/>
          <p:nvPr/>
        </p:nvGrpSpPr>
        <p:grpSpPr>
          <a:xfrm>
            <a:off x="569654" y="1054571"/>
            <a:ext cx="2548500" cy="1506078"/>
            <a:chOff x="569654" y="1054571"/>
            <a:chExt cx="2548500" cy="1506078"/>
          </a:xfrm>
        </p:grpSpPr>
        <p:pic>
          <p:nvPicPr>
            <p:cNvPr id="10" name="Picture 9" descr="Simon Boag - Macquarie University">
              <a:extLst>
                <a:ext uri="{FF2B5EF4-FFF2-40B4-BE49-F238E27FC236}">
                  <a16:creationId xmlns:a16="http://schemas.microsoft.com/office/drawing/2014/main" id="{41E419AA-FA79-12CC-6D7E-F6F744D6E5C1}"/>
                </a:ext>
              </a:extLst>
            </p:cNvPr>
            <p:cNvPicPr>
              <a:picLocks noChangeAspect="1"/>
            </p:cNvPicPr>
            <p:nvPr/>
          </p:nvPicPr>
          <p:blipFill>
            <a:blip r:embed="rId2"/>
            <a:srcRect l="17395" t="28072" r="17395" b="26469"/>
            <a:stretch>
              <a:fillRect/>
            </a:stretch>
          </p:blipFill>
          <p:spPr>
            <a:xfrm>
              <a:off x="1272404" y="1054571"/>
              <a:ext cx="1216557" cy="1133707"/>
            </a:xfrm>
            <a:prstGeom prst="rect">
              <a:avLst/>
            </a:prstGeom>
          </p:spPr>
        </p:pic>
        <p:sp>
          <p:nvSpPr>
            <p:cNvPr id="4" name="TextBox 3">
              <a:extLst>
                <a:ext uri="{FF2B5EF4-FFF2-40B4-BE49-F238E27FC236}">
                  <a16:creationId xmlns:a16="http://schemas.microsoft.com/office/drawing/2014/main" id="{B446D3E2-57E5-93E4-CD98-93783239A49C}"/>
                </a:ext>
              </a:extLst>
            </p:cNvPr>
            <p:cNvSpPr txBox="1"/>
            <p:nvPr/>
          </p:nvSpPr>
          <p:spPr>
            <a:xfrm>
              <a:off x="569654" y="2191317"/>
              <a:ext cx="2548500" cy="369332"/>
            </a:xfrm>
            <a:prstGeom prst="rect">
              <a:avLst/>
            </a:prstGeom>
            <a:noFill/>
          </p:spPr>
          <p:txBody>
            <a:bodyPr wrap="square" rtlCol="0">
              <a:spAutoFit/>
            </a:bodyPr>
            <a:lstStyle/>
            <a:p>
              <a:pPr algn="ctr"/>
              <a:r>
                <a:rPr lang="en-AU" i="1" dirty="0"/>
                <a:t>Personality Psychology</a:t>
              </a:r>
            </a:p>
          </p:txBody>
        </p:sp>
      </p:grpSp>
      <p:grpSp>
        <p:nvGrpSpPr>
          <p:cNvPr id="16" name="Group 15">
            <a:extLst>
              <a:ext uri="{FF2B5EF4-FFF2-40B4-BE49-F238E27FC236}">
                <a16:creationId xmlns:a16="http://schemas.microsoft.com/office/drawing/2014/main" id="{E41DB212-AD80-FB37-E3E6-3DC0844B38F7}"/>
              </a:ext>
            </a:extLst>
          </p:cNvPr>
          <p:cNvGrpSpPr/>
          <p:nvPr/>
        </p:nvGrpSpPr>
        <p:grpSpPr>
          <a:xfrm>
            <a:off x="2829421" y="405166"/>
            <a:ext cx="2548500" cy="1548747"/>
            <a:chOff x="2829421" y="405166"/>
            <a:chExt cx="2548500" cy="1548747"/>
          </a:xfrm>
        </p:grpSpPr>
        <p:pic>
          <p:nvPicPr>
            <p:cNvPr id="5" name="Picture 4">
              <a:extLst>
                <a:ext uri="{FF2B5EF4-FFF2-40B4-BE49-F238E27FC236}">
                  <a16:creationId xmlns:a16="http://schemas.microsoft.com/office/drawing/2014/main" id="{2195A859-4040-7194-301A-7FE10355CDA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517181" y="405166"/>
              <a:ext cx="1143000" cy="1143000"/>
            </a:xfrm>
            <a:prstGeom prst="rect">
              <a:avLst/>
            </a:prstGeom>
          </p:spPr>
        </p:pic>
        <p:sp>
          <p:nvSpPr>
            <p:cNvPr id="6" name="TextBox 5">
              <a:extLst>
                <a:ext uri="{FF2B5EF4-FFF2-40B4-BE49-F238E27FC236}">
                  <a16:creationId xmlns:a16="http://schemas.microsoft.com/office/drawing/2014/main" id="{9075A39D-58DF-E811-2816-5531FB7C572B}"/>
                </a:ext>
              </a:extLst>
            </p:cNvPr>
            <p:cNvSpPr txBox="1"/>
            <p:nvPr/>
          </p:nvSpPr>
          <p:spPr>
            <a:xfrm>
              <a:off x="2829421" y="1584581"/>
              <a:ext cx="2548500" cy="369332"/>
            </a:xfrm>
            <a:prstGeom prst="rect">
              <a:avLst/>
            </a:prstGeom>
            <a:noFill/>
          </p:spPr>
          <p:txBody>
            <a:bodyPr wrap="square" rtlCol="0">
              <a:spAutoFit/>
            </a:bodyPr>
            <a:lstStyle/>
            <a:p>
              <a:pPr algn="ctr"/>
              <a:r>
                <a:rPr lang="en-AU" i="1" dirty="0"/>
                <a:t>Social Psychology</a:t>
              </a:r>
            </a:p>
          </p:txBody>
        </p:sp>
      </p:grpSp>
      <p:grpSp>
        <p:nvGrpSpPr>
          <p:cNvPr id="12" name="Group 11">
            <a:extLst>
              <a:ext uri="{FF2B5EF4-FFF2-40B4-BE49-F238E27FC236}">
                <a16:creationId xmlns:a16="http://schemas.microsoft.com/office/drawing/2014/main" id="{BB5D51C6-689F-25CE-6D46-85B5E544D44C}"/>
              </a:ext>
            </a:extLst>
          </p:cNvPr>
          <p:cNvGrpSpPr/>
          <p:nvPr/>
        </p:nvGrpSpPr>
        <p:grpSpPr>
          <a:xfrm>
            <a:off x="4405825" y="2460778"/>
            <a:ext cx="2548500" cy="1526149"/>
            <a:chOff x="4405825" y="2460778"/>
            <a:chExt cx="2548500" cy="1526149"/>
          </a:xfrm>
        </p:grpSpPr>
        <p:grpSp>
          <p:nvGrpSpPr>
            <p:cNvPr id="2" name="Group 1">
              <a:extLst>
                <a:ext uri="{FF2B5EF4-FFF2-40B4-BE49-F238E27FC236}">
                  <a16:creationId xmlns:a16="http://schemas.microsoft.com/office/drawing/2014/main" id="{081CC9E5-A1DE-0662-B01B-5D296453572D}"/>
                </a:ext>
              </a:extLst>
            </p:cNvPr>
            <p:cNvGrpSpPr/>
            <p:nvPr/>
          </p:nvGrpSpPr>
          <p:grpSpPr>
            <a:xfrm>
              <a:off x="4552065" y="2460778"/>
              <a:ext cx="2286000" cy="1143000"/>
              <a:chOff x="342900" y="3670634"/>
              <a:chExt cx="2286000" cy="1143000"/>
            </a:xfrm>
          </p:grpSpPr>
          <p:pic>
            <p:nvPicPr>
              <p:cNvPr id="13" name="Picture 12">
                <a:extLst>
                  <a:ext uri="{FF2B5EF4-FFF2-40B4-BE49-F238E27FC236}">
                    <a16:creationId xmlns:a16="http://schemas.microsoft.com/office/drawing/2014/main" id="{E59D6DD3-3C9C-BE21-8837-F50CD7C10A2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42900" y="3670634"/>
                <a:ext cx="1143000" cy="1143000"/>
              </a:xfrm>
              <a:prstGeom prst="rect">
                <a:avLst/>
              </a:prstGeom>
            </p:spPr>
          </p:pic>
          <p:pic>
            <p:nvPicPr>
              <p:cNvPr id="14" name="Picture 13">
                <a:extLst>
                  <a:ext uri="{FF2B5EF4-FFF2-40B4-BE49-F238E27FC236}">
                    <a16:creationId xmlns:a16="http://schemas.microsoft.com/office/drawing/2014/main" id="{29D44C21-89B3-0BF7-5A30-3C36EA06C4F0}"/>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485900" y="3670634"/>
                <a:ext cx="1143000" cy="1143000"/>
              </a:xfrm>
              <a:prstGeom prst="rect">
                <a:avLst/>
              </a:prstGeom>
            </p:spPr>
          </p:pic>
        </p:grpSp>
        <p:sp>
          <p:nvSpPr>
            <p:cNvPr id="8" name="TextBox 7">
              <a:extLst>
                <a:ext uri="{FF2B5EF4-FFF2-40B4-BE49-F238E27FC236}">
                  <a16:creationId xmlns:a16="http://schemas.microsoft.com/office/drawing/2014/main" id="{9D004D2A-A323-16C6-06CA-CA323FF31A2E}"/>
                </a:ext>
              </a:extLst>
            </p:cNvPr>
            <p:cNvSpPr txBox="1"/>
            <p:nvPr/>
          </p:nvSpPr>
          <p:spPr>
            <a:xfrm>
              <a:off x="4405825" y="3617595"/>
              <a:ext cx="2548500" cy="369332"/>
            </a:xfrm>
            <a:prstGeom prst="rect">
              <a:avLst/>
            </a:prstGeom>
            <a:noFill/>
          </p:spPr>
          <p:txBody>
            <a:bodyPr wrap="square" rtlCol="0">
              <a:spAutoFit/>
            </a:bodyPr>
            <a:lstStyle/>
            <a:p>
              <a:pPr algn="ctr"/>
              <a:r>
                <a:rPr lang="en-AU" i="1" dirty="0"/>
                <a:t>Biological Psychology</a:t>
              </a:r>
            </a:p>
          </p:txBody>
        </p:sp>
      </p:grpSp>
      <p:grpSp>
        <p:nvGrpSpPr>
          <p:cNvPr id="11" name="Group 10">
            <a:extLst>
              <a:ext uri="{FF2B5EF4-FFF2-40B4-BE49-F238E27FC236}">
                <a16:creationId xmlns:a16="http://schemas.microsoft.com/office/drawing/2014/main" id="{DE2C2F9C-09AA-D97D-A574-133870BC4713}"/>
              </a:ext>
            </a:extLst>
          </p:cNvPr>
          <p:cNvGrpSpPr/>
          <p:nvPr/>
        </p:nvGrpSpPr>
        <p:grpSpPr>
          <a:xfrm>
            <a:off x="3277815" y="4498253"/>
            <a:ext cx="2548500" cy="1538414"/>
            <a:chOff x="2706315" y="4482700"/>
            <a:chExt cx="2548500" cy="1538414"/>
          </a:xfrm>
        </p:grpSpPr>
        <p:pic>
          <p:nvPicPr>
            <p:cNvPr id="15" name="Picture 14">
              <a:extLst>
                <a:ext uri="{FF2B5EF4-FFF2-40B4-BE49-F238E27FC236}">
                  <a16:creationId xmlns:a16="http://schemas.microsoft.com/office/drawing/2014/main" id="{E828DE26-CA22-C1D3-FF50-6BD257895024}"/>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409065" y="4482700"/>
              <a:ext cx="1143000" cy="1143000"/>
            </a:xfrm>
            <a:prstGeom prst="rect">
              <a:avLst/>
            </a:prstGeom>
          </p:spPr>
        </p:pic>
        <p:sp>
          <p:nvSpPr>
            <p:cNvPr id="9" name="TextBox 8">
              <a:extLst>
                <a:ext uri="{FF2B5EF4-FFF2-40B4-BE49-F238E27FC236}">
                  <a16:creationId xmlns:a16="http://schemas.microsoft.com/office/drawing/2014/main" id="{D71D56DE-9E5C-201F-8A39-0A7F17370523}"/>
                </a:ext>
              </a:extLst>
            </p:cNvPr>
            <p:cNvSpPr txBox="1"/>
            <p:nvPr/>
          </p:nvSpPr>
          <p:spPr>
            <a:xfrm>
              <a:off x="2706315" y="5651782"/>
              <a:ext cx="2548500" cy="369332"/>
            </a:xfrm>
            <a:prstGeom prst="rect">
              <a:avLst/>
            </a:prstGeom>
            <a:noFill/>
          </p:spPr>
          <p:txBody>
            <a:bodyPr wrap="square" rtlCol="0">
              <a:spAutoFit/>
            </a:bodyPr>
            <a:lstStyle/>
            <a:p>
              <a:pPr algn="ctr"/>
              <a:r>
                <a:rPr lang="en-AU" i="1" dirty="0"/>
                <a:t>Cognitive Psychology</a:t>
              </a:r>
            </a:p>
          </p:txBody>
        </p:sp>
      </p:grpSp>
      <p:grpSp>
        <p:nvGrpSpPr>
          <p:cNvPr id="21" name="Group 20">
            <a:extLst>
              <a:ext uri="{FF2B5EF4-FFF2-40B4-BE49-F238E27FC236}">
                <a16:creationId xmlns:a16="http://schemas.microsoft.com/office/drawing/2014/main" id="{A229360B-EB17-D5AB-B301-4BAB0C914411}"/>
              </a:ext>
            </a:extLst>
          </p:cNvPr>
          <p:cNvGrpSpPr/>
          <p:nvPr/>
        </p:nvGrpSpPr>
        <p:grpSpPr>
          <a:xfrm>
            <a:off x="900642" y="5095835"/>
            <a:ext cx="2548500" cy="1512332"/>
            <a:chOff x="269851" y="5083969"/>
            <a:chExt cx="2548500" cy="1512332"/>
          </a:xfrm>
        </p:grpSpPr>
        <p:pic>
          <p:nvPicPr>
            <p:cNvPr id="7" name="Picture 6">
              <a:extLst>
                <a:ext uri="{FF2B5EF4-FFF2-40B4-BE49-F238E27FC236}">
                  <a16:creationId xmlns:a16="http://schemas.microsoft.com/office/drawing/2014/main" id="{44B366B6-7811-13A9-CE56-3890D7CC461A}"/>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72601" y="5083969"/>
              <a:ext cx="1143000" cy="1143000"/>
            </a:xfrm>
            <a:prstGeom prst="rect">
              <a:avLst/>
            </a:prstGeom>
          </p:spPr>
        </p:pic>
        <p:sp>
          <p:nvSpPr>
            <p:cNvPr id="18" name="TextBox 17">
              <a:extLst>
                <a:ext uri="{FF2B5EF4-FFF2-40B4-BE49-F238E27FC236}">
                  <a16:creationId xmlns:a16="http://schemas.microsoft.com/office/drawing/2014/main" id="{7580D262-94BA-98D4-DB27-2A74EA5B649F}"/>
                </a:ext>
              </a:extLst>
            </p:cNvPr>
            <p:cNvSpPr txBox="1"/>
            <p:nvPr/>
          </p:nvSpPr>
          <p:spPr>
            <a:xfrm>
              <a:off x="269851" y="6226969"/>
              <a:ext cx="2548500" cy="369332"/>
            </a:xfrm>
            <a:prstGeom prst="rect">
              <a:avLst/>
            </a:prstGeom>
            <a:noFill/>
          </p:spPr>
          <p:txBody>
            <a:bodyPr wrap="square" rtlCol="0">
              <a:spAutoFit/>
            </a:bodyPr>
            <a:lstStyle/>
            <a:p>
              <a:pPr algn="ctr"/>
              <a:r>
                <a:rPr lang="en-AU" i="1" dirty="0"/>
                <a:t>Cultural Psychology</a:t>
              </a:r>
            </a:p>
          </p:txBody>
        </p:sp>
      </p:grpSp>
      <p:grpSp>
        <p:nvGrpSpPr>
          <p:cNvPr id="20" name="Group 19">
            <a:extLst>
              <a:ext uri="{FF2B5EF4-FFF2-40B4-BE49-F238E27FC236}">
                <a16:creationId xmlns:a16="http://schemas.microsoft.com/office/drawing/2014/main" id="{868FB5C5-AD12-F09B-D640-D3A176BA98D0}"/>
              </a:ext>
            </a:extLst>
          </p:cNvPr>
          <p:cNvGrpSpPr/>
          <p:nvPr/>
        </p:nvGrpSpPr>
        <p:grpSpPr>
          <a:xfrm>
            <a:off x="-61299" y="3065209"/>
            <a:ext cx="2548500" cy="1552758"/>
            <a:chOff x="-61299" y="3065209"/>
            <a:chExt cx="2548500" cy="1552758"/>
          </a:xfrm>
        </p:grpSpPr>
        <p:pic>
          <p:nvPicPr>
            <p:cNvPr id="3" name="Picture 2">
              <a:extLst>
                <a:ext uri="{FF2B5EF4-FFF2-40B4-BE49-F238E27FC236}">
                  <a16:creationId xmlns:a16="http://schemas.microsoft.com/office/drawing/2014/main" id="{EED8E4CF-AF8E-03D1-90B3-441AB6887B63}"/>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41451" y="3065209"/>
              <a:ext cx="1143000" cy="1143000"/>
            </a:xfrm>
            <a:prstGeom prst="rect">
              <a:avLst/>
            </a:prstGeom>
          </p:spPr>
        </p:pic>
        <p:sp>
          <p:nvSpPr>
            <p:cNvPr id="19" name="TextBox 18">
              <a:extLst>
                <a:ext uri="{FF2B5EF4-FFF2-40B4-BE49-F238E27FC236}">
                  <a16:creationId xmlns:a16="http://schemas.microsoft.com/office/drawing/2014/main" id="{6AFE67CE-6ECD-8966-5D23-DD8E2A0F813B}"/>
                </a:ext>
              </a:extLst>
            </p:cNvPr>
            <p:cNvSpPr txBox="1"/>
            <p:nvPr/>
          </p:nvSpPr>
          <p:spPr>
            <a:xfrm>
              <a:off x="-61299" y="4248635"/>
              <a:ext cx="2548500" cy="369332"/>
            </a:xfrm>
            <a:prstGeom prst="rect">
              <a:avLst/>
            </a:prstGeom>
            <a:noFill/>
          </p:spPr>
          <p:txBody>
            <a:bodyPr wrap="square" rtlCol="0">
              <a:spAutoFit/>
            </a:bodyPr>
            <a:lstStyle/>
            <a:p>
              <a:pPr algn="ctr"/>
              <a:r>
                <a:rPr lang="en-AU" i="1" dirty="0"/>
                <a:t>Forensic Psychology</a:t>
              </a:r>
            </a:p>
          </p:txBody>
        </p:sp>
      </p:grpSp>
    </p:spTree>
    <p:extLst>
      <p:ext uri="{BB962C8B-B14F-4D97-AF65-F5344CB8AC3E}">
        <p14:creationId xmlns:p14="http://schemas.microsoft.com/office/powerpoint/2010/main" val="1082212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4DBA0-FB09-516E-0329-D8EE039B41FF}"/>
              </a:ext>
            </a:extLst>
          </p:cNvPr>
          <p:cNvSpPr>
            <a:spLocks noGrp="1"/>
          </p:cNvSpPr>
          <p:nvPr>
            <p:ph type="title"/>
          </p:nvPr>
        </p:nvSpPr>
        <p:spPr>
          <a:xfrm>
            <a:off x="838200" y="327818"/>
            <a:ext cx="10515600" cy="1325563"/>
          </a:xfrm>
        </p:spPr>
        <p:txBody>
          <a:bodyPr/>
          <a:lstStyle/>
          <a:p>
            <a:pPr algn="ctr"/>
            <a:r>
              <a:rPr lang="en-AU" dirty="0">
                <a:latin typeface="Merriweather" panose="00000500000000000000" pitchFamily="2" charset="0"/>
              </a:rPr>
              <a:t>How are you ruining your child?</a:t>
            </a:r>
          </a:p>
        </p:txBody>
      </p:sp>
    </p:spTree>
    <p:extLst>
      <p:ext uri="{BB962C8B-B14F-4D97-AF65-F5344CB8AC3E}">
        <p14:creationId xmlns:p14="http://schemas.microsoft.com/office/powerpoint/2010/main" val="2729004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A4D1D-BA45-646D-CF38-0CEA331DD1DD}"/>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C47904ED-B295-F14B-3FA9-69826103A47F}"/>
              </a:ext>
            </a:extLst>
          </p:cNvPr>
          <p:cNvGrpSpPr/>
          <p:nvPr/>
        </p:nvGrpSpPr>
        <p:grpSpPr>
          <a:xfrm>
            <a:off x="0" y="0"/>
            <a:ext cx="5939972" cy="4483099"/>
            <a:chOff x="524329" y="139700"/>
            <a:chExt cx="5939972" cy="4483099"/>
          </a:xfrm>
        </p:grpSpPr>
        <p:pic>
          <p:nvPicPr>
            <p:cNvPr id="4100" name="Picture 4" descr="Are you condescending to your audience?">
              <a:extLst>
                <a:ext uri="{FF2B5EF4-FFF2-40B4-BE49-F238E27FC236}">
                  <a16:creationId xmlns:a16="http://schemas.microsoft.com/office/drawing/2014/main" id="{63EB1C0C-2B42-1267-564E-A5BACA92B8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524329" y="720270"/>
              <a:ext cx="5203372" cy="3902529"/>
            </a:xfrm>
            <a:prstGeom prst="rect">
              <a:avLst/>
            </a:prstGeom>
            <a:noFill/>
            <a:extLst>
              <a:ext uri="{909E8E84-426E-40DD-AFC4-6F175D3DCCD1}">
                <a14:hiddenFill xmlns:a14="http://schemas.microsoft.com/office/drawing/2010/main">
                  <a:solidFill>
                    <a:srgbClr val="FFFFFF"/>
                  </a:solidFill>
                </a14:hiddenFill>
              </a:ext>
            </a:extLst>
          </p:spPr>
        </p:pic>
        <p:sp>
          <p:nvSpPr>
            <p:cNvPr id="6" name="Speech Bubble: Oval 5">
              <a:extLst>
                <a:ext uri="{FF2B5EF4-FFF2-40B4-BE49-F238E27FC236}">
                  <a16:creationId xmlns:a16="http://schemas.microsoft.com/office/drawing/2014/main" id="{1802E0CC-DAD9-D114-DAD6-9A5AA30C101B}"/>
                </a:ext>
              </a:extLst>
            </p:cNvPr>
            <p:cNvSpPr/>
            <p:nvPr/>
          </p:nvSpPr>
          <p:spPr>
            <a:xfrm>
              <a:off x="4265387" y="139700"/>
              <a:ext cx="2198914" cy="1524000"/>
            </a:xfrm>
            <a:prstGeom prst="wedgeEllipseCallout">
              <a:avLst>
                <a:gd name="adj1" fmla="val -54909"/>
                <a:gd name="adj2" fmla="val 575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000" dirty="0">
                  <a:solidFill>
                    <a:schemeClr val="tx1"/>
                  </a:solidFill>
                </a:rPr>
                <a:t>You’re doing that wrong.</a:t>
              </a:r>
            </a:p>
          </p:txBody>
        </p:sp>
      </p:grpSp>
      <p:pic>
        <p:nvPicPr>
          <p:cNvPr id="5" name="Picture 4" descr="A person holding a baby&#10;&#10;AI-generated content may be incorrect.">
            <a:extLst>
              <a:ext uri="{FF2B5EF4-FFF2-40B4-BE49-F238E27FC236}">
                <a16:creationId xmlns:a16="http://schemas.microsoft.com/office/drawing/2014/main" id="{A8BBFC63-05F8-0BE5-30D0-BD97ECFD8A4F}"/>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633685" y="2471056"/>
            <a:ext cx="2924629" cy="4386944"/>
          </a:xfrm>
          <a:prstGeom prst="rect">
            <a:avLst/>
          </a:prstGeom>
        </p:spPr>
      </p:pic>
    </p:spTree>
    <p:extLst>
      <p:ext uri="{BB962C8B-B14F-4D97-AF65-F5344CB8AC3E}">
        <p14:creationId xmlns:p14="http://schemas.microsoft.com/office/powerpoint/2010/main" val="2286875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72049-1A5B-DE93-42B7-52F648BCC29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E79B58-A9BC-F718-8292-286F71DB4537}"/>
              </a:ext>
            </a:extLst>
          </p:cNvPr>
          <p:cNvSpPr txBox="1"/>
          <p:nvPr/>
        </p:nvSpPr>
        <p:spPr>
          <a:xfrm>
            <a:off x="0" y="4104282"/>
            <a:ext cx="6835515" cy="2554545"/>
          </a:xfrm>
          <a:prstGeom prst="rect">
            <a:avLst/>
          </a:prstGeom>
          <a:noFill/>
        </p:spPr>
        <p:txBody>
          <a:bodyPr wrap="square" rtlCol="0">
            <a:spAutoFit/>
          </a:bodyPr>
          <a:lstStyle/>
          <a:p>
            <a:r>
              <a:rPr lang="en-US" sz="2000" b="0" i="0" dirty="0">
                <a:solidFill>
                  <a:srgbClr val="181818"/>
                </a:solidFill>
                <a:effectLst/>
                <a:latin typeface="Merriweather" panose="020F0502020204030204" pitchFamily="2" charset="0"/>
              </a:rPr>
              <a:t>“Give me a dozen healthy infants, well-formed, and my own specified world to bring them up in and I’ll guarantee to take any one at random and train him to become any type of specialist I might select—doctor, lawyer, artist, merchant-chief and, yes, even beggar-man and thief, regardless of his talents, penchants, tendencies, abilities, vocations, and race of his ancestors.”</a:t>
            </a:r>
          </a:p>
        </p:txBody>
      </p:sp>
      <p:grpSp>
        <p:nvGrpSpPr>
          <p:cNvPr id="4" name="Group 3">
            <a:extLst>
              <a:ext uri="{FF2B5EF4-FFF2-40B4-BE49-F238E27FC236}">
                <a16:creationId xmlns:a16="http://schemas.microsoft.com/office/drawing/2014/main" id="{C2CA47CC-1E03-6B78-F003-30FC17AB18F6}"/>
              </a:ext>
            </a:extLst>
          </p:cNvPr>
          <p:cNvGrpSpPr/>
          <p:nvPr/>
        </p:nvGrpSpPr>
        <p:grpSpPr>
          <a:xfrm>
            <a:off x="0" y="0"/>
            <a:ext cx="4739150" cy="3817891"/>
            <a:chOff x="7704944" y="1168174"/>
            <a:chExt cx="4739150" cy="3817891"/>
          </a:xfrm>
        </p:grpSpPr>
        <p:pic>
          <p:nvPicPr>
            <p:cNvPr id="2052" name="Picture 4" descr="John B. Watson - Wikipedia">
              <a:extLst>
                <a:ext uri="{FF2B5EF4-FFF2-40B4-BE49-F238E27FC236}">
                  <a16:creationId xmlns:a16="http://schemas.microsoft.com/office/drawing/2014/main" id="{4910AAEC-4ED8-7306-B5AF-CD71463B55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04944" y="1168174"/>
              <a:ext cx="2654073" cy="381789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BE4255A-0038-708C-6140-E9614DD4FD98}"/>
                </a:ext>
              </a:extLst>
            </p:cNvPr>
            <p:cNvSpPr txBox="1"/>
            <p:nvPr/>
          </p:nvSpPr>
          <p:spPr>
            <a:xfrm>
              <a:off x="9790021" y="4412508"/>
              <a:ext cx="2654073" cy="369332"/>
            </a:xfrm>
            <a:prstGeom prst="rect">
              <a:avLst/>
            </a:prstGeom>
            <a:noFill/>
          </p:spPr>
          <p:txBody>
            <a:bodyPr wrap="square" rtlCol="0">
              <a:spAutoFit/>
            </a:bodyPr>
            <a:lstStyle/>
            <a:p>
              <a:pPr algn="ctr"/>
              <a:r>
                <a:rPr lang="en-AU" i="1" dirty="0">
                  <a:latin typeface="Merriweather" panose="00000500000000000000" pitchFamily="2" charset="0"/>
                </a:rPr>
                <a:t>John Watson</a:t>
              </a:r>
            </a:p>
          </p:txBody>
        </p:sp>
      </p:grpSp>
    </p:spTree>
    <p:extLst>
      <p:ext uri="{BB962C8B-B14F-4D97-AF65-F5344CB8AC3E}">
        <p14:creationId xmlns:p14="http://schemas.microsoft.com/office/powerpoint/2010/main" val="797482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8FE0D-A23E-4DB6-78F6-22A8E416ACB8}"/>
            </a:ext>
          </a:extLst>
        </p:cNvPr>
        <p:cNvGrpSpPr/>
        <p:nvPr/>
      </p:nvGrpSpPr>
      <p:grpSpPr>
        <a:xfrm>
          <a:off x="0" y="0"/>
          <a:ext cx="0" cy="0"/>
          <a:chOff x="0" y="0"/>
          <a:chExt cx="0" cy="0"/>
        </a:xfrm>
      </p:grpSpPr>
      <p:pic>
        <p:nvPicPr>
          <p:cNvPr id="3074" name="Picture 2" descr="Bad behaviourism: analysing a ...">
            <a:extLst>
              <a:ext uri="{FF2B5EF4-FFF2-40B4-BE49-F238E27FC236}">
                <a16:creationId xmlns:a16="http://schemas.microsoft.com/office/drawing/2014/main" id="{D24C9D5E-B8BD-B023-996F-518FFD32E9F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541" r="7546"/>
          <a:stretch>
            <a:fillRect/>
          </a:stretch>
        </p:blipFill>
        <p:spPr bwMode="auto">
          <a:xfrm>
            <a:off x="-5035" y="462240"/>
            <a:ext cx="3534751" cy="280316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by used in notorious fear experiment ...">
            <a:extLst>
              <a:ext uri="{FF2B5EF4-FFF2-40B4-BE49-F238E27FC236}">
                <a16:creationId xmlns:a16="http://schemas.microsoft.com/office/drawing/2014/main" id="{311A407B-257E-BE29-FE5A-24886F27E8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4" y="3592599"/>
            <a:ext cx="3534751" cy="269576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Sage Video - John B. Watson: &quot;Studies ...">
            <a:extLst>
              <a:ext uri="{FF2B5EF4-FFF2-40B4-BE49-F238E27FC236}">
                <a16:creationId xmlns:a16="http://schemas.microsoft.com/office/drawing/2014/main" id="{AADB09C4-063F-178C-81C7-A7F886CC7C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7536" y="383109"/>
            <a:ext cx="3599280" cy="269598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The Little Albert Experiment And The ...">
            <a:extLst>
              <a:ext uri="{FF2B5EF4-FFF2-40B4-BE49-F238E27FC236}">
                <a16:creationId xmlns:a16="http://schemas.microsoft.com/office/drawing/2014/main" id="{42EFD896-BD0F-1C77-B346-7E97BD0D8C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77536" y="3592599"/>
            <a:ext cx="3599280" cy="2882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0631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23D17-2EE7-9F11-ACBD-B83BD90A4FB7}"/>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CEA66F75-E4D4-F983-8F9F-4DEFD7EE39FB}"/>
              </a:ext>
            </a:extLst>
          </p:cNvPr>
          <p:cNvSpPr txBox="1">
            <a:spLocks/>
          </p:cNvSpPr>
          <p:nvPr/>
        </p:nvSpPr>
        <p:spPr>
          <a:xfrm>
            <a:off x="0" y="540211"/>
            <a:ext cx="11266100" cy="46410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4000" dirty="0"/>
              <a:t>Watson Baby Albert experiment was designed to test (or compete with) Freud’s theory of unconscious emotional transference</a:t>
            </a:r>
          </a:p>
        </p:txBody>
      </p:sp>
      <p:sp>
        <p:nvSpPr>
          <p:cNvPr id="5" name="TextBox 4">
            <a:extLst>
              <a:ext uri="{FF2B5EF4-FFF2-40B4-BE49-F238E27FC236}">
                <a16:creationId xmlns:a16="http://schemas.microsoft.com/office/drawing/2014/main" id="{92161D65-5ADB-650E-323C-ADC19D4FDCF7}"/>
              </a:ext>
            </a:extLst>
          </p:cNvPr>
          <p:cNvSpPr txBox="1"/>
          <p:nvPr/>
        </p:nvSpPr>
        <p:spPr>
          <a:xfrm>
            <a:off x="84094" y="2500953"/>
            <a:ext cx="6011906" cy="4154984"/>
          </a:xfrm>
          <a:prstGeom prst="rect">
            <a:avLst/>
          </a:prstGeom>
          <a:noFill/>
        </p:spPr>
        <p:txBody>
          <a:bodyPr wrap="square" rtlCol="0">
            <a:spAutoFit/>
          </a:bodyPr>
          <a:lstStyle/>
          <a:p>
            <a:r>
              <a:rPr lang="en-AU" sz="2400" i="1" dirty="0"/>
              <a:t>“The Freudians twenty years from now, unless their hypotheses change, when they come to </a:t>
            </a:r>
            <a:r>
              <a:rPr lang="en-AU" sz="2400" i="1" dirty="0" err="1"/>
              <a:t>analyze</a:t>
            </a:r>
            <a:r>
              <a:rPr lang="en-AU" sz="2400" i="1" dirty="0"/>
              <a:t> Albert’s fear of a seal skin coat – assuming that he comes to analysis at that age – will probably tease from him the recital of a dream which upon their analysis will show that Albert at three years of age attempted to play with the pubic hair of the mother and was scolded violently for it.”</a:t>
            </a:r>
          </a:p>
          <a:p>
            <a:endParaRPr lang="en-AU" sz="2400" i="1" dirty="0"/>
          </a:p>
          <a:p>
            <a:pPr algn="r"/>
            <a:r>
              <a:rPr lang="en-AU" sz="2400" i="1" dirty="0"/>
              <a:t> – Watson and Rayner, 1920</a:t>
            </a:r>
          </a:p>
        </p:txBody>
      </p:sp>
    </p:spTree>
    <p:extLst>
      <p:ext uri="{BB962C8B-B14F-4D97-AF65-F5344CB8AC3E}">
        <p14:creationId xmlns:p14="http://schemas.microsoft.com/office/powerpoint/2010/main" val="1687338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Psychological Care of Infant and Child ...">
            <a:extLst>
              <a:ext uri="{FF2B5EF4-FFF2-40B4-BE49-F238E27FC236}">
                <a16:creationId xmlns:a16="http://schemas.microsoft.com/office/drawing/2014/main" id="{3F1D226C-CCF9-157D-BC66-EF60012B10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80" y="380521"/>
            <a:ext cx="3632635" cy="565076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56F7708-EBE8-F8F6-F313-69CB5837AD18}"/>
              </a:ext>
            </a:extLst>
          </p:cNvPr>
          <p:cNvSpPr txBox="1"/>
          <p:nvPr/>
        </p:nvSpPr>
        <p:spPr>
          <a:xfrm>
            <a:off x="3907019" y="380521"/>
            <a:ext cx="8032520" cy="2062103"/>
          </a:xfrm>
          <a:prstGeom prst="rect">
            <a:avLst/>
          </a:prstGeom>
          <a:noFill/>
        </p:spPr>
        <p:txBody>
          <a:bodyPr wrap="square" rtlCol="0">
            <a:spAutoFit/>
          </a:bodyPr>
          <a:lstStyle/>
          <a:p>
            <a:r>
              <a:rPr lang="en-US" sz="3200" b="0" u="sng" dirty="0">
                <a:solidFill>
                  <a:srgbClr val="181818"/>
                </a:solidFill>
                <a:effectLst/>
                <a:latin typeface="Merriweather" panose="020F0502020204030204" pitchFamily="2" charset="0"/>
              </a:rPr>
              <a:t>Psychological Care of Infant and Child</a:t>
            </a:r>
          </a:p>
          <a:p>
            <a:pPr marL="457200" indent="-457200">
              <a:buFont typeface="Arial" panose="020B0604020202020204" pitchFamily="34" charset="0"/>
              <a:buChar char="•"/>
            </a:pPr>
            <a:r>
              <a:rPr lang="en-US" sz="3200" dirty="0">
                <a:solidFill>
                  <a:srgbClr val="181818"/>
                </a:solidFill>
                <a:latin typeface="Merriweather" panose="020F0502020204030204" pitchFamily="2" charset="0"/>
              </a:rPr>
              <a:t>John Watson (1928)</a:t>
            </a:r>
          </a:p>
          <a:p>
            <a:pPr marL="457200" indent="-457200">
              <a:buFont typeface="Arial" panose="020B0604020202020204" pitchFamily="34" charset="0"/>
              <a:buChar char="•"/>
            </a:pPr>
            <a:r>
              <a:rPr lang="en-US" sz="3200" dirty="0">
                <a:solidFill>
                  <a:srgbClr val="181818"/>
                </a:solidFill>
                <a:latin typeface="Merriweather" panose="020F0502020204030204" pitchFamily="2" charset="0"/>
              </a:rPr>
              <a:t>Hugely popular parenting book</a:t>
            </a:r>
          </a:p>
          <a:p>
            <a:pPr marL="457200" indent="-457200">
              <a:buFont typeface="Arial" panose="020B0604020202020204" pitchFamily="34" charset="0"/>
              <a:buChar char="•"/>
            </a:pPr>
            <a:r>
              <a:rPr lang="en-US" sz="3200" b="0" dirty="0">
                <a:solidFill>
                  <a:srgbClr val="181818"/>
                </a:solidFill>
                <a:effectLst/>
                <a:latin typeface="Merriweather" panose="020F0502020204030204" pitchFamily="2" charset="0"/>
              </a:rPr>
              <a:t>Massively dama</a:t>
            </a:r>
            <a:r>
              <a:rPr lang="en-US" sz="3200" dirty="0">
                <a:solidFill>
                  <a:srgbClr val="181818"/>
                </a:solidFill>
                <a:latin typeface="Merriweather" panose="020F0502020204030204" pitchFamily="2" charset="0"/>
              </a:rPr>
              <a:t>ging</a:t>
            </a:r>
            <a:endParaRPr lang="en-US" sz="3200" b="0" dirty="0">
              <a:solidFill>
                <a:srgbClr val="181818"/>
              </a:solidFill>
              <a:effectLst/>
              <a:latin typeface="Merriweather" panose="020F0502020204030204" pitchFamily="2" charset="0"/>
            </a:endParaRPr>
          </a:p>
        </p:txBody>
      </p:sp>
    </p:spTree>
    <p:extLst>
      <p:ext uri="{BB962C8B-B14F-4D97-AF65-F5344CB8AC3E}">
        <p14:creationId xmlns:p14="http://schemas.microsoft.com/office/powerpoint/2010/main" val="926808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F36B9-D413-963F-710E-229F39126C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89F20E-76F7-2DCC-B38D-8E1E1855EC70}"/>
              </a:ext>
            </a:extLst>
          </p:cNvPr>
          <p:cNvSpPr txBox="1"/>
          <p:nvPr/>
        </p:nvSpPr>
        <p:spPr>
          <a:xfrm>
            <a:off x="128229" y="1228397"/>
            <a:ext cx="6842197" cy="4401205"/>
          </a:xfrm>
          <a:prstGeom prst="rect">
            <a:avLst/>
          </a:prstGeom>
          <a:noFill/>
        </p:spPr>
        <p:txBody>
          <a:bodyPr wrap="square" rtlCol="0">
            <a:spAutoFit/>
          </a:bodyPr>
          <a:lstStyle/>
          <a:p>
            <a:r>
              <a:rPr lang="en-US" sz="3200" b="0" i="0" dirty="0">
                <a:solidFill>
                  <a:srgbClr val="181818"/>
                </a:solidFill>
                <a:effectLst/>
                <a:latin typeface="Merriweather" panose="020F0502020204030204" pitchFamily="2" charset="0"/>
              </a:rPr>
              <a:t>“Never hug and kiss them, never let them sit in your lap. If you must, kiss them once on the forehead when they say good night. Shake hands with them in the morning.”</a:t>
            </a:r>
          </a:p>
          <a:p>
            <a:endParaRPr lang="en-US" sz="3200" b="0" i="0" dirty="0">
              <a:solidFill>
                <a:srgbClr val="181818"/>
              </a:solidFill>
              <a:effectLst/>
              <a:latin typeface="Merriweather" panose="020F0502020204030204" pitchFamily="2" charset="0"/>
            </a:endParaRPr>
          </a:p>
          <a:p>
            <a:pPr algn="r"/>
            <a:r>
              <a:rPr lang="en-US" sz="3200" dirty="0">
                <a:solidFill>
                  <a:srgbClr val="181818"/>
                </a:solidFill>
                <a:latin typeface="Merriweather" panose="020F0502020204030204" pitchFamily="2" charset="0"/>
              </a:rPr>
              <a:t>-J. Watson, </a:t>
            </a:r>
            <a:r>
              <a:rPr lang="en-US" sz="3200" b="0" i="0" dirty="0">
                <a:solidFill>
                  <a:srgbClr val="181818"/>
                </a:solidFill>
                <a:effectLst/>
                <a:latin typeface="Merriweather" panose="020F0502020204030204" pitchFamily="2" charset="0"/>
              </a:rPr>
              <a:t>1928</a:t>
            </a:r>
          </a:p>
          <a:p>
            <a:pPr algn="r"/>
            <a:r>
              <a:rPr lang="en-US" sz="2400" b="0" i="1" dirty="0">
                <a:solidFill>
                  <a:srgbClr val="181818"/>
                </a:solidFill>
                <a:effectLst/>
                <a:latin typeface="Merriweather" panose="020F0502020204030204" pitchFamily="2" charset="0"/>
              </a:rPr>
              <a:t>“Psychological Care of Infant and Child”</a:t>
            </a:r>
          </a:p>
        </p:txBody>
      </p:sp>
    </p:spTree>
    <p:extLst>
      <p:ext uri="{BB962C8B-B14F-4D97-AF65-F5344CB8AC3E}">
        <p14:creationId xmlns:p14="http://schemas.microsoft.com/office/powerpoint/2010/main" val="1205525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8EB63-B8B3-0C24-A93D-D619FE9439C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EEA94DD-05D1-15D9-319C-991A9983043B}"/>
              </a:ext>
            </a:extLst>
          </p:cNvPr>
          <p:cNvSpPr txBox="1"/>
          <p:nvPr/>
        </p:nvSpPr>
        <p:spPr>
          <a:xfrm>
            <a:off x="77118" y="88134"/>
            <a:ext cx="6578516" cy="6370975"/>
          </a:xfrm>
          <a:prstGeom prst="rect">
            <a:avLst/>
          </a:prstGeom>
          <a:noFill/>
        </p:spPr>
        <p:txBody>
          <a:bodyPr wrap="square" rtlCol="0">
            <a:spAutoFit/>
          </a:bodyPr>
          <a:lstStyle/>
          <a:p>
            <a:r>
              <a:rPr lang="en-US" sz="3200" b="0" i="0" dirty="0">
                <a:solidFill>
                  <a:srgbClr val="181818"/>
                </a:solidFill>
                <a:effectLst/>
                <a:latin typeface="Merriweather" panose="020F0502020204030204" pitchFamily="2" charset="0"/>
              </a:rPr>
              <a:t>“[Mother love is] a dangerous instrument which may inflict a never-healing wound, a wound which may make infancy unhappy, adolescence a nightmare, an instrument which may wreck your adult son or daughter’s vocational future and their chances for marital happiness.”</a:t>
            </a:r>
          </a:p>
          <a:p>
            <a:endParaRPr lang="en-US" sz="3200" b="0" i="0" dirty="0">
              <a:solidFill>
                <a:srgbClr val="181818"/>
              </a:solidFill>
              <a:effectLst/>
              <a:latin typeface="Merriweather" panose="020F0502020204030204" pitchFamily="2" charset="0"/>
            </a:endParaRPr>
          </a:p>
          <a:p>
            <a:pPr algn="r"/>
            <a:r>
              <a:rPr lang="en-US" sz="3200" dirty="0">
                <a:solidFill>
                  <a:srgbClr val="181818"/>
                </a:solidFill>
                <a:latin typeface="Merriweather" panose="020F0502020204030204" pitchFamily="2" charset="0"/>
              </a:rPr>
              <a:t>-J. Watson, </a:t>
            </a:r>
            <a:r>
              <a:rPr lang="en-US" sz="3200" b="0" i="0" dirty="0">
                <a:solidFill>
                  <a:srgbClr val="181818"/>
                </a:solidFill>
                <a:effectLst/>
                <a:latin typeface="Merriweather" panose="020F0502020204030204" pitchFamily="2" charset="0"/>
              </a:rPr>
              <a:t>1928</a:t>
            </a:r>
          </a:p>
          <a:p>
            <a:pPr algn="r"/>
            <a:r>
              <a:rPr lang="en-US" sz="2400" b="0" i="1" dirty="0">
                <a:solidFill>
                  <a:srgbClr val="181818"/>
                </a:solidFill>
                <a:effectLst/>
                <a:latin typeface="Merriweather" panose="020F0502020204030204" pitchFamily="2" charset="0"/>
              </a:rPr>
              <a:t>“Psychological Care of Infant and Child”</a:t>
            </a:r>
          </a:p>
        </p:txBody>
      </p:sp>
    </p:spTree>
    <p:extLst>
      <p:ext uri="{BB962C8B-B14F-4D97-AF65-F5344CB8AC3E}">
        <p14:creationId xmlns:p14="http://schemas.microsoft.com/office/powerpoint/2010/main" val="3823775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BE0BD-3889-2901-9EF0-13C601C96F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9001422-3E18-6A09-C1E3-FCE6783A4344}"/>
              </a:ext>
            </a:extLst>
          </p:cNvPr>
          <p:cNvSpPr txBox="1"/>
          <p:nvPr/>
        </p:nvSpPr>
        <p:spPr>
          <a:xfrm>
            <a:off x="0" y="489734"/>
            <a:ext cx="6835515" cy="6247864"/>
          </a:xfrm>
          <a:prstGeom prst="rect">
            <a:avLst/>
          </a:prstGeom>
          <a:noFill/>
        </p:spPr>
        <p:txBody>
          <a:bodyPr wrap="square" rtlCol="0">
            <a:spAutoFit/>
          </a:bodyPr>
          <a:lstStyle/>
          <a:p>
            <a:r>
              <a:rPr lang="en-US" sz="2400" b="0" i="0" dirty="0">
                <a:effectLst/>
                <a:latin typeface="Merriweather" panose="00000500000000000000" pitchFamily="2" charset="0"/>
              </a:rPr>
              <a:t>“No matter how much [the mother] may love her husband, he is away all day; her heart is full of love which she must express in some way. She expresses it by showering love and kisses upon her children— and thinks the world should laud her for it. And it does. Not long ago, I went motoring with two boys, aged four and two, their mother, grandmother and nurse. In the course of the two-hour ride, one of the children was kissed thirty-two times—four by his mother, eight by the nurse and twenty times by the grandmother. The other child was almost equally smothered in love.” </a:t>
            </a:r>
          </a:p>
          <a:p>
            <a:endParaRPr lang="en-US" sz="2400" b="0" i="0" dirty="0">
              <a:effectLst/>
              <a:latin typeface="Merriweather" panose="00000500000000000000" pitchFamily="2" charset="0"/>
            </a:endParaRPr>
          </a:p>
          <a:p>
            <a:pPr algn="r"/>
            <a:r>
              <a:rPr lang="en-US" sz="2000" dirty="0">
                <a:solidFill>
                  <a:srgbClr val="181818"/>
                </a:solidFill>
                <a:latin typeface="Merriweather" panose="020F0502020204030204" pitchFamily="2" charset="0"/>
              </a:rPr>
              <a:t>-J. Watson, </a:t>
            </a:r>
            <a:r>
              <a:rPr lang="en-US" sz="2000" b="0" i="0" dirty="0">
                <a:solidFill>
                  <a:srgbClr val="181818"/>
                </a:solidFill>
                <a:effectLst/>
                <a:latin typeface="Merriweather" panose="020F0502020204030204" pitchFamily="2" charset="0"/>
              </a:rPr>
              <a:t>1928</a:t>
            </a:r>
          </a:p>
          <a:p>
            <a:pPr algn="r"/>
            <a:r>
              <a:rPr lang="en-US" sz="2000" b="0" i="1" dirty="0">
                <a:solidFill>
                  <a:srgbClr val="181818"/>
                </a:solidFill>
                <a:effectLst/>
                <a:latin typeface="Merriweather" panose="020F0502020204030204" pitchFamily="2" charset="0"/>
              </a:rPr>
              <a:t>“Psychological Care of Infant and Child”</a:t>
            </a:r>
          </a:p>
        </p:txBody>
      </p:sp>
    </p:spTree>
    <p:extLst>
      <p:ext uri="{BB962C8B-B14F-4D97-AF65-F5344CB8AC3E}">
        <p14:creationId xmlns:p14="http://schemas.microsoft.com/office/powerpoint/2010/main" val="1270869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B5419-8A3F-7044-7F64-916E665B1115}"/>
            </a:ext>
          </a:extLst>
        </p:cNvPr>
        <p:cNvGrpSpPr/>
        <p:nvPr/>
      </p:nvGrpSpPr>
      <p:grpSpPr>
        <a:xfrm>
          <a:off x="0" y="0"/>
          <a:ext cx="0" cy="0"/>
          <a:chOff x="0" y="0"/>
          <a:chExt cx="0" cy="0"/>
        </a:xfrm>
      </p:grpSpPr>
      <p:grpSp>
        <p:nvGrpSpPr>
          <p:cNvPr id="26" name="Group 25">
            <a:extLst>
              <a:ext uri="{FF2B5EF4-FFF2-40B4-BE49-F238E27FC236}">
                <a16:creationId xmlns:a16="http://schemas.microsoft.com/office/drawing/2014/main" id="{F697C0D0-7B30-ADDA-B6A5-9A51FC365C6B}"/>
              </a:ext>
            </a:extLst>
          </p:cNvPr>
          <p:cNvGrpSpPr/>
          <p:nvPr/>
        </p:nvGrpSpPr>
        <p:grpSpPr>
          <a:xfrm>
            <a:off x="6306536" y="491836"/>
            <a:ext cx="5465239" cy="3390734"/>
            <a:chOff x="6788472" y="427905"/>
            <a:chExt cx="5465239" cy="3390734"/>
          </a:xfrm>
        </p:grpSpPr>
        <p:grpSp>
          <p:nvGrpSpPr>
            <p:cNvPr id="13" name="Group 12">
              <a:extLst>
                <a:ext uri="{FF2B5EF4-FFF2-40B4-BE49-F238E27FC236}">
                  <a16:creationId xmlns:a16="http://schemas.microsoft.com/office/drawing/2014/main" id="{1284EC1F-D0EF-E6F6-98F6-0C4A195D4523}"/>
                </a:ext>
              </a:extLst>
            </p:cNvPr>
            <p:cNvGrpSpPr/>
            <p:nvPr/>
          </p:nvGrpSpPr>
          <p:grpSpPr>
            <a:xfrm>
              <a:off x="6788472" y="427905"/>
              <a:ext cx="2751280" cy="3390734"/>
              <a:chOff x="6054869" y="346481"/>
              <a:chExt cx="2751280" cy="3390734"/>
            </a:xfrm>
          </p:grpSpPr>
          <p:sp>
            <p:nvSpPr>
              <p:cNvPr id="6" name="TextBox 5">
                <a:extLst>
                  <a:ext uri="{FF2B5EF4-FFF2-40B4-BE49-F238E27FC236}">
                    <a16:creationId xmlns:a16="http://schemas.microsoft.com/office/drawing/2014/main" id="{EB6DD565-4677-00A6-A0EA-5C2860632897}"/>
                  </a:ext>
                </a:extLst>
              </p:cNvPr>
              <p:cNvSpPr txBox="1"/>
              <p:nvPr/>
            </p:nvSpPr>
            <p:spPr>
              <a:xfrm>
                <a:off x="6054869" y="3337105"/>
                <a:ext cx="2710149" cy="400110"/>
              </a:xfrm>
              <a:prstGeom prst="rect">
                <a:avLst/>
              </a:prstGeom>
              <a:noFill/>
            </p:spPr>
            <p:txBody>
              <a:bodyPr wrap="square" rtlCol="0">
                <a:spAutoFit/>
              </a:bodyPr>
              <a:lstStyle/>
              <a:p>
                <a:pPr algn="ctr"/>
                <a:r>
                  <a:rPr lang="en-US" sz="2000" b="1" i="1" dirty="0">
                    <a:solidFill>
                      <a:srgbClr val="181818"/>
                    </a:solidFill>
                    <a:latin typeface="Merriweather" panose="020F0502020204030204" pitchFamily="2" charset="0"/>
                  </a:rPr>
                  <a:t>Benjamin Spock</a:t>
                </a:r>
                <a:endParaRPr lang="en-US" sz="2000" b="1" i="1" dirty="0">
                  <a:solidFill>
                    <a:srgbClr val="181818"/>
                  </a:solidFill>
                  <a:effectLst/>
                  <a:latin typeface="Merriweather" panose="020F0502020204030204" pitchFamily="2" charset="0"/>
                </a:endParaRPr>
              </a:p>
            </p:txBody>
          </p:sp>
          <p:pic>
            <p:nvPicPr>
              <p:cNvPr id="6158" name="Picture 14" descr="Spock's Baby | Pitt Med | University of Pittsburgh">
                <a:extLst>
                  <a:ext uri="{FF2B5EF4-FFF2-40B4-BE49-F238E27FC236}">
                    <a16:creationId xmlns:a16="http://schemas.microsoft.com/office/drawing/2014/main" id="{98C4D099-F1D5-DD9D-AA62-1023C7B324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46481"/>
                <a:ext cx="2710149" cy="2945814"/>
              </a:xfrm>
              <a:prstGeom prst="rect">
                <a:avLst/>
              </a:prstGeom>
              <a:noFill/>
              <a:extLst>
                <a:ext uri="{909E8E84-426E-40DD-AFC4-6F175D3DCCD1}">
                  <a14:hiddenFill xmlns:a14="http://schemas.microsoft.com/office/drawing/2010/main">
                    <a:solidFill>
                      <a:srgbClr val="FFFFFF"/>
                    </a:solidFill>
                  </a14:hiddenFill>
                </a:ext>
              </a:extLst>
            </p:spPr>
          </p:pic>
        </p:grpSp>
        <p:sp>
          <p:nvSpPr>
            <p:cNvPr id="17" name="TextBox 16">
              <a:extLst>
                <a:ext uri="{FF2B5EF4-FFF2-40B4-BE49-F238E27FC236}">
                  <a16:creationId xmlns:a16="http://schemas.microsoft.com/office/drawing/2014/main" id="{4F9573B1-AA2C-04F4-CBCB-E2004C026134}"/>
                </a:ext>
              </a:extLst>
            </p:cNvPr>
            <p:cNvSpPr txBox="1"/>
            <p:nvPr/>
          </p:nvSpPr>
          <p:spPr>
            <a:xfrm>
              <a:off x="9543562" y="673874"/>
              <a:ext cx="2710149" cy="1015663"/>
            </a:xfrm>
            <a:prstGeom prst="rect">
              <a:avLst/>
            </a:prstGeom>
            <a:noFill/>
          </p:spPr>
          <p:txBody>
            <a:bodyPr wrap="square" rtlCol="0">
              <a:spAutoFit/>
            </a:bodyPr>
            <a:lstStyle/>
            <a:p>
              <a:r>
                <a:rPr lang="en-US" sz="2000" b="0" i="1" dirty="0">
                  <a:solidFill>
                    <a:srgbClr val="181818"/>
                  </a:solidFill>
                  <a:effectLst/>
                  <a:latin typeface="Merriweather" panose="020F0502020204030204" pitchFamily="2" charset="0"/>
                </a:rPr>
                <a:t>“Common Sense approach to C</a:t>
              </a:r>
              <a:r>
                <a:rPr lang="en-US" sz="2000" i="1" dirty="0">
                  <a:solidFill>
                    <a:srgbClr val="181818"/>
                  </a:solidFill>
                  <a:latin typeface="Merriweather" panose="020F0502020204030204" pitchFamily="2" charset="0"/>
                </a:rPr>
                <a:t>hild Rearing” 1946</a:t>
              </a:r>
              <a:endParaRPr lang="en-US" sz="2000" b="0" i="1" dirty="0">
                <a:solidFill>
                  <a:srgbClr val="181818"/>
                </a:solidFill>
                <a:effectLst/>
                <a:latin typeface="Merriweather" panose="020F0502020204030204" pitchFamily="2" charset="0"/>
              </a:endParaRPr>
            </a:p>
          </p:txBody>
        </p:sp>
      </p:grpSp>
      <p:grpSp>
        <p:nvGrpSpPr>
          <p:cNvPr id="24" name="Group 23">
            <a:extLst>
              <a:ext uri="{FF2B5EF4-FFF2-40B4-BE49-F238E27FC236}">
                <a16:creationId xmlns:a16="http://schemas.microsoft.com/office/drawing/2014/main" id="{EC3B9C76-7667-B93B-24B9-4FDBAB38A57E}"/>
              </a:ext>
            </a:extLst>
          </p:cNvPr>
          <p:cNvGrpSpPr/>
          <p:nvPr/>
        </p:nvGrpSpPr>
        <p:grpSpPr>
          <a:xfrm>
            <a:off x="0" y="-21112"/>
            <a:ext cx="5716989" cy="3484923"/>
            <a:chOff x="175929" y="-66394"/>
            <a:chExt cx="5716989" cy="3484923"/>
          </a:xfrm>
        </p:grpSpPr>
        <p:grpSp>
          <p:nvGrpSpPr>
            <p:cNvPr id="15" name="Group 14">
              <a:extLst>
                <a:ext uri="{FF2B5EF4-FFF2-40B4-BE49-F238E27FC236}">
                  <a16:creationId xmlns:a16="http://schemas.microsoft.com/office/drawing/2014/main" id="{D26FD9F8-1D38-FEF1-1370-57F625F2CCE3}"/>
                </a:ext>
              </a:extLst>
            </p:cNvPr>
            <p:cNvGrpSpPr/>
            <p:nvPr/>
          </p:nvGrpSpPr>
          <p:grpSpPr>
            <a:xfrm>
              <a:off x="175929" y="-66394"/>
              <a:ext cx="3048000" cy="3484923"/>
              <a:chOff x="148360" y="210508"/>
              <a:chExt cx="3048000" cy="3484923"/>
            </a:xfrm>
          </p:grpSpPr>
          <p:sp>
            <p:nvSpPr>
              <p:cNvPr id="4" name="TextBox 3">
                <a:extLst>
                  <a:ext uri="{FF2B5EF4-FFF2-40B4-BE49-F238E27FC236}">
                    <a16:creationId xmlns:a16="http://schemas.microsoft.com/office/drawing/2014/main" id="{C6F93769-A75D-B2DA-E922-0436793C5CDC}"/>
                  </a:ext>
                </a:extLst>
              </p:cNvPr>
              <p:cNvSpPr txBox="1"/>
              <p:nvPr/>
            </p:nvSpPr>
            <p:spPr>
              <a:xfrm>
                <a:off x="148360" y="3295321"/>
                <a:ext cx="2710149" cy="400110"/>
              </a:xfrm>
              <a:prstGeom prst="rect">
                <a:avLst/>
              </a:prstGeom>
              <a:noFill/>
            </p:spPr>
            <p:txBody>
              <a:bodyPr wrap="square" rtlCol="0">
                <a:spAutoFit/>
              </a:bodyPr>
              <a:lstStyle/>
              <a:p>
                <a:pPr algn="ctr"/>
                <a:r>
                  <a:rPr lang="en-US" sz="2000" b="1" i="1" dirty="0">
                    <a:solidFill>
                      <a:srgbClr val="181818"/>
                    </a:solidFill>
                    <a:latin typeface="Merriweather" panose="020F0502020204030204" pitchFamily="2" charset="0"/>
                  </a:rPr>
                  <a:t>John Bowlby</a:t>
                </a:r>
                <a:endParaRPr lang="en-US" sz="2000" b="1" i="1" dirty="0">
                  <a:solidFill>
                    <a:srgbClr val="181818"/>
                  </a:solidFill>
                  <a:effectLst/>
                  <a:latin typeface="Merriweather" panose="020F0502020204030204" pitchFamily="2" charset="0"/>
                </a:endParaRPr>
              </a:p>
            </p:txBody>
          </p:sp>
          <p:pic>
            <p:nvPicPr>
              <p:cNvPr id="6162" name="Picture 18" descr="PDF) John Bowlby meets the world: report of his travels for the WHO in 1950">
                <a:extLst>
                  <a:ext uri="{FF2B5EF4-FFF2-40B4-BE49-F238E27FC236}">
                    <a16:creationId xmlns:a16="http://schemas.microsoft.com/office/drawing/2014/main" id="{0156785E-BD9E-3AF0-FF27-268CB5D668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360" y="210508"/>
                <a:ext cx="3048000" cy="3048000"/>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TextBox 17">
              <a:extLst>
                <a:ext uri="{FF2B5EF4-FFF2-40B4-BE49-F238E27FC236}">
                  <a16:creationId xmlns:a16="http://schemas.microsoft.com/office/drawing/2014/main" id="{8126BEA3-CF6F-62FF-1558-80A8EE78643D}"/>
                </a:ext>
              </a:extLst>
            </p:cNvPr>
            <p:cNvSpPr txBox="1"/>
            <p:nvPr/>
          </p:nvSpPr>
          <p:spPr>
            <a:xfrm>
              <a:off x="3182769" y="446554"/>
              <a:ext cx="2710149" cy="1323439"/>
            </a:xfrm>
            <a:prstGeom prst="rect">
              <a:avLst/>
            </a:prstGeom>
            <a:noFill/>
          </p:spPr>
          <p:txBody>
            <a:bodyPr wrap="square" rtlCol="0">
              <a:spAutoFit/>
            </a:bodyPr>
            <a:lstStyle/>
            <a:p>
              <a:r>
                <a:rPr lang="en-US" sz="2000" b="0" i="1" dirty="0">
                  <a:solidFill>
                    <a:srgbClr val="181818"/>
                  </a:solidFill>
                  <a:effectLst/>
                  <a:latin typeface="Merriweather" panose="020F0502020204030204" pitchFamily="2" charset="0"/>
                </a:rPr>
                <a:t>WHO Report on Maternal Care and Mental Health</a:t>
              </a:r>
            </a:p>
            <a:p>
              <a:r>
                <a:rPr lang="en-US" sz="2000" i="1" dirty="0">
                  <a:solidFill>
                    <a:srgbClr val="181818"/>
                  </a:solidFill>
                  <a:latin typeface="Merriweather" panose="020F0502020204030204" pitchFamily="2" charset="0"/>
                </a:rPr>
                <a:t>(1951)</a:t>
              </a:r>
              <a:endParaRPr lang="en-US" sz="2000" b="0" i="1" dirty="0">
                <a:solidFill>
                  <a:srgbClr val="181818"/>
                </a:solidFill>
                <a:effectLst/>
                <a:latin typeface="Merriweather" panose="020F0502020204030204" pitchFamily="2" charset="0"/>
              </a:endParaRPr>
            </a:p>
          </p:txBody>
        </p:sp>
      </p:grpSp>
      <p:grpSp>
        <p:nvGrpSpPr>
          <p:cNvPr id="25" name="Group 24">
            <a:extLst>
              <a:ext uri="{FF2B5EF4-FFF2-40B4-BE49-F238E27FC236}">
                <a16:creationId xmlns:a16="http://schemas.microsoft.com/office/drawing/2014/main" id="{25E0F288-9E20-529D-98D5-05F66EA80C7F}"/>
              </a:ext>
            </a:extLst>
          </p:cNvPr>
          <p:cNvGrpSpPr/>
          <p:nvPr/>
        </p:nvGrpSpPr>
        <p:grpSpPr>
          <a:xfrm>
            <a:off x="0" y="3653899"/>
            <a:ext cx="7165298" cy="3258628"/>
            <a:chOff x="2899641" y="3599493"/>
            <a:chExt cx="7165298" cy="3258628"/>
          </a:xfrm>
        </p:grpSpPr>
        <p:grpSp>
          <p:nvGrpSpPr>
            <p:cNvPr id="16" name="Group 15">
              <a:extLst>
                <a:ext uri="{FF2B5EF4-FFF2-40B4-BE49-F238E27FC236}">
                  <a16:creationId xmlns:a16="http://schemas.microsoft.com/office/drawing/2014/main" id="{DCE0E67D-9A72-ADA7-0C04-27DF9796F77B}"/>
                </a:ext>
              </a:extLst>
            </p:cNvPr>
            <p:cNvGrpSpPr/>
            <p:nvPr/>
          </p:nvGrpSpPr>
          <p:grpSpPr>
            <a:xfrm>
              <a:off x="2899641" y="3599493"/>
              <a:ext cx="3706381" cy="3258628"/>
              <a:chOff x="2602200" y="3548692"/>
              <a:chExt cx="3706381" cy="3258628"/>
            </a:xfrm>
          </p:grpSpPr>
          <p:sp>
            <p:nvSpPr>
              <p:cNvPr id="5" name="TextBox 4">
                <a:extLst>
                  <a:ext uri="{FF2B5EF4-FFF2-40B4-BE49-F238E27FC236}">
                    <a16:creationId xmlns:a16="http://schemas.microsoft.com/office/drawing/2014/main" id="{88720E5A-59C1-40A1-F699-F9607723CAAA}"/>
                  </a:ext>
                </a:extLst>
              </p:cNvPr>
              <p:cNvSpPr txBox="1"/>
              <p:nvPr/>
            </p:nvSpPr>
            <p:spPr>
              <a:xfrm>
                <a:off x="3025063" y="6407210"/>
                <a:ext cx="2710149" cy="400110"/>
              </a:xfrm>
              <a:prstGeom prst="rect">
                <a:avLst/>
              </a:prstGeom>
              <a:noFill/>
            </p:spPr>
            <p:txBody>
              <a:bodyPr wrap="square" rtlCol="0">
                <a:spAutoFit/>
              </a:bodyPr>
              <a:lstStyle/>
              <a:p>
                <a:pPr algn="ctr"/>
                <a:r>
                  <a:rPr lang="en-US" sz="2000" b="1" i="1" dirty="0">
                    <a:solidFill>
                      <a:srgbClr val="181818"/>
                    </a:solidFill>
                    <a:latin typeface="Merriweather" panose="020F0502020204030204" pitchFamily="2" charset="0"/>
                  </a:rPr>
                  <a:t>Rene Spitz</a:t>
                </a:r>
                <a:endParaRPr lang="en-US" sz="2000" b="1" i="1" dirty="0">
                  <a:solidFill>
                    <a:srgbClr val="181818"/>
                  </a:solidFill>
                  <a:effectLst/>
                  <a:latin typeface="Merriweather" panose="020F0502020204030204" pitchFamily="2" charset="0"/>
                </a:endParaRPr>
              </a:p>
            </p:txBody>
          </p:sp>
          <p:pic>
            <p:nvPicPr>
              <p:cNvPr id="6156" name="Picture 12" descr="Absence maternelle et traumatisme de l'enfance | Canal U">
                <a:extLst>
                  <a:ext uri="{FF2B5EF4-FFF2-40B4-BE49-F238E27FC236}">
                    <a16:creationId xmlns:a16="http://schemas.microsoft.com/office/drawing/2014/main" id="{310297EA-2AF9-5224-343D-5E798E9789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2200" y="3548692"/>
                <a:ext cx="3706381" cy="2757547"/>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extBox 18">
              <a:extLst>
                <a:ext uri="{FF2B5EF4-FFF2-40B4-BE49-F238E27FC236}">
                  <a16:creationId xmlns:a16="http://schemas.microsoft.com/office/drawing/2014/main" id="{16E58E70-2605-3B53-BCDA-0728D916E2BE}"/>
                </a:ext>
              </a:extLst>
            </p:cNvPr>
            <p:cNvSpPr txBox="1"/>
            <p:nvPr/>
          </p:nvSpPr>
          <p:spPr>
            <a:xfrm>
              <a:off x="6606023" y="4404545"/>
              <a:ext cx="3458916" cy="1631216"/>
            </a:xfrm>
            <a:prstGeom prst="rect">
              <a:avLst/>
            </a:prstGeom>
            <a:noFill/>
          </p:spPr>
          <p:txBody>
            <a:bodyPr wrap="square" rtlCol="0">
              <a:spAutoFit/>
            </a:bodyPr>
            <a:lstStyle/>
            <a:p>
              <a:r>
                <a:rPr lang="en-US" sz="2000" b="0" i="1" dirty="0">
                  <a:solidFill>
                    <a:srgbClr val="181818"/>
                  </a:solidFill>
                  <a:effectLst/>
                  <a:latin typeface="Merriweather" panose="020F0502020204030204" pitchFamily="2" charset="0"/>
                </a:rPr>
                <a:t>Studied institutionalized infants starting in 1945. Film “Psychogenic Disease in Infancy” (1952) showed his recorded research.</a:t>
              </a:r>
            </a:p>
          </p:txBody>
        </p:sp>
      </p:grpSp>
    </p:spTree>
    <p:extLst>
      <p:ext uri="{BB962C8B-B14F-4D97-AF65-F5344CB8AC3E}">
        <p14:creationId xmlns:p14="http://schemas.microsoft.com/office/powerpoint/2010/main" val="2328744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2A8D32E-2276-40A3-A085-B2BC567299E4}"/>
              </a:ext>
            </a:extLst>
          </p:cNvPr>
          <p:cNvGrpSpPr/>
          <p:nvPr/>
        </p:nvGrpSpPr>
        <p:grpSpPr>
          <a:xfrm>
            <a:off x="174234" y="1297766"/>
            <a:ext cx="4756413" cy="2973928"/>
            <a:chOff x="-57087" y="669116"/>
            <a:chExt cx="4756413" cy="2973928"/>
          </a:xfrm>
        </p:grpSpPr>
        <p:pic>
          <p:nvPicPr>
            <p:cNvPr id="6146" name="Picture 2" descr="Deconstructing Harry | American Scientist">
              <a:extLst>
                <a:ext uri="{FF2B5EF4-FFF2-40B4-BE49-F238E27FC236}">
                  <a16:creationId xmlns:a16="http://schemas.microsoft.com/office/drawing/2014/main" id="{DF86CF68-DAE5-6EB7-1797-9998EF8BB8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87" y="669116"/>
              <a:ext cx="2391038" cy="29739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D5011C2-2DF1-0935-CF06-91A81CAE0DB1}"/>
                </a:ext>
              </a:extLst>
            </p:cNvPr>
            <p:cNvSpPr txBox="1"/>
            <p:nvPr/>
          </p:nvSpPr>
          <p:spPr>
            <a:xfrm>
              <a:off x="1989177" y="3242934"/>
              <a:ext cx="2710149" cy="400110"/>
            </a:xfrm>
            <a:prstGeom prst="rect">
              <a:avLst/>
            </a:prstGeom>
            <a:noFill/>
          </p:spPr>
          <p:txBody>
            <a:bodyPr wrap="square" rtlCol="0">
              <a:spAutoFit/>
            </a:bodyPr>
            <a:lstStyle/>
            <a:p>
              <a:pPr algn="ctr"/>
              <a:r>
                <a:rPr lang="en-US" sz="2000" i="1" dirty="0">
                  <a:solidFill>
                    <a:srgbClr val="181818"/>
                  </a:solidFill>
                  <a:latin typeface="Merriweather" panose="020F0502020204030204" pitchFamily="2" charset="0"/>
                </a:rPr>
                <a:t>Harry Harlow</a:t>
              </a:r>
              <a:endParaRPr lang="en-US" sz="2000" b="0" i="1" dirty="0">
                <a:solidFill>
                  <a:srgbClr val="181818"/>
                </a:solidFill>
                <a:effectLst/>
                <a:latin typeface="Merriweather" panose="020F0502020204030204" pitchFamily="2" charset="0"/>
              </a:endParaRPr>
            </a:p>
          </p:txBody>
        </p:sp>
      </p:grpSp>
      <p:sp>
        <p:nvSpPr>
          <p:cNvPr id="2" name="TextBox 1">
            <a:extLst>
              <a:ext uri="{FF2B5EF4-FFF2-40B4-BE49-F238E27FC236}">
                <a16:creationId xmlns:a16="http://schemas.microsoft.com/office/drawing/2014/main" id="{F92BE7EA-572E-4A69-D01C-CD5E6D7428FF}"/>
              </a:ext>
            </a:extLst>
          </p:cNvPr>
          <p:cNvSpPr txBox="1"/>
          <p:nvPr/>
        </p:nvSpPr>
        <p:spPr>
          <a:xfrm>
            <a:off x="187681" y="357548"/>
            <a:ext cx="8161662" cy="707886"/>
          </a:xfrm>
          <a:prstGeom prst="rect">
            <a:avLst/>
          </a:prstGeom>
          <a:noFill/>
        </p:spPr>
        <p:txBody>
          <a:bodyPr wrap="square" rtlCol="0">
            <a:spAutoFit/>
          </a:bodyPr>
          <a:lstStyle/>
          <a:p>
            <a:r>
              <a:rPr lang="en-AU" sz="4000" dirty="0">
                <a:latin typeface="Merriweather" panose="00000500000000000000" pitchFamily="2" charset="0"/>
              </a:rPr>
              <a:t>Along Came Harlow…</a:t>
            </a:r>
          </a:p>
        </p:txBody>
      </p:sp>
      <p:sp>
        <p:nvSpPr>
          <p:cNvPr id="4" name="TextBox 3">
            <a:extLst>
              <a:ext uri="{FF2B5EF4-FFF2-40B4-BE49-F238E27FC236}">
                <a16:creationId xmlns:a16="http://schemas.microsoft.com/office/drawing/2014/main" id="{64B815AA-A80C-9C52-72B9-0CF7E6E19D04}"/>
              </a:ext>
            </a:extLst>
          </p:cNvPr>
          <p:cNvSpPr txBox="1"/>
          <p:nvPr/>
        </p:nvSpPr>
        <p:spPr>
          <a:xfrm>
            <a:off x="187681" y="4653300"/>
            <a:ext cx="8032520" cy="1938992"/>
          </a:xfrm>
          <a:prstGeom prst="rect">
            <a:avLst/>
          </a:prstGeom>
          <a:noFill/>
        </p:spPr>
        <p:txBody>
          <a:bodyPr wrap="square" rtlCol="0">
            <a:spAutoFit/>
          </a:bodyPr>
          <a:lstStyle/>
          <a:p>
            <a:r>
              <a:rPr lang="en-US" sz="2400" b="0" u="sng" dirty="0">
                <a:solidFill>
                  <a:srgbClr val="181818"/>
                </a:solidFill>
                <a:effectLst/>
                <a:latin typeface="Merriweather" panose="020F0502020204030204" pitchFamily="2" charset="0"/>
              </a:rPr>
              <a:t>The Nature of Love</a:t>
            </a:r>
          </a:p>
          <a:p>
            <a:pPr marL="457200" indent="-457200">
              <a:buFont typeface="Arial" panose="020B0604020202020204" pitchFamily="34" charset="0"/>
              <a:buChar char="•"/>
            </a:pPr>
            <a:r>
              <a:rPr lang="en-US" sz="2400" dirty="0">
                <a:solidFill>
                  <a:srgbClr val="181818"/>
                </a:solidFill>
                <a:latin typeface="Merriweather" panose="020F0502020204030204" pitchFamily="2" charset="0"/>
              </a:rPr>
              <a:t>Harry Harlow (1958)</a:t>
            </a:r>
          </a:p>
          <a:p>
            <a:pPr marL="914400" lvl="1" indent="-457200">
              <a:buFont typeface="Arial" panose="020B0604020202020204" pitchFamily="34" charset="0"/>
              <a:buChar char="•"/>
            </a:pPr>
            <a:r>
              <a:rPr lang="en-US" sz="2400" dirty="0">
                <a:solidFill>
                  <a:srgbClr val="181818"/>
                </a:solidFill>
                <a:latin typeface="Merriweather" panose="020F0502020204030204" pitchFamily="2" charset="0"/>
              </a:rPr>
              <a:t>30 years after Watson</a:t>
            </a:r>
          </a:p>
          <a:p>
            <a:pPr marL="457200" indent="-457200">
              <a:buFont typeface="Arial" panose="020B0604020202020204" pitchFamily="34" charset="0"/>
              <a:buChar char="•"/>
            </a:pPr>
            <a:r>
              <a:rPr lang="en-US" sz="2400" dirty="0">
                <a:solidFill>
                  <a:srgbClr val="181818"/>
                </a:solidFill>
                <a:latin typeface="Merriweather" panose="020F0502020204030204" pitchFamily="2" charset="0"/>
              </a:rPr>
              <a:t>Described his work with monkeys and the importance of the mother-infant bond</a:t>
            </a:r>
            <a:endParaRPr lang="en-US" sz="2400" b="0" dirty="0">
              <a:solidFill>
                <a:srgbClr val="181818"/>
              </a:solidFill>
              <a:effectLst/>
              <a:latin typeface="Merriweather" panose="020F0502020204030204" pitchFamily="2" charset="0"/>
            </a:endParaRPr>
          </a:p>
        </p:txBody>
      </p:sp>
      <p:pic>
        <p:nvPicPr>
          <p:cNvPr id="7170" name="Picture 2" descr="Animal Studies of Attachment – CGS Psychology Blog: Mrs Harris">
            <a:extLst>
              <a:ext uri="{FF2B5EF4-FFF2-40B4-BE49-F238E27FC236}">
                <a16:creationId xmlns:a16="http://schemas.microsoft.com/office/drawing/2014/main" id="{9EBC0B90-FFEF-38BD-96C1-F28D701188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718" y="1146543"/>
            <a:ext cx="3981450" cy="2643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9096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B265A-5129-BD74-AA38-BC313243E2CF}"/>
              </a:ext>
            </a:extLst>
          </p:cNvPr>
          <p:cNvSpPr>
            <a:spLocks noGrp="1"/>
          </p:cNvSpPr>
          <p:nvPr>
            <p:ph type="title"/>
          </p:nvPr>
        </p:nvSpPr>
        <p:spPr>
          <a:xfrm>
            <a:off x="368300" y="793559"/>
            <a:ext cx="11455400" cy="1325563"/>
          </a:xfrm>
        </p:spPr>
        <p:txBody>
          <a:bodyPr>
            <a:normAutofit fontScale="90000"/>
          </a:bodyPr>
          <a:lstStyle/>
          <a:p>
            <a:r>
              <a:rPr lang="en-AU" dirty="0">
                <a:latin typeface="Merriweather" panose="00000500000000000000" pitchFamily="2" charset="0"/>
              </a:rPr>
              <a:t>Motherhood after Harlow: all good now?</a:t>
            </a:r>
            <a:br>
              <a:rPr lang="en-AU" dirty="0">
                <a:latin typeface="Merriweather" panose="00000500000000000000" pitchFamily="2" charset="0"/>
              </a:rPr>
            </a:br>
            <a:br>
              <a:rPr lang="en-AU" dirty="0">
                <a:latin typeface="Merriweather" panose="00000500000000000000" pitchFamily="2" charset="0"/>
              </a:rPr>
            </a:br>
            <a:r>
              <a:rPr lang="en-AU" i="1" dirty="0">
                <a:latin typeface="Merriweather" panose="00000500000000000000" pitchFamily="2" charset="0"/>
              </a:rPr>
              <a:t>The Age of Maternal Anxiety</a:t>
            </a:r>
          </a:p>
        </p:txBody>
      </p:sp>
    </p:spTree>
    <p:extLst>
      <p:ext uri="{BB962C8B-B14F-4D97-AF65-F5344CB8AC3E}">
        <p14:creationId xmlns:p14="http://schemas.microsoft.com/office/powerpoint/2010/main" val="2522721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77FE1-89EE-A6B2-36B2-7A3EE808FDD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65082A9-F8BE-5193-28A0-B893D7EC4DE4}"/>
              </a:ext>
            </a:extLst>
          </p:cNvPr>
          <p:cNvPicPr>
            <a:picLocks noChangeAspect="1"/>
          </p:cNvPicPr>
          <p:nvPr/>
        </p:nvPicPr>
        <p:blipFill>
          <a:blip r:embed="rId2"/>
          <a:stretch>
            <a:fillRect/>
          </a:stretch>
        </p:blipFill>
        <p:spPr>
          <a:xfrm>
            <a:off x="267359" y="206353"/>
            <a:ext cx="4238186" cy="4013107"/>
          </a:xfrm>
          <a:prstGeom prst="rect">
            <a:avLst/>
          </a:prstGeom>
        </p:spPr>
      </p:pic>
      <p:pic>
        <p:nvPicPr>
          <p:cNvPr id="5" name="Picture 4">
            <a:extLst>
              <a:ext uri="{FF2B5EF4-FFF2-40B4-BE49-F238E27FC236}">
                <a16:creationId xmlns:a16="http://schemas.microsoft.com/office/drawing/2014/main" id="{6383DED0-C4EB-9FE6-0314-5AF3999B44C9}"/>
              </a:ext>
            </a:extLst>
          </p:cNvPr>
          <p:cNvPicPr>
            <a:picLocks noChangeAspect="1"/>
          </p:cNvPicPr>
          <p:nvPr/>
        </p:nvPicPr>
        <p:blipFill>
          <a:blip r:embed="rId3"/>
          <a:stretch>
            <a:fillRect/>
          </a:stretch>
        </p:blipFill>
        <p:spPr>
          <a:xfrm>
            <a:off x="2222634" y="54974"/>
            <a:ext cx="5759411" cy="2884866"/>
          </a:xfrm>
          <a:prstGeom prst="rect">
            <a:avLst/>
          </a:prstGeom>
        </p:spPr>
      </p:pic>
      <p:pic>
        <p:nvPicPr>
          <p:cNvPr id="7" name="Picture 6">
            <a:extLst>
              <a:ext uri="{FF2B5EF4-FFF2-40B4-BE49-F238E27FC236}">
                <a16:creationId xmlns:a16="http://schemas.microsoft.com/office/drawing/2014/main" id="{98210FB9-0D06-5FB1-A4F8-F5096A3053F5}"/>
              </a:ext>
            </a:extLst>
          </p:cNvPr>
          <p:cNvPicPr>
            <a:picLocks noChangeAspect="1"/>
          </p:cNvPicPr>
          <p:nvPr/>
        </p:nvPicPr>
        <p:blipFill>
          <a:blip r:embed="rId4"/>
          <a:stretch>
            <a:fillRect/>
          </a:stretch>
        </p:blipFill>
        <p:spPr>
          <a:xfrm>
            <a:off x="2222634" y="3041420"/>
            <a:ext cx="4565822" cy="3630131"/>
          </a:xfrm>
          <a:prstGeom prst="rect">
            <a:avLst/>
          </a:prstGeom>
        </p:spPr>
      </p:pic>
      <p:pic>
        <p:nvPicPr>
          <p:cNvPr id="11" name="Picture 10">
            <a:extLst>
              <a:ext uri="{FF2B5EF4-FFF2-40B4-BE49-F238E27FC236}">
                <a16:creationId xmlns:a16="http://schemas.microsoft.com/office/drawing/2014/main" id="{44D71DB0-7A50-B508-54CB-9CDCD4A5AB67}"/>
              </a:ext>
            </a:extLst>
          </p:cNvPr>
          <p:cNvPicPr>
            <a:picLocks noChangeAspect="1"/>
          </p:cNvPicPr>
          <p:nvPr/>
        </p:nvPicPr>
        <p:blipFill>
          <a:blip r:embed="rId5"/>
          <a:stretch>
            <a:fillRect/>
          </a:stretch>
        </p:blipFill>
        <p:spPr>
          <a:xfrm>
            <a:off x="103531" y="2141174"/>
            <a:ext cx="6724996" cy="2768742"/>
          </a:xfrm>
          <a:prstGeom prst="rect">
            <a:avLst/>
          </a:prstGeom>
        </p:spPr>
      </p:pic>
      <p:pic>
        <p:nvPicPr>
          <p:cNvPr id="9" name="Picture 8">
            <a:extLst>
              <a:ext uri="{FF2B5EF4-FFF2-40B4-BE49-F238E27FC236}">
                <a16:creationId xmlns:a16="http://schemas.microsoft.com/office/drawing/2014/main" id="{77DE012E-C9A9-EBC8-295E-049A192B5BC9}"/>
              </a:ext>
            </a:extLst>
          </p:cNvPr>
          <p:cNvPicPr>
            <a:picLocks noChangeAspect="1"/>
          </p:cNvPicPr>
          <p:nvPr/>
        </p:nvPicPr>
        <p:blipFill>
          <a:blip r:embed="rId6"/>
          <a:stretch>
            <a:fillRect/>
          </a:stretch>
        </p:blipFill>
        <p:spPr>
          <a:xfrm>
            <a:off x="103531" y="1938014"/>
            <a:ext cx="4768600" cy="4733537"/>
          </a:xfrm>
          <a:prstGeom prst="rect">
            <a:avLst/>
          </a:prstGeom>
        </p:spPr>
      </p:pic>
      <p:pic>
        <p:nvPicPr>
          <p:cNvPr id="13" name="Picture 12">
            <a:extLst>
              <a:ext uri="{FF2B5EF4-FFF2-40B4-BE49-F238E27FC236}">
                <a16:creationId xmlns:a16="http://schemas.microsoft.com/office/drawing/2014/main" id="{945589E5-D125-F916-9015-12E354847888}"/>
              </a:ext>
            </a:extLst>
          </p:cNvPr>
          <p:cNvPicPr>
            <a:picLocks noChangeAspect="1"/>
          </p:cNvPicPr>
          <p:nvPr/>
        </p:nvPicPr>
        <p:blipFill>
          <a:blip r:embed="rId7"/>
          <a:stretch>
            <a:fillRect/>
          </a:stretch>
        </p:blipFill>
        <p:spPr>
          <a:xfrm>
            <a:off x="1149380" y="4348300"/>
            <a:ext cx="4411253" cy="2090641"/>
          </a:xfrm>
          <a:prstGeom prst="rect">
            <a:avLst/>
          </a:prstGeom>
        </p:spPr>
      </p:pic>
    </p:spTree>
    <p:extLst>
      <p:ext uri="{BB962C8B-B14F-4D97-AF65-F5344CB8AC3E}">
        <p14:creationId xmlns:p14="http://schemas.microsoft.com/office/powerpoint/2010/main" val="2373677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C2402-8BC0-4933-5071-BF6BDE32E9C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3B3CB5C-0589-5485-FD7C-78D5D621548A}"/>
              </a:ext>
            </a:extLst>
          </p:cNvPr>
          <p:cNvPicPr>
            <a:picLocks noChangeAspect="1"/>
          </p:cNvPicPr>
          <p:nvPr/>
        </p:nvPicPr>
        <p:blipFill>
          <a:blip r:embed="rId2"/>
          <a:stretch>
            <a:fillRect/>
          </a:stretch>
        </p:blipFill>
        <p:spPr>
          <a:xfrm>
            <a:off x="-60889" y="0"/>
            <a:ext cx="5078480" cy="3612844"/>
          </a:xfrm>
          <a:prstGeom prst="rect">
            <a:avLst/>
          </a:prstGeom>
        </p:spPr>
      </p:pic>
      <p:pic>
        <p:nvPicPr>
          <p:cNvPr id="5" name="Picture 4">
            <a:extLst>
              <a:ext uri="{FF2B5EF4-FFF2-40B4-BE49-F238E27FC236}">
                <a16:creationId xmlns:a16="http://schemas.microsoft.com/office/drawing/2014/main" id="{ED216505-5BEF-5F7D-199C-47D392EDD32E}"/>
              </a:ext>
            </a:extLst>
          </p:cNvPr>
          <p:cNvPicPr>
            <a:picLocks noChangeAspect="1"/>
          </p:cNvPicPr>
          <p:nvPr/>
        </p:nvPicPr>
        <p:blipFill>
          <a:blip r:embed="rId3"/>
          <a:stretch>
            <a:fillRect/>
          </a:stretch>
        </p:blipFill>
        <p:spPr>
          <a:xfrm>
            <a:off x="2073424" y="613970"/>
            <a:ext cx="4870205" cy="3721615"/>
          </a:xfrm>
          <a:prstGeom prst="rect">
            <a:avLst/>
          </a:prstGeom>
        </p:spPr>
      </p:pic>
      <p:pic>
        <p:nvPicPr>
          <p:cNvPr id="7" name="Picture 6">
            <a:extLst>
              <a:ext uri="{FF2B5EF4-FFF2-40B4-BE49-F238E27FC236}">
                <a16:creationId xmlns:a16="http://schemas.microsoft.com/office/drawing/2014/main" id="{A5D8B107-D849-E307-F325-58EC74D227AC}"/>
              </a:ext>
            </a:extLst>
          </p:cNvPr>
          <p:cNvPicPr>
            <a:picLocks noChangeAspect="1"/>
          </p:cNvPicPr>
          <p:nvPr/>
        </p:nvPicPr>
        <p:blipFill>
          <a:blip r:embed="rId4"/>
          <a:stretch>
            <a:fillRect/>
          </a:stretch>
        </p:blipFill>
        <p:spPr>
          <a:xfrm>
            <a:off x="-60889" y="2347933"/>
            <a:ext cx="6369377" cy="1987652"/>
          </a:xfrm>
          <a:prstGeom prst="rect">
            <a:avLst/>
          </a:prstGeom>
        </p:spPr>
      </p:pic>
      <p:pic>
        <p:nvPicPr>
          <p:cNvPr id="11" name="Picture 10">
            <a:extLst>
              <a:ext uri="{FF2B5EF4-FFF2-40B4-BE49-F238E27FC236}">
                <a16:creationId xmlns:a16="http://schemas.microsoft.com/office/drawing/2014/main" id="{85C4BBDB-8CAA-50C9-4EBC-B7042B65167A}"/>
              </a:ext>
            </a:extLst>
          </p:cNvPr>
          <p:cNvPicPr>
            <a:picLocks noChangeAspect="1"/>
          </p:cNvPicPr>
          <p:nvPr/>
        </p:nvPicPr>
        <p:blipFill>
          <a:blip r:embed="rId5"/>
          <a:stretch>
            <a:fillRect/>
          </a:stretch>
        </p:blipFill>
        <p:spPr>
          <a:xfrm>
            <a:off x="0" y="3686516"/>
            <a:ext cx="5532220" cy="3133210"/>
          </a:xfrm>
          <a:prstGeom prst="rect">
            <a:avLst/>
          </a:prstGeom>
        </p:spPr>
      </p:pic>
      <p:pic>
        <p:nvPicPr>
          <p:cNvPr id="9" name="Picture 8">
            <a:extLst>
              <a:ext uri="{FF2B5EF4-FFF2-40B4-BE49-F238E27FC236}">
                <a16:creationId xmlns:a16="http://schemas.microsoft.com/office/drawing/2014/main" id="{F2BB14B4-5032-B1C6-5125-0336A53794FB}"/>
              </a:ext>
            </a:extLst>
          </p:cNvPr>
          <p:cNvPicPr>
            <a:picLocks noChangeAspect="1"/>
          </p:cNvPicPr>
          <p:nvPr/>
        </p:nvPicPr>
        <p:blipFill>
          <a:blip r:embed="rId6"/>
          <a:stretch>
            <a:fillRect/>
          </a:stretch>
        </p:blipFill>
        <p:spPr>
          <a:xfrm>
            <a:off x="1761709" y="3117658"/>
            <a:ext cx="4864350" cy="3740342"/>
          </a:xfrm>
          <a:prstGeom prst="rect">
            <a:avLst/>
          </a:prstGeom>
        </p:spPr>
      </p:pic>
    </p:spTree>
    <p:extLst>
      <p:ext uri="{BB962C8B-B14F-4D97-AF65-F5344CB8AC3E}">
        <p14:creationId xmlns:p14="http://schemas.microsoft.com/office/powerpoint/2010/main" val="1307195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F3AB9-3FD9-B4A3-B13A-2AC3D1D371C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A5BDAF8-FD50-21C9-9E90-18265F60B47D}"/>
              </a:ext>
            </a:extLst>
          </p:cNvPr>
          <p:cNvPicPr>
            <a:picLocks noChangeAspect="1"/>
          </p:cNvPicPr>
          <p:nvPr/>
        </p:nvPicPr>
        <p:blipFill>
          <a:blip r:embed="rId2"/>
          <a:srcRect l="19784" t="34979" r="32504" b="35707"/>
          <a:stretch>
            <a:fillRect/>
          </a:stretch>
        </p:blipFill>
        <p:spPr>
          <a:xfrm>
            <a:off x="-33143" y="-37054"/>
            <a:ext cx="5289602" cy="2113613"/>
          </a:xfrm>
          <a:prstGeom prst="rect">
            <a:avLst/>
          </a:prstGeom>
        </p:spPr>
      </p:pic>
      <p:grpSp>
        <p:nvGrpSpPr>
          <p:cNvPr id="12" name="Group 11">
            <a:extLst>
              <a:ext uri="{FF2B5EF4-FFF2-40B4-BE49-F238E27FC236}">
                <a16:creationId xmlns:a16="http://schemas.microsoft.com/office/drawing/2014/main" id="{A0DEB165-EEBB-B42E-2413-959F487529A4}"/>
              </a:ext>
            </a:extLst>
          </p:cNvPr>
          <p:cNvGrpSpPr/>
          <p:nvPr/>
        </p:nvGrpSpPr>
        <p:grpSpPr>
          <a:xfrm>
            <a:off x="524656" y="4501860"/>
            <a:ext cx="6163456" cy="1876554"/>
            <a:chOff x="6028544" y="1146472"/>
            <a:chExt cx="6163456" cy="1876554"/>
          </a:xfrm>
        </p:grpSpPr>
        <p:pic>
          <p:nvPicPr>
            <p:cNvPr id="8" name="Picture 7">
              <a:extLst>
                <a:ext uri="{FF2B5EF4-FFF2-40B4-BE49-F238E27FC236}">
                  <a16:creationId xmlns:a16="http://schemas.microsoft.com/office/drawing/2014/main" id="{701E3288-B39A-CD71-A125-F003E5D82FF6}"/>
                </a:ext>
              </a:extLst>
            </p:cNvPr>
            <p:cNvPicPr>
              <a:picLocks noChangeAspect="1"/>
            </p:cNvPicPr>
            <p:nvPr/>
          </p:nvPicPr>
          <p:blipFill>
            <a:blip r:embed="rId3"/>
            <a:srcRect l="15155" t="15376" r="5770" b="70829"/>
            <a:stretch>
              <a:fillRect/>
            </a:stretch>
          </p:blipFill>
          <p:spPr>
            <a:xfrm>
              <a:off x="6046033" y="1146472"/>
              <a:ext cx="6145967" cy="697317"/>
            </a:xfrm>
            <a:prstGeom prst="rect">
              <a:avLst/>
            </a:prstGeom>
          </p:spPr>
        </p:pic>
        <p:pic>
          <p:nvPicPr>
            <p:cNvPr id="10" name="Picture 9">
              <a:extLst>
                <a:ext uri="{FF2B5EF4-FFF2-40B4-BE49-F238E27FC236}">
                  <a16:creationId xmlns:a16="http://schemas.microsoft.com/office/drawing/2014/main" id="{9ED647AD-5219-9358-8CD9-65167ADD8EA8}"/>
                </a:ext>
              </a:extLst>
            </p:cNvPr>
            <p:cNvPicPr>
              <a:picLocks noChangeAspect="1"/>
            </p:cNvPicPr>
            <p:nvPr/>
          </p:nvPicPr>
          <p:blipFill>
            <a:blip r:embed="rId3"/>
            <a:srcRect l="15155" t="48689" r="5770" b="27981"/>
            <a:stretch>
              <a:fillRect/>
            </a:stretch>
          </p:blipFill>
          <p:spPr>
            <a:xfrm>
              <a:off x="6028544" y="1843789"/>
              <a:ext cx="6145967" cy="1179237"/>
            </a:xfrm>
            <a:prstGeom prst="rect">
              <a:avLst/>
            </a:prstGeom>
          </p:spPr>
        </p:pic>
      </p:grpSp>
      <p:grpSp>
        <p:nvGrpSpPr>
          <p:cNvPr id="14" name="Group 13">
            <a:extLst>
              <a:ext uri="{FF2B5EF4-FFF2-40B4-BE49-F238E27FC236}">
                <a16:creationId xmlns:a16="http://schemas.microsoft.com/office/drawing/2014/main" id="{6F0364D5-42E3-9784-079A-24972E977172}"/>
              </a:ext>
            </a:extLst>
          </p:cNvPr>
          <p:cNvGrpSpPr/>
          <p:nvPr/>
        </p:nvGrpSpPr>
        <p:grpSpPr>
          <a:xfrm>
            <a:off x="898718" y="2612243"/>
            <a:ext cx="5397842" cy="1682917"/>
            <a:chOff x="6601406" y="2813172"/>
            <a:chExt cx="5397842" cy="1682917"/>
          </a:xfrm>
        </p:grpSpPr>
        <p:pic>
          <p:nvPicPr>
            <p:cNvPr id="4" name="Picture 3">
              <a:extLst>
                <a:ext uri="{FF2B5EF4-FFF2-40B4-BE49-F238E27FC236}">
                  <a16:creationId xmlns:a16="http://schemas.microsoft.com/office/drawing/2014/main" id="{3916F95D-23A7-3E2E-4082-B05FEE58166F}"/>
                </a:ext>
              </a:extLst>
            </p:cNvPr>
            <p:cNvPicPr>
              <a:picLocks noChangeAspect="1"/>
            </p:cNvPicPr>
            <p:nvPr/>
          </p:nvPicPr>
          <p:blipFill>
            <a:blip r:embed="rId4"/>
            <a:srcRect l="21328" t="14191" r="23732" b="76171"/>
            <a:stretch>
              <a:fillRect/>
            </a:stretch>
          </p:blipFill>
          <p:spPr>
            <a:xfrm>
              <a:off x="6601406" y="2813172"/>
              <a:ext cx="5397842" cy="615828"/>
            </a:xfrm>
            <a:prstGeom prst="rect">
              <a:avLst/>
            </a:prstGeom>
          </p:spPr>
        </p:pic>
        <p:pic>
          <p:nvPicPr>
            <p:cNvPr id="13" name="Picture 12">
              <a:extLst>
                <a:ext uri="{FF2B5EF4-FFF2-40B4-BE49-F238E27FC236}">
                  <a16:creationId xmlns:a16="http://schemas.microsoft.com/office/drawing/2014/main" id="{58C4D391-7EC3-AFB6-889A-EBD0264B1428}"/>
                </a:ext>
              </a:extLst>
            </p:cNvPr>
            <p:cNvPicPr>
              <a:picLocks noChangeAspect="1"/>
            </p:cNvPicPr>
            <p:nvPr/>
          </p:nvPicPr>
          <p:blipFill>
            <a:blip r:embed="rId4"/>
            <a:srcRect l="21328" t="38394" r="23732" b="44905"/>
            <a:stretch>
              <a:fillRect/>
            </a:stretch>
          </p:blipFill>
          <p:spPr>
            <a:xfrm>
              <a:off x="6601406" y="3429000"/>
              <a:ext cx="5397842" cy="1067089"/>
            </a:xfrm>
            <a:prstGeom prst="rect">
              <a:avLst/>
            </a:prstGeom>
          </p:spPr>
        </p:pic>
      </p:grpSp>
      <p:grpSp>
        <p:nvGrpSpPr>
          <p:cNvPr id="16" name="Group 15">
            <a:extLst>
              <a:ext uri="{FF2B5EF4-FFF2-40B4-BE49-F238E27FC236}">
                <a16:creationId xmlns:a16="http://schemas.microsoft.com/office/drawing/2014/main" id="{C7DCEDA3-B56D-2800-A293-074087D94038}"/>
              </a:ext>
            </a:extLst>
          </p:cNvPr>
          <p:cNvGrpSpPr/>
          <p:nvPr/>
        </p:nvGrpSpPr>
        <p:grpSpPr>
          <a:xfrm>
            <a:off x="5256459" y="292017"/>
            <a:ext cx="6980511" cy="2530843"/>
            <a:chOff x="824459" y="3668567"/>
            <a:chExt cx="6980511" cy="2530843"/>
          </a:xfrm>
        </p:grpSpPr>
        <p:pic>
          <p:nvPicPr>
            <p:cNvPr id="2" name="Picture 1">
              <a:extLst>
                <a:ext uri="{FF2B5EF4-FFF2-40B4-BE49-F238E27FC236}">
                  <a16:creationId xmlns:a16="http://schemas.microsoft.com/office/drawing/2014/main" id="{A72BC34E-F054-73DB-EF29-0FB6884F0576}"/>
                </a:ext>
              </a:extLst>
            </p:cNvPr>
            <p:cNvPicPr>
              <a:picLocks noChangeAspect="1"/>
            </p:cNvPicPr>
            <p:nvPr/>
          </p:nvPicPr>
          <p:blipFill>
            <a:blip r:embed="rId5"/>
            <a:srcRect l="20364" t="25163" r="29792" b="64122"/>
            <a:stretch>
              <a:fillRect/>
            </a:stretch>
          </p:blipFill>
          <p:spPr>
            <a:xfrm>
              <a:off x="824459" y="3668567"/>
              <a:ext cx="6980511" cy="975889"/>
            </a:xfrm>
            <a:prstGeom prst="rect">
              <a:avLst/>
            </a:prstGeom>
          </p:spPr>
        </p:pic>
        <p:pic>
          <p:nvPicPr>
            <p:cNvPr id="15" name="Picture 14">
              <a:extLst>
                <a:ext uri="{FF2B5EF4-FFF2-40B4-BE49-F238E27FC236}">
                  <a16:creationId xmlns:a16="http://schemas.microsoft.com/office/drawing/2014/main" id="{7F0BDD41-81A6-B9FB-74ED-E62FE724B58E}"/>
                </a:ext>
              </a:extLst>
            </p:cNvPr>
            <p:cNvPicPr>
              <a:picLocks noChangeAspect="1"/>
            </p:cNvPicPr>
            <p:nvPr/>
          </p:nvPicPr>
          <p:blipFill>
            <a:blip r:embed="rId5"/>
            <a:srcRect l="20364" t="41968" r="29792" b="40436"/>
            <a:stretch>
              <a:fillRect/>
            </a:stretch>
          </p:blipFill>
          <p:spPr>
            <a:xfrm>
              <a:off x="824459" y="4596717"/>
              <a:ext cx="6980511" cy="1602693"/>
            </a:xfrm>
            <a:prstGeom prst="rect">
              <a:avLst/>
            </a:prstGeom>
          </p:spPr>
        </p:pic>
      </p:grpSp>
    </p:spTree>
    <p:extLst>
      <p:ext uri="{BB962C8B-B14F-4D97-AF65-F5344CB8AC3E}">
        <p14:creationId xmlns:p14="http://schemas.microsoft.com/office/powerpoint/2010/main" val="5787448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592</Words>
  <Application>Microsoft Macintosh PowerPoint</Application>
  <PresentationFormat>Widescreen</PresentationFormat>
  <Paragraphs>47</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Merriweather</vt:lpstr>
      <vt:lpstr>Office Theme</vt:lpstr>
      <vt:lpstr>Week 3 Mother, Dearest (Developmental Psychology)</vt:lpstr>
      <vt:lpstr>PowerPoint Presentation</vt:lpstr>
      <vt:lpstr>PowerPoint Presentation</vt:lpstr>
      <vt:lpstr>How are you ruining your child?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Motherhood after Harlow: all good now?  The Age of Maternal Anxiety</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1</cp:revision>
  <dcterms:created xsi:type="dcterms:W3CDTF">2026-08-17T04:27:46Z</dcterms:created>
  <dcterms:modified xsi:type="dcterms:W3CDTF">2026-08-17T04:49:20Z</dcterms:modified>
</cp:coreProperties>
</file>