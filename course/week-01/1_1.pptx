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3" r:id="rId3"/>
    <p:sldId id="266" r:id="rId4"/>
    <p:sldId id="276" r:id="rId5"/>
    <p:sldId id="271" r:id="rId6"/>
    <p:sldId id="260" r:id="rId7"/>
    <p:sldId id="275" r:id="rId8"/>
    <p:sldId id="262" r:id="rId9"/>
    <p:sldId id="264" r:id="rId10"/>
    <p:sldId id="274" r:id="rId11"/>
    <p:sldId id="278" r:id="rId12"/>
    <p:sldId id="279" r:id="rId13"/>
    <p:sldId id="281" r:id="rId14"/>
    <p:sldId id="282" r:id="rId15"/>
    <p:sldId id="283" r:id="rId16"/>
    <p:sldId id="285" r:id="rId17"/>
    <p:sldId id="277" r:id="rId18"/>
    <p:sldId id="287" r:id="rId19"/>
    <p:sldId id="288" r:id="rId20"/>
    <p:sldId id="28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757"/>
    <p:restoredTop sz="94604"/>
  </p:normalViewPr>
  <p:slideViewPr>
    <p:cSldViewPr snapToGrid="0">
      <p:cViewPr varScale="1">
        <p:scale>
          <a:sx n="73" d="100"/>
          <a:sy n="73" d="100"/>
        </p:scale>
        <p:origin x="272" y="10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F0140F-93B0-0D6F-B9B8-97DE8DC3E3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68F81F-DEE8-86A4-78DA-02ADFE0A4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E8E837-57B4-C638-68B2-A1E097A6C8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1C0DA3-A1EC-6857-1361-8CE5E7A26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399BE-229E-E43B-EF57-B2CB1DA99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6646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479D7-26E2-9E74-F31B-B1B52C09C0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6BF70F-7114-C071-C0BF-FDBCEBECC5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26CAF8-C87F-EFFF-8738-1423F4E1FC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42B12-D6E9-14F8-EFFA-1FC559AF7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E9859-5C58-F8B1-2395-36AC394B4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9962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5F68C-E35C-25AE-0A78-FAD508D94A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EE7FEB-E9A2-EFA0-154E-B1C79BADE7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A9AB3-882F-5A19-F35D-74A34D885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CE783-41D3-5B43-5323-D2AAA1949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B142D7-F96C-6243-B919-1FAC60D17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975682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5CCFE-7E42-0673-03ED-E5A469A47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5CD63-3689-870B-68DA-77A766AF0A7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8313A0-ECE2-03E3-36DC-7C52A37F9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925F1F-F59B-EA84-61E7-FB5FBD060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09EC57-F5BA-7397-58C4-2FAE88AC5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32F814-D8DA-3B55-C94E-D5625B579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60416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7F56C-1635-0968-41B2-2CE3C8A88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F7ACE2-0451-6904-B171-07625BB12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B80BA-3A40-316A-6E33-6D51E6BF66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1AFA0F-35FA-1F52-F438-246FB9099D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F7F1A5-CC7B-EEE5-31C0-83508020AE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8A667-68B5-19D8-6704-C8B62DE1F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3BF45E-6DA4-02F3-18E0-EC501CBEA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B84269-B268-84DC-A9DF-3311F89D4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707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F8B6A-2519-5684-DA9C-28CC6D302F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A474E-74D7-47B7-D7D4-DA42E22E9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A4FC0F-6169-DA79-F135-03F2457CB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0CD947-1F50-A586-1376-3CE2393F7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1694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AC27E1-216E-EF5A-1C34-0DA7116E8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1AA8552-464D-9BD0-3ACD-5963A85FC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7FD0B0-8A9C-4AAD-98EC-19EE5542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72956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B75A3-6031-1361-13B4-611F03DAEA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3F415-2595-6248-7C94-67346F101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2CC3F-DCD1-B4A5-459F-74F40D93C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AA94DF-82F8-3B32-6B86-952ED8882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0CAE2F-A5FF-6D5E-14C0-5C75A0F3F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61182C-A321-FF9A-5111-4E078BF11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9351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6F75-7031-F4B9-BC17-12237A137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1416B5-A875-E0CC-63F6-1566D06AEE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410021-79A7-702B-84D3-A66CEBB30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1752D-3B10-E0E5-0E62-19A82F8B36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F26910-509B-0D6C-D95D-B384638784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6CD35-3EAE-7B70-B990-96DB06637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279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B5B1A-9D94-790E-3478-D1A2396A19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0B981-5C55-2B8D-A818-1EC09AB80D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67928-1D8B-9384-E1F9-96A226DA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DFAEC5-7FF4-D99D-EA7E-CC0A2DD2E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EFDC85-0FDA-F277-E01C-012302FA1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943463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1768BCB-69E7-85E0-83E9-1B03451E2E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05A741-9DBF-99E2-CD8A-D98559E1D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343784-8AD5-F0BA-0335-CB23259A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62389-EC0F-AB33-F1F7-978AA02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D9ED5E-9887-B488-660B-F215278ED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892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34B5523-D692-0AF6-ABBA-C0045FB11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DDABB2-0BA8-C6FD-DCD5-45512CD67E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98B3C-EED4-9EA1-4E67-70A94E11F4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D0D919-7C53-4941-9434-708B67E0760E}" type="datetimeFigureOut">
              <a:rPr lang="en-AU" smtClean="0"/>
              <a:t>3/8/2026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17876-FB85-3A11-B9CA-CE80B81095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3883B-CD0C-A42D-B896-56B7661087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9025F6-3D39-E440-B78E-E5D1E1C7263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3941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7.xml"/><Relationship Id="rId4" Type="http://schemas.microsoft.com/office/2007/relationships/hdphoto" Target="../media/hdphoto3.wdp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Summer Flying Safety: Thunderstorm Avoidance 101 - Hartzell Propeller">
            <a:extLst>
              <a:ext uri="{FF2B5EF4-FFF2-40B4-BE49-F238E27FC236}">
                <a16:creationId xmlns:a16="http://schemas.microsoft.com/office/drawing/2014/main" id="{170E70CD-EDED-1471-A4F5-56A6D6FF61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</a:extLst>
          </a:blip>
          <a:srcRect t="23677" r="9091"/>
          <a:stretch>
            <a:fillRect/>
          </a:stretch>
        </p:blipFill>
        <p:spPr>
          <a:xfrm>
            <a:off x="0" y="10"/>
            <a:ext cx="12191980" cy="6857990"/>
          </a:xfrm>
          <a:prstGeom prst="rect">
            <a:avLst/>
          </a:prstGeom>
        </p:spPr>
      </p:pic>
      <p:pic>
        <p:nvPicPr>
          <p:cNvPr id="7" name="Picture 6" descr="The brain of Frankenstein: Psych professors dissect a monster – Velocity">
            <a:extLst>
              <a:ext uri="{FF2B5EF4-FFF2-40B4-BE49-F238E27FC236}">
                <a16:creationId xmlns:a16="http://schemas.microsoft.com/office/drawing/2014/main" id="{1DD30C99-9E12-61E4-6617-03C8E39AA2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18113" t="6126" r="14203" b="7086"/>
          <a:stretch>
            <a:fillRect/>
          </a:stretch>
        </p:blipFill>
        <p:spPr>
          <a:xfrm>
            <a:off x="-2" y="2399593"/>
            <a:ext cx="4183666" cy="357635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FB0CD15-9822-1467-DA2D-B17D85D72E30}"/>
              </a:ext>
            </a:extLst>
          </p:cNvPr>
          <p:cNvSpPr/>
          <p:nvPr/>
        </p:nvSpPr>
        <p:spPr>
          <a:xfrm>
            <a:off x="-9394" y="-12731"/>
            <a:ext cx="8168656" cy="2105305"/>
          </a:xfrm>
          <a:prstGeom prst="rect">
            <a:avLst/>
          </a:prstGeom>
          <a:solidFill>
            <a:schemeClr val="bg2">
              <a:lumMod val="25000"/>
              <a:alpha val="77094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3BF8E3D-3300-6A87-E849-AF14CB4ED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2648"/>
            <a:ext cx="8862646" cy="1863968"/>
          </a:xfrm>
        </p:spPr>
        <p:txBody>
          <a:bodyPr lIns="36000" rIns="36000" anchor="t">
            <a:normAutofit/>
          </a:bodyPr>
          <a:lstStyle/>
          <a:p>
            <a:pPr algn="l"/>
            <a:br>
              <a:rPr lang="en-AU" sz="1800" dirty="0">
                <a:solidFill>
                  <a:schemeClr val="bg1"/>
                </a:solidFill>
              </a:rPr>
            </a:br>
            <a:r>
              <a:rPr lang="en-AU" sz="6600" b="1" i="1" dirty="0">
                <a:solidFill>
                  <a:schemeClr val="bg1"/>
                </a:solidFill>
              </a:rPr>
              <a:t>Method or Madness? </a:t>
            </a:r>
            <a:br>
              <a:rPr lang="en-AU" sz="4000" b="1" dirty="0">
                <a:solidFill>
                  <a:schemeClr val="bg1"/>
                </a:solidFill>
              </a:rPr>
            </a:br>
            <a:r>
              <a:rPr lang="en-AU" sz="4400" b="0" i="1" dirty="0">
                <a:solidFill>
                  <a:schemeClr val="bg1"/>
                </a:solidFill>
              </a:rPr>
              <a:t>The Science of Psychology</a:t>
            </a:r>
            <a:endParaRPr lang="en-AU" sz="4000" b="0" i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8141443-AE12-477E-CEA9-001B5C2C68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" y="5975945"/>
            <a:ext cx="4026877" cy="809407"/>
          </a:xfrm>
          <a:solidFill>
            <a:schemeClr val="bg2">
              <a:lumMod val="25000"/>
              <a:alpha val="74968"/>
            </a:schemeClr>
          </a:solidFill>
        </p:spPr>
        <p:txBody>
          <a:bodyPr anchor="ctr">
            <a:normAutofit/>
          </a:bodyPr>
          <a:lstStyle/>
          <a:p>
            <a:pPr algn="l"/>
            <a:r>
              <a:rPr lang="en-AU" sz="2800" dirty="0">
                <a:solidFill>
                  <a:schemeClr val="bg1"/>
                </a:solidFill>
              </a:rPr>
              <a:t>Dr Kelsey Zimmermann</a:t>
            </a:r>
          </a:p>
        </p:txBody>
      </p:sp>
      <p:pic>
        <p:nvPicPr>
          <p:cNvPr id="6" name="Picture 5" descr="Five of Our Favorite &quot;Mad Scientists&quot; From Film and Television - Rambling  Ever On">
            <a:extLst>
              <a:ext uri="{FF2B5EF4-FFF2-40B4-BE49-F238E27FC236}">
                <a16:creationId xmlns:a16="http://schemas.microsoft.com/office/drawing/2014/main" id="{EB270055-0F8B-6AAB-0B60-CA11988FE5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235"/>
          <a:stretch>
            <a:fillRect/>
          </a:stretch>
        </p:blipFill>
        <p:spPr>
          <a:xfrm>
            <a:off x="8008336" y="-30320"/>
            <a:ext cx="4178948" cy="310211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13304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909ED-0B03-3C12-0C77-144A64501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5A45F02-E2AE-ADEE-5F6D-3C8AD33C68CD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DB41B-728F-C557-F6C3-07154A279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U" sz="4800" dirty="0"/>
              <a:t>Who is taking this unit?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9765A-4B40-E93A-3679-FADF56C7B3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91" y="1631683"/>
            <a:ext cx="7364942" cy="2025917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Psychology students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Non-psychology students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Students in Year 1, Year 2, and Year 3</a:t>
            </a:r>
            <a:endParaRPr lang="en-A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55A03F-0DA1-BD9B-69FD-5A2A31EFAECA}"/>
              </a:ext>
            </a:extLst>
          </p:cNvPr>
          <p:cNvSpPr txBox="1"/>
          <p:nvPr/>
        </p:nvSpPr>
        <p:spPr>
          <a:xfrm>
            <a:off x="762000" y="3657600"/>
            <a:ext cx="504613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i="1" dirty="0"/>
              <a:t>There will be something for everyone!</a:t>
            </a:r>
          </a:p>
        </p:txBody>
      </p:sp>
    </p:spTree>
    <p:extLst>
      <p:ext uri="{BB962C8B-B14F-4D97-AF65-F5344CB8AC3E}">
        <p14:creationId xmlns:p14="http://schemas.microsoft.com/office/powerpoint/2010/main" val="135987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B12AD-79BA-2986-5338-A8837F993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1136E51-C5A9-C257-6B8C-5E55C517B652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5151A3-3B02-B44C-3934-2BCF3E1A4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U" sz="4800" dirty="0"/>
              <a:t>Why take this unit?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685FC0-8A72-E841-04FD-F3B46DAA6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91" y="1631683"/>
            <a:ext cx="7364942" cy="504004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AU" sz="3200" dirty="0"/>
              <a:t>Learn about the fun stuff! 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Improve your scientific literacy</a:t>
            </a:r>
          </a:p>
          <a:p>
            <a:pPr marL="514350" indent="-514350">
              <a:buFont typeface="+mj-lt"/>
              <a:buAutoNum type="arabicPeriod"/>
            </a:pPr>
            <a:r>
              <a:rPr lang="en-AU" sz="3200" dirty="0"/>
              <a:t>Critically evaluate current topics in “Pop Psychology” 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71759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13AD4-7338-5ABC-5FC8-820EF5116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7D3BFF-1BE6-70A7-0A8C-491ECB2050FE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5EEE3B-AA6D-E029-CC97-2043AF2B7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U" sz="4800" dirty="0"/>
              <a:t>Who is </a:t>
            </a:r>
            <a:r>
              <a:rPr lang="en-AU" sz="4800" i="1" dirty="0"/>
              <a:t>teaching</a:t>
            </a:r>
            <a:r>
              <a:rPr lang="en-AU" sz="4800" dirty="0"/>
              <a:t> this unit?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5E26C9-F5C4-5017-41FC-30661B404C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0391" y="1403083"/>
            <a:ext cx="7364942" cy="5302517"/>
          </a:xfrm>
          <a:solidFill>
            <a:schemeClr val="bg2"/>
          </a:solidFill>
        </p:spPr>
        <p:txBody>
          <a:bodyPr>
            <a:normAutofit/>
          </a:bodyPr>
          <a:lstStyle/>
          <a:p>
            <a:r>
              <a:rPr lang="en-AU" sz="3200" dirty="0"/>
              <a:t>Dr Kelsey Zimmermann (coordinator) </a:t>
            </a:r>
          </a:p>
          <a:p>
            <a:r>
              <a:rPr lang="en-AU" sz="3200" dirty="0"/>
              <a:t>A/Prof Simon Boag</a:t>
            </a:r>
          </a:p>
          <a:p>
            <a:r>
              <a:rPr lang="en-AU" sz="3200" dirty="0"/>
              <a:t>A/Prof Ian Johnston</a:t>
            </a:r>
          </a:p>
          <a:p>
            <a:r>
              <a:rPr lang="en-AU" sz="3200" dirty="0"/>
              <a:t>A/Prof Celine Van Golde</a:t>
            </a:r>
          </a:p>
          <a:p>
            <a:r>
              <a:rPr lang="en-AU" sz="3200" dirty="0"/>
              <a:t>Dr Caleb Owens</a:t>
            </a:r>
          </a:p>
          <a:p>
            <a:r>
              <a:rPr lang="en-AU" sz="3200" dirty="0"/>
              <a:t>Dr Daniel Costa</a:t>
            </a:r>
          </a:p>
          <a:p>
            <a:r>
              <a:rPr lang="en-AU" sz="3200" dirty="0"/>
              <a:t>Mr James Brown</a:t>
            </a:r>
          </a:p>
          <a:p>
            <a:r>
              <a:rPr lang="en-AU" sz="3200" dirty="0"/>
              <a:t>A/Prof Rebecca Pinkus</a:t>
            </a:r>
          </a:p>
          <a:p>
            <a:r>
              <a:rPr lang="en-AU" sz="3200" dirty="0"/>
              <a:t>A/Prof Micah Goldwater </a:t>
            </a:r>
          </a:p>
        </p:txBody>
      </p:sp>
    </p:spTree>
    <p:extLst>
      <p:ext uri="{BB962C8B-B14F-4D97-AF65-F5344CB8AC3E}">
        <p14:creationId xmlns:p14="http://schemas.microsoft.com/office/powerpoint/2010/main" val="15491931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C998-57F6-87F5-C50F-97502C4B5F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79E0FFB-9BFC-2E20-5B7E-937DC98602EC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69D6E9-A557-CBBF-D09A-4A50CCE85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U" sz="4800" dirty="0"/>
              <a:t>Unit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E93147-4D08-5C0C-FE67-D342BAA87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0522"/>
            <a:ext cx="7518400" cy="5619223"/>
          </a:xfrm>
        </p:spPr>
        <p:txBody>
          <a:bodyPr>
            <a:normAutofit/>
          </a:bodyPr>
          <a:lstStyle/>
          <a:p>
            <a:r>
              <a:rPr lang="en-AU" u="sng" dirty="0"/>
              <a:t>Online content </a:t>
            </a:r>
            <a:r>
              <a:rPr lang="en-AU" dirty="0"/>
              <a:t>(lectures, readings, recorded interviews, debates, etc)</a:t>
            </a:r>
          </a:p>
          <a:p>
            <a:pPr lvl="1"/>
            <a:r>
              <a:rPr lang="en-AU" dirty="0"/>
              <a:t>Content (including access to assessments) will be released each Monday on Canvas</a:t>
            </a:r>
          </a:p>
          <a:p>
            <a:r>
              <a:rPr lang="en-AU" u="sng" dirty="0"/>
              <a:t>In-person tutorials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dirty="0"/>
              <a:t>Navigating and exploring scientific literature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AU" dirty="0"/>
              <a:t>Discussing weekly content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C8B33D-5906-0A85-0ACB-547375B76ABA}"/>
              </a:ext>
            </a:extLst>
          </p:cNvPr>
          <p:cNvSpPr txBox="1"/>
          <p:nvPr/>
        </p:nvSpPr>
        <p:spPr>
          <a:xfrm>
            <a:off x="508000" y="4064004"/>
            <a:ext cx="6502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b="1" i="1" dirty="0">
                <a:solidFill>
                  <a:srgbClr val="FF0000"/>
                </a:solidFill>
              </a:rPr>
              <a:t>Attendance requirement!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AU" sz="2400" b="1" i="1" dirty="0"/>
              <a:t>You must attend &gt;50% of the tutorials! (</a:t>
            </a:r>
            <a:r>
              <a:rPr lang="en-AU" sz="2400" b="1" i="1" u="sng" dirty="0"/>
              <a:t>Minimum</a:t>
            </a:r>
            <a:r>
              <a:rPr lang="en-AU" sz="2400" b="1" i="1" dirty="0"/>
              <a:t> of 6 out of 11)</a:t>
            </a:r>
          </a:p>
        </p:txBody>
      </p:sp>
    </p:spTree>
    <p:extLst>
      <p:ext uri="{BB962C8B-B14F-4D97-AF65-F5344CB8AC3E}">
        <p14:creationId xmlns:p14="http://schemas.microsoft.com/office/powerpoint/2010/main" val="356503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7EE51E-E72E-10E4-F9E0-930F006AF0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A73F760-35AF-0376-E461-13AEA0C82F1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3" t="11904" r="27989" b="11382"/>
          <a:stretch>
            <a:fillRect/>
          </a:stretch>
        </p:blipFill>
        <p:spPr>
          <a:xfrm>
            <a:off x="0" y="1202267"/>
            <a:ext cx="7488471" cy="56388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D6746BC-186A-168B-24C6-6FE8DC7284FE}"/>
              </a:ext>
            </a:extLst>
          </p:cNvPr>
          <p:cNvSpPr/>
          <p:nvPr/>
        </p:nvSpPr>
        <p:spPr>
          <a:xfrm>
            <a:off x="2421467" y="4783667"/>
            <a:ext cx="2455334" cy="431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9C737D-1F27-AAD1-FA79-B9122353EA0A}"/>
              </a:ext>
            </a:extLst>
          </p:cNvPr>
          <p:cNvSpPr/>
          <p:nvPr/>
        </p:nvSpPr>
        <p:spPr>
          <a:xfrm>
            <a:off x="4876801" y="5215468"/>
            <a:ext cx="1439332" cy="431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C8E81F9-873F-C656-DBF6-83C30B73511E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3042FF0-FC7E-F4B6-8799-8E655B1A8286}"/>
              </a:ext>
            </a:extLst>
          </p:cNvPr>
          <p:cNvSpPr txBox="1">
            <a:spLocks/>
          </p:cNvSpPr>
          <p:nvPr/>
        </p:nvSpPr>
        <p:spPr>
          <a:xfrm>
            <a:off x="0" y="308505"/>
            <a:ext cx="11396133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800" i="1" dirty="0"/>
              <a:t>Accessing Content on Canvas</a:t>
            </a:r>
          </a:p>
        </p:txBody>
      </p:sp>
    </p:spTree>
    <p:extLst>
      <p:ext uri="{BB962C8B-B14F-4D97-AF65-F5344CB8AC3E}">
        <p14:creationId xmlns:p14="http://schemas.microsoft.com/office/powerpoint/2010/main" val="2552219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29B03-AC32-B647-F50A-44C081315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609B819-810D-2084-E52B-90AFF15DA484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B7DB85-6771-6FD1-00C1-39F105B6E4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AU" sz="4800" dirty="0"/>
              <a:t>Assessments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E5E7A-5BD0-3900-493B-DDB975A55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220522"/>
            <a:ext cx="7975600" cy="5619223"/>
          </a:xfrm>
        </p:spPr>
        <p:txBody>
          <a:bodyPr>
            <a:normAutofit/>
          </a:bodyPr>
          <a:lstStyle/>
          <a:p>
            <a:r>
              <a:rPr lang="en-AU" sz="3600" dirty="0"/>
              <a:t>Small weekly assessments due each week </a:t>
            </a:r>
            <a:r>
              <a:rPr lang="en-AU" sz="3600" b="1" i="1" dirty="0"/>
              <a:t>except</a:t>
            </a:r>
            <a:r>
              <a:rPr lang="en-AU" sz="3600" dirty="0"/>
              <a:t> Week 1, Week 9, and Week 13</a:t>
            </a:r>
          </a:p>
          <a:p>
            <a:pPr lvl="1"/>
            <a:r>
              <a:rPr lang="en-AU" sz="3200" dirty="0"/>
              <a:t>Multiple Choice Quizzes (3% each)</a:t>
            </a:r>
          </a:p>
          <a:p>
            <a:pPr lvl="1"/>
            <a:r>
              <a:rPr lang="en-AU" sz="3200" dirty="0"/>
              <a:t>Discussion Forums (2% each)</a:t>
            </a:r>
          </a:p>
          <a:p>
            <a:r>
              <a:rPr lang="en-AU" sz="3600" dirty="0"/>
              <a:t>Two major assessments</a:t>
            </a:r>
          </a:p>
          <a:p>
            <a:pPr lvl="1"/>
            <a:r>
              <a:rPr lang="en-AU" sz="3200" dirty="0"/>
              <a:t>Misinformation Critique (25%) – Week 9</a:t>
            </a:r>
          </a:p>
          <a:p>
            <a:pPr lvl="1"/>
            <a:r>
              <a:rPr lang="en-AU" sz="3200" dirty="0"/>
              <a:t>Final Exam (50%) – Exams Period </a:t>
            </a:r>
          </a:p>
        </p:txBody>
      </p:sp>
    </p:spTree>
    <p:extLst>
      <p:ext uri="{BB962C8B-B14F-4D97-AF65-F5344CB8AC3E}">
        <p14:creationId xmlns:p14="http://schemas.microsoft.com/office/powerpoint/2010/main" val="1854645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533F38-AB42-EF07-E01B-7C99875F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ECF8F0F-F1F8-B185-6341-FC52CA94A22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3" t="11904" r="27989" b="11382"/>
          <a:stretch>
            <a:fillRect/>
          </a:stretch>
        </p:blipFill>
        <p:spPr>
          <a:xfrm>
            <a:off x="0" y="1219199"/>
            <a:ext cx="7488471" cy="5638801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94EB594-E3E4-4C78-1B59-2566BE5828ED}"/>
              </a:ext>
            </a:extLst>
          </p:cNvPr>
          <p:cNvSpPr/>
          <p:nvPr/>
        </p:nvSpPr>
        <p:spPr>
          <a:xfrm>
            <a:off x="2675466" y="4038599"/>
            <a:ext cx="4639733" cy="431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09A8724-A7EC-5FC9-0A74-D1C6916B4E84}"/>
              </a:ext>
            </a:extLst>
          </p:cNvPr>
          <p:cNvSpPr/>
          <p:nvPr/>
        </p:nvSpPr>
        <p:spPr>
          <a:xfrm>
            <a:off x="6260804" y="5232398"/>
            <a:ext cx="1054395" cy="162560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25761CD-F8CC-472E-1957-90F885CF32F8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4E9A4425-56C4-CC76-C297-C7B0B421C159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A45D15A8-C30F-CF1E-6EE7-89E07DA1FE5C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1396133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sz="4800" i="1" dirty="0"/>
                <a:t>Accessing Content on Canvas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526479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722C8-B285-C48F-B99F-A71CCC2BA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4CC08C1B-A434-7873-3619-A5018062873C}"/>
              </a:ext>
            </a:extLst>
          </p:cNvPr>
          <p:cNvSpPr/>
          <p:nvPr/>
        </p:nvSpPr>
        <p:spPr>
          <a:xfrm>
            <a:off x="2675466" y="4038599"/>
            <a:ext cx="4639733" cy="43180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78269C-8A5D-4AF8-A479-1A2E77B3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753" t="11904" r="27989" b="11382"/>
          <a:stretch>
            <a:fillRect/>
          </a:stretch>
        </p:blipFill>
        <p:spPr>
          <a:xfrm>
            <a:off x="0" y="1219199"/>
            <a:ext cx="7488471" cy="56388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39F5CE4-0FAB-0AEF-2590-081170F3F0B5}"/>
              </a:ext>
            </a:extLst>
          </p:cNvPr>
          <p:cNvSpPr/>
          <p:nvPr/>
        </p:nvSpPr>
        <p:spPr>
          <a:xfrm>
            <a:off x="558800" y="1947331"/>
            <a:ext cx="1032934" cy="23706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C1F4CD5-CCB4-59C9-CF6C-8B7E5AAF7541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ED369F-177F-3D12-6BB5-330B57FEB1D1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736C59C1-D580-FD54-D2F3-676EAA31252A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1396133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sz="4800" i="1" dirty="0"/>
                <a:t>Ed Discussion!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434327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92124-C658-0FD7-9546-BE4FDE473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AF9C191-8D6B-4980-CF9C-7D94B2491AF3}"/>
              </a:ext>
            </a:extLst>
          </p:cNvPr>
          <p:cNvSpPr/>
          <p:nvPr/>
        </p:nvSpPr>
        <p:spPr>
          <a:xfrm>
            <a:off x="-33867" y="0"/>
            <a:ext cx="6536267" cy="6839745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01F51-81F5-30F5-B4B4-027E5364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33868" y="-460905"/>
            <a:ext cx="6536267" cy="3012812"/>
          </a:xfrm>
        </p:spPr>
        <p:txBody>
          <a:bodyPr>
            <a:normAutofit/>
          </a:bodyPr>
          <a:lstStyle/>
          <a:p>
            <a:pPr algn="ctr"/>
            <a:r>
              <a:rPr lang="en-AU" sz="3600" b="1" i="1" dirty="0">
                <a:latin typeface="News Gothic MT" panose="020B0503020103020203" pitchFamily="34" charset="0"/>
              </a:rPr>
              <a:t>Week 1</a:t>
            </a:r>
            <a:br>
              <a:rPr lang="en-AU" dirty="0">
                <a:latin typeface="News Gothic MT" panose="020B0503020103020203" pitchFamily="34" charset="0"/>
              </a:rPr>
            </a:br>
            <a:br>
              <a:rPr lang="en-AU" sz="1100" b="1" dirty="0">
                <a:latin typeface="News Gothic MT" panose="020B0503020103020203" pitchFamily="34" charset="0"/>
              </a:rPr>
            </a:br>
            <a:r>
              <a:rPr lang="en-AU" sz="4000" b="1" dirty="0">
                <a:latin typeface="News Gothic MT" panose="020B0503020103020203" pitchFamily="34" charset="0"/>
              </a:rPr>
              <a:t>A Strange History:</a:t>
            </a:r>
            <a:br>
              <a:rPr lang="en-AU" sz="3600" b="1" dirty="0">
                <a:latin typeface="News Gothic MT" panose="020B0503020103020203" pitchFamily="34" charset="0"/>
              </a:rPr>
            </a:br>
            <a:r>
              <a:rPr lang="en-AU" sz="3600" dirty="0">
                <a:latin typeface="News Gothic MT" panose="020B0503020103020203" pitchFamily="34" charset="0"/>
              </a:rPr>
              <a:t>Ice Picks and Hysterics</a:t>
            </a:r>
            <a:endParaRPr lang="en-AU" sz="4000" dirty="0">
              <a:latin typeface="News Gothic MT" panose="020B0503020103020203" pitchFamily="34" charset="0"/>
            </a:endParaRPr>
          </a:p>
        </p:txBody>
      </p:sp>
      <p:pic>
        <p:nvPicPr>
          <p:cNvPr id="8" name="Picture 7" descr="Sigmund Freud - Wikipedia">
            <a:extLst>
              <a:ext uri="{FF2B5EF4-FFF2-40B4-BE49-F238E27FC236}">
                <a16:creationId xmlns:a16="http://schemas.microsoft.com/office/drawing/2014/main" id="{89EBBBC2-EECA-CBB6-8448-DC8AB93F7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868" y="4187563"/>
            <a:ext cx="1943584" cy="2652183"/>
          </a:xfrm>
          <a:prstGeom prst="rect">
            <a:avLst/>
          </a:prstGeom>
        </p:spPr>
      </p:pic>
      <p:pic>
        <p:nvPicPr>
          <p:cNvPr id="11" name="Picture 10" descr="Lobotomy History &amp; Procedure Video">
            <a:extLst>
              <a:ext uri="{FF2B5EF4-FFF2-40B4-BE49-F238E27FC236}">
                <a16:creationId xmlns:a16="http://schemas.microsoft.com/office/drawing/2014/main" id="{758A0292-69B9-2754-5117-B21D5AC40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5948" y="4737099"/>
            <a:ext cx="3646201" cy="2052903"/>
          </a:xfrm>
          <a:prstGeom prst="rect">
            <a:avLst/>
          </a:prstGeom>
        </p:spPr>
      </p:pic>
      <p:pic>
        <p:nvPicPr>
          <p:cNvPr id="14" name="Picture 13" descr="Lot nad kukułczym gniazdem">
            <a:extLst>
              <a:ext uri="{FF2B5EF4-FFF2-40B4-BE49-F238E27FC236}">
                <a16:creationId xmlns:a16="http://schemas.microsoft.com/office/drawing/2014/main" id="{0A0CAF9D-62CB-7B01-1B6C-F9600314E3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177" y="2478591"/>
            <a:ext cx="3049542" cy="1708972"/>
          </a:xfrm>
          <a:prstGeom prst="rect">
            <a:avLst/>
          </a:prstGeom>
        </p:spPr>
      </p:pic>
      <p:pic>
        <p:nvPicPr>
          <p:cNvPr id="16" name="Picture 15" descr="The Five Stages of Hypnosis Trance and the Secrets of Deep Hypnotic Trance  | by Seekerproject4se | Medium">
            <a:extLst>
              <a:ext uri="{FF2B5EF4-FFF2-40B4-BE49-F238E27FC236}">
                <a16:creationId xmlns:a16="http://schemas.microsoft.com/office/drawing/2014/main" id="{A8D9F781-1C31-9FDB-A10C-10E7829F23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0970" r="14889"/>
          <a:stretch>
            <a:fillRect/>
          </a:stretch>
        </p:blipFill>
        <p:spPr>
          <a:xfrm>
            <a:off x="3701640" y="2310342"/>
            <a:ext cx="2286979" cy="237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471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A8AEB-4C72-3506-0AE7-D70153A241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06BCDE89-3E1E-B909-7445-D04CD2C97D49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D3ED2D8-3095-EF1E-FCF6-801FA1CA74EF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6A49021D-BFF0-4B16-F21E-FCEED490F49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Dangerous Methods (a brief introduction)</a:t>
              </a:r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8E2B81E6-1D53-D244-8CDE-0170D3B92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533" y="3845456"/>
            <a:ext cx="3803650" cy="2857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E7D16C0-9388-4E9D-A8BE-EA41033862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183" y="3845456"/>
            <a:ext cx="3998782" cy="2959099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0A9E0222-CBAB-B2D6-40A3-4F2D4F2E4F0A}"/>
              </a:ext>
            </a:extLst>
          </p:cNvPr>
          <p:cNvSpPr txBox="1">
            <a:spLocks/>
          </p:cNvSpPr>
          <p:nvPr/>
        </p:nvSpPr>
        <p:spPr>
          <a:xfrm>
            <a:off x="118533" y="1409173"/>
            <a:ext cx="8466667" cy="56192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600" dirty="0">
                <a:latin typeface="News Gothic MT" panose="020B0503020103020203" pitchFamily="34" charset="0"/>
              </a:rPr>
              <a:t>Magneto-Electric Machine</a:t>
            </a:r>
          </a:p>
          <a:p>
            <a:pPr lvl="1"/>
            <a:r>
              <a:rPr lang="en-AU" dirty="0">
                <a:latin typeface="News Gothic MT" panose="020B0503020103020203" pitchFamily="34" charset="0"/>
              </a:rPr>
              <a:t>Portable electroshock! </a:t>
            </a:r>
          </a:p>
          <a:p>
            <a:pPr lvl="1"/>
            <a:r>
              <a:rPr lang="en-AU" dirty="0">
                <a:latin typeface="News Gothic MT" panose="020B0503020103020203" pitchFamily="34" charset="0"/>
              </a:rPr>
              <a:t>Patented 1854 for treatment of “nervous disorders”</a:t>
            </a:r>
          </a:p>
          <a:p>
            <a:pPr lvl="1"/>
            <a:r>
              <a:rPr lang="en-AU" dirty="0">
                <a:latin typeface="News Gothic MT" panose="020B0503020103020203" pitchFamily="34" charset="0"/>
              </a:rPr>
              <a:t>Featured in the Australian War Memorial as a treatment for shell shock in WWI</a:t>
            </a:r>
          </a:p>
        </p:txBody>
      </p:sp>
    </p:spTree>
    <p:extLst>
      <p:ext uri="{BB962C8B-B14F-4D97-AF65-F5344CB8AC3E}">
        <p14:creationId xmlns:p14="http://schemas.microsoft.com/office/powerpoint/2010/main" val="26490082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586FE-E134-208B-0E5B-15DECF32F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A5A7B2CE-9074-5C40-0CA0-A184C9C0D667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C3010B7-75B5-3C3E-2F01-935FB7831A16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9345612C-DC9A-D994-6EC4-12F2013B8418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Dangerous Methods (a brief introduction)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C343E79-E57A-56DC-4F81-EBFBDED9F9FB}"/>
              </a:ext>
            </a:extLst>
          </p:cNvPr>
          <p:cNvSpPr txBox="1">
            <a:spLocks/>
          </p:cNvSpPr>
          <p:nvPr/>
        </p:nvSpPr>
        <p:spPr>
          <a:xfrm>
            <a:off x="1" y="1238777"/>
            <a:ext cx="6601521" cy="5619223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600" b="1" dirty="0">
                <a:latin typeface="News Gothic MT" panose="020B0503020103020203" pitchFamily="34" charset="0"/>
              </a:rPr>
              <a:t>Lobotomies</a:t>
            </a:r>
          </a:p>
          <a:p>
            <a:pPr lvl="1"/>
            <a:r>
              <a:rPr lang="en-AU" sz="3200" dirty="0">
                <a:latin typeface="News Gothic MT" panose="020B0503020103020203" pitchFamily="34" charset="0"/>
              </a:rPr>
              <a:t>Surgical removal of small pieces of the brain to “calm” psychological distress </a:t>
            </a:r>
          </a:p>
          <a:p>
            <a:pPr lvl="1"/>
            <a:r>
              <a:rPr lang="en-AU" sz="3200" dirty="0">
                <a:latin typeface="News Gothic MT" panose="020B0503020103020203" pitchFamily="34" charset="0"/>
              </a:rPr>
              <a:t>“Worked” by damaging the connections between the prefrontal cortex and deeper brain structures involved in emotion and cognitive processing</a:t>
            </a:r>
          </a:p>
        </p:txBody>
      </p:sp>
    </p:spTree>
    <p:extLst>
      <p:ext uri="{BB962C8B-B14F-4D97-AF65-F5344CB8AC3E}">
        <p14:creationId xmlns:p14="http://schemas.microsoft.com/office/powerpoint/2010/main" val="409952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4719D-85D1-0EC2-6E7D-16968A9F7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9981CA5-4A89-AC0A-15AC-A1F5356795ED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A93D916-588A-F62F-21DE-93C914243D2F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7D6AF965-2E87-6CC4-E13A-F2F5A0B3A79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Dangerous Methods (a brief introduction)</a:t>
              </a:r>
            </a:p>
          </p:txBody>
        </p:sp>
      </p:grpSp>
      <p:pic>
        <p:nvPicPr>
          <p:cNvPr id="2" name="Picture 1" descr="Cranial MR Imaging of Sequelae of Prefrontal Lobotomy | American Journal of  Neuroradiology">
            <a:extLst>
              <a:ext uri="{FF2B5EF4-FFF2-40B4-BE49-F238E27FC236}">
                <a16:creationId xmlns:a16="http://schemas.microsoft.com/office/drawing/2014/main" id="{A19261E0-07C9-E14E-CE9C-931B083229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7469"/>
          <a:stretch>
            <a:fillRect/>
          </a:stretch>
        </p:blipFill>
        <p:spPr>
          <a:xfrm>
            <a:off x="0" y="2809249"/>
            <a:ext cx="4136868" cy="405781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49D79A1-DE3C-3B82-4937-841104193B1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627" t="37315" r="39766" b="42389"/>
          <a:stretch>
            <a:fillRect/>
          </a:stretch>
        </p:blipFill>
        <p:spPr>
          <a:xfrm>
            <a:off x="0" y="1094907"/>
            <a:ext cx="5597912" cy="1775889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9772A46-8FA1-7138-580E-83BE64EF88AA}"/>
              </a:ext>
            </a:extLst>
          </p:cNvPr>
          <p:cNvSpPr/>
          <p:nvPr/>
        </p:nvSpPr>
        <p:spPr>
          <a:xfrm>
            <a:off x="669073" y="3211551"/>
            <a:ext cx="1204332" cy="959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6E7F66A-7171-864A-C91D-127CCA629EE1}"/>
              </a:ext>
            </a:extLst>
          </p:cNvPr>
          <p:cNvSpPr/>
          <p:nvPr/>
        </p:nvSpPr>
        <p:spPr>
          <a:xfrm>
            <a:off x="2196790" y="3161374"/>
            <a:ext cx="1204332" cy="9590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55770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425EE-77CA-179F-9442-3919C9A16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474E114-DAA6-6494-0195-9DFD3A9D3E79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53BDC50-86DD-3C52-287D-07C15684EB78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F1C18F1E-0C20-4A6F-BD39-59EB9B43092A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Dangerous Methods (a brief introduction)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139A0B-29BD-3D99-A3F9-092DE533E23F}"/>
              </a:ext>
            </a:extLst>
          </p:cNvPr>
          <p:cNvSpPr txBox="1">
            <a:spLocks/>
          </p:cNvSpPr>
          <p:nvPr/>
        </p:nvSpPr>
        <p:spPr>
          <a:xfrm>
            <a:off x="0" y="1310232"/>
            <a:ext cx="7716644" cy="5223932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b="1" dirty="0">
                <a:latin typeface="News Gothic MT" panose="020B0503020103020203" pitchFamily="34" charset="0"/>
              </a:rPr>
              <a:t>Transorbital Lobotomies</a:t>
            </a:r>
          </a:p>
          <a:p>
            <a:pPr lvl="1"/>
            <a:r>
              <a:rPr lang="en-AU" sz="2800" dirty="0">
                <a:latin typeface="News Gothic MT" panose="020B0503020103020203" pitchFamily="34" charset="0"/>
              </a:rPr>
              <a:t>Popularised by Walter Freeman in 1946</a:t>
            </a:r>
          </a:p>
          <a:p>
            <a:pPr lvl="1"/>
            <a:r>
              <a:rPr lang="en-AU" sz="2800" dirty="0">
                <a:latin typeface="News Gothic MT" panose="020B0503020103020203" pitchFamily="34" charset="0"/>
              </a:rPr>
              <a:t>“Ice Pick Lobotomies”</a:t>
            </a:r>
          </a:p>
          <a:p>
            <a:pPr lvl="1"/>
            <a:r>
              <a:rPr lang="en-AU" sz="2800" dirty="0">
                <a:latin typeface="News Gothic MT" panose="020B0503020103020203" pitchFamily="34" charset="0"/>
              </a:rPr>
              <a:t>Quick and easy! Took ~10min, no need for a neurosurgeon or proper anaesthesia</a:t>
            </a:r>
          </a:p>
        </p:txBody>
      </p:sp>
      <p:pic>
        <p:nvPicPr>
          <p:cNvPr id="2" name="Picture 1" descr="Lobotomy History &amp; Procedure Video">
            <a:extLst>
              <a:ext uri="{FF2B5EF4-FFF2-40B4-BE49-F238E27FC236}">
                <a16:creationId xmlns:a16="http://schemas.microsoft.com/office/drawing/2014/main" id="{8EB8FE8A-60A4-6FAE-0ABA-E352FBA8A1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666745"/>
            <a:ext cx="3646201" cy="2052903"/>
          </a:xfrm>
          <a:prstGeom prst="rect">
            <a:avLst/>
          </a:prstGeom>
        </p:spPr>
      </p:pic>
      <p:pic>
        <p:nvPicPr>
          <p:cNvPr id="3" name="Picture 2" descr="Walter Jackson Freeman II - Wikipedia">
            <a:extLst>
              <a:ext uri="{FF2B5EF4-FFF2-40B4-BE49-F238E27FC236}">
                <a16:creationId xmlns:a16="http://schemas.microsoft.com/office/drawing/2014/main" id="{03709C5F-BA67-D3CF-D2B9-F4035C08B1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4687" y="3652333"/>
            <a:ext cx="2349191" cy="320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2115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DF4E8-C804-6ED7-FEC2-D3363F103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43FB2112-16BB-7B74-D016-ADD30C81FB6E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256CCE1-E14A-1FEA-B473-5535216C3B3A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1795CF37-E7A7-62D0-5745-FBA79A8D5D3D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Dangerous Methods (a brief introduction)</a:t>
              </a:r>
            </a:p>
          </p:txBody>
        </p:sp>
      </p:grpSp>
      <p:pic>
        <p:nvPicPr>
          <p:cNvPr id="10" name="Picture 9" descr="Rosemary Kennedy (Sister of President John F. Kennedy) - On This Day">
            <a:extLst>
              <a:ext uri="{FF2B5EF4-FFF2-40B4-BE49-F238E27FC236}">
                <a16:creationId xmlns:a16="http://schemas.microsoft.com/office/drawing/2014/main" id="{8CC86A13-CDA8-A651-34A0-D2C08E65E6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61531"/>
            <a:ext cx="3048000" cy="3810000"/>
          </a:xfrm>
          <a:prstGeom prst="rect">
            <a:avLst/>
          </a:prstGeom>
        </p:spPr>
      </p:pic>
      <p:pic>
        <p:nvPicPr>
          <p:cNvPr id="11" name="Picture 10" descr="Never-Before-Seen Photos of Forgotten Kennedy Rosemary">
            <a:extLst>
              <a:ext uri="{FF2B5EF4-FFF2-40B4-BE49-F238E27FC236}">
                <a16:creationId xmlns:a16="http://schemas.microsoft.com/office/drawing/2014/main" id="{B67BF86A-E844-7A4E-0C60-578028AEB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2258" y="1661531"/>
            <a:ext cx="381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1181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38B67-952B-9805-5D5B-5B1F82A69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174F9EB6-56C4-2DE1-EB21-2CA5478B862D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58B9D5F-037F-A82C-D731-5E7FBF34E6DD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6B03A38-6E6C-F5CE-4B94-6808FAED7E77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Lobotomies too pricey? Help is on the way.</a:t>
              </a:r>
            </a:p>
          </p:txBody>
        </p:sp>
      </p:grpSp>
      <p:pic>
        <p:nvPicPr>
          <p:cNvPr id="2" name="Picture 1" descr="Gabrielle Glaser on X: &quot;In 1897, the Sears catalog sold a $1.50 &quot;heroin kit&quot;  with a syringe, needles &amp;amp; 2 vials. You could also buy it OTC.&quot; / X">
            <a:extLst>
              <a:ext uri="{FF2B5EF4-FFF2-40B4-BE49-F238E27FC236}">
                <a16:creationId xmlns:a16="http://schemas.microsoft.com/office/drawing/2014/main" id="{0AFED190-C0D9-B341-895D-BBFBD56E2F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7240" y="3725849"/>
            <a:ext cx="3319863" cy="2943612"/>
          </a:xfrm>
          <a:prstGeom prst="rect">
            <a:avLst/>
          </a:prstGeom>
        </p:spPr>
      </p:pic>
      <p:pic>
        <p:nvPicPr>
          <p:cNvPr id="3" name="Picture 2" descr="In 1898, Bayer began mass production of heroin as a remedy for coughs and  colds. : r/interestingasfuck">
            <a:extLst>
              <a:ext uri="{FF2B5EF4-FFF2-40B4-BE49-F238E27FC236}">
                <a16:creationId xmlns:a16="http://schemas.microsoft.com/office/drawing/2014/main" id="{E21C38E5-5F66-64A0-9E58-DD31EE38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240" y="1391992"/>
            <a:ext cx="2880631" cy="2196481"/>
          </a:xfrm>
          <a:prstGeom prst="rect">
            <a:avLst/>
          </a:prstGeom>
        </p:spPr>
      </p:pic>
      <p:pic>
        <p:nvPicPr>
          <p:cNvPr id="4" name="Picture 3" descr="1897 Sears, Roebuck &amp; Co. Catalogue: A Window to Turn-of-the-Century  America : Sears Roebuck &amp; Co: Amazon.com.au: Books">
            <a:extLst>
              <a:ext uri="{FF2B5EF4-FFF2-40B4-BE49-F238E27FC236}">
                <a16:creationId xmlns:a16="http://schemas.microsoft.com/office/drawing/2014/main" id="{1BB8CEFF-E146-D17E-16EB-D152D2AC89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254616"/>
            <a:ext cx="3977240" cy="51518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815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CAB9D9-E0A8-2E31-1801-D37E16716D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D004E8B-0160-AA87-F2BC-0184BFFDC056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387FC9F-36BC-6DEB-94C1-5A84FC21FEDA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F1626939-924F-FADC-A554-B91980D57D42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dirty="0">
                  <a:latin typeface="News Gothic MT" panose="020B0503020103020203" pitchFamily="34" charset="0"/>
                </a:rPr>
                <a:t>Lobotomies too pricey? Help is on the way.</a:t>
              </a:r>
            </a:p>
          </p:txBody>
        </p: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BC12C9FE-C701-AD8E-2AD7-C25C20707DA9}"/>
              </a:ext>
            </a:extLst>
          </p:cNvPr>
          <p:cNvSpPr txBox="1">
            <a:spLocks/>
          </p:cNvSpPr>
          <p:nvPr/>
        </p:nvSpPr>
        <p:spPr>
          <a:xfrm>
            <a:off x="6727764" y="1510772"/>
            <a:ext cx="5073408" cy="120226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i="1" dirty="0">
                <a:latin typeface="News Gothic MT" panose="020B0503020103020203" pitchFamily="34" charset="0"/>
              </a:rPr>
              <a:t>“That’s lovely…that’s better”</a:t>
            </a:r>
            <a:endParaRPr lang="en-AU" sz="2000" i="1" dirty="0">
              <a:latin typeface="News Gothic MT" panose="020B0503020103020203" pitchFamily="34" charset="0"/>
            </a:endParaRPr>
          </a:p>
        </p:txBody>
      </p:sp>
      <p:pic>
        <p:nvPicPr>
          <p:cNvPr id="14" name="Picture 13" descr="Sanatogen Tonic Wine">
            <a:extLst>
              <a:ext uri="{FF2B5EF4-FFF2-40B4-BE49-F238E27FC236}">
                <a16:creationId xmlns:a16="http://schemas.microsoft.com/office/drawing/2014/main" id="{8044326F-6197-9237-1212-6E8031EA8A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309" y="1510772"/>
            <a:ext cx="3434628" cy="4695628"/>
          </a:xfrm>
          <a:prstGeom prst="rect">
            <a:avLst/>
          </a:prstGeom>
        </p:spPr>
      </p:pic>
      <p:pic>
        <p:nvPicPr>
          <p:cNvPr id="16" name="Picture 15" descr="Kids are murder!&quot; - Sanatogen Tonic Wine ad with a mail-in coupon to  receive a sample [1960s] : r/vintageads">
            <a:extLst>
              <a:ext uri="{FF2B5EF4-FFF2-40B4-BE49-F238E27FC236}">
                <a16:creationId xmlns:a16="http://schemas.microsoft.com/office/drawing/2014/main" id="{302CEFCB-2FB7-33A8-D818-0C8A2F45C7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1405053"/>
            <a:ext cx="2744772" cy="545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575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7D7A4-7C8E-EC5F-5B3E-C7A3C4CB4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2ED12425-7F7C-078D-2F6D-448F1C34983F}"/>
              </a:ext>
            </a:extLst>
          </p:cNvPr>
          <p:cNvGrpSpPr/>
          <p:nvPr/>
        </p:nvGrpSpPr>
        <p:grpSpPr>
          <a:xfrm>
            <a:off x="0" y="0"/>
            <a:ext cx="12192000" cy="1634068"/>
            <a:chOff x="0" y="0"/>
            <a:chExt cx="12192000" cy="163406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78EB6EB-A3C1-1899-A521-58326DA68E22}"/>
                </a:ext>
              </a:extLst>
            </p:cNvPr>
            <p:cNvSpPr/>
            <p:nvPr/>
          </p:nvSpPr>
          <p:spPr>
            <a:xfrm>
              <a:off x="0" y="0"/>
              <a:ext cx="12192000" cy="12022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" name="Title 1">
              <a:extLst>
                <a:ext uri="{FF2B5EF4-FFF2-40B4-BE49-F238E27FC236}">
                  <a16:creationId xmlns:a16="http://schemas.microsoft.com/office/drawing/2014/main" id="{27F909CF-A076-EB93-EEFA-03E858F206B6}"/>
                </a:ext>
              </a:extLst>
            </p:cNvPr>
            <p:cNvSpPr txBox="1">
              <a:spLocks/>
            </p:cNvSpPr>
            <p:nvPr/>
          </p:nvSpPr>
          <p:spPr>
            <a:xfrm>
              <a:off x="0" y="308505"/>
              <a:ext cx="12192000" cy="1325563"/>
            </a:xfrm>
            <a:prstGeom prst="rect">
              <a:avLst/>
            </a:prstGeom>
          </p:spPr>
          <p:txBody>
            <a:bodyPr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AU" sz="4000" dirty="0">
                  <a:latin typeface="News Gothic MT" panose="020B0503020103020203" pitchFamily="34" charset="0"/>
                </a:rPr>
                <a:t>What does a good psychological treatment do?</a:t>
              </a:r>
            </a:p>
          </p:txBody>
        </p:sp>
      </p:grp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FA0BB28-298A-F0B8-0637-736F1557467D}"/>
              </a:ext>
            </a:extLst>
          </p:cNvPr>
          <p:cNvSpPr txBox="1">
            <a:spLocks/>
          </p:cNvSpPr>
          <p:nvPr/>
        </p:nvSpPr>
        <p:spPr>
          <a:xfrm>
            <a:off x="0" y="1287752"/>
            <a:ext cx="7515922" cy="557024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>
                <a:latin typeface="News Gothic MT" panose="020B0503020103020203" pitchFamily="34" charset="0"/>
              </a:rPr>
              <a:t>Improve the lives of people struggling with mental health conditions?</a:t>
            </a:r>
          </a:p>
          <a:p>
            <a:pPr marL="0" indent="0">
              <a:buNone/>
            </a:pPr>
            <a:endParaRPr lang="en-AU" sz="3200" dirty="0">
              <a:latin typeface="News Gothic MT" panose="020B0503020103020203" pitchFamily="34" charset="0"/>
            </a:endParaRPr>
          </a:p>
          <a:p>
            <a:pPr marL="0" indent="0">
              <a:buNone/>
            </a:pPr>
            <a:r>
              <a:rPr lang="en-AU" sz="3200" b="1" i="1" dirty="0">
                <a:latin typeface="News Gothic MT" panose="020B0503020103020203" pitchFamily="34" charset="0"/>
              </a:rPr>
              <a:t>   or…</a:t>
            </a:r>
          </a:p>
          <a:p>
            <a:pPr marL="0" indent="0">
              <a:buNone/>
            </a:pPr>
            <a:endParaRPr lang="en-AU" sz="3200" dirty="0">
              <a:latin typeface="News Gothic MT" panose="020B0503020103020203" pitchFamily="34" charset="0"/>
            </a:endParaRPr>
          </a:p>
          <a:p>
            <a:pPr marL="0" indent="0">
              <a:buNone/>
            </a:pPr>
            <a:r>
              <a:rPr lang="en-AU" sz="3200" dirty="0">
                <a:latin typeface="News Gothic MT" panose="020B0503020103020203" pitchFamily="34" charset="0"/>
              </a:rPr>
              <a:t>Make everyone else around them more comfortable?</a:t>
            </a:r>
            <a:endParaRPr lang="en-AU" dirty="0">
              <a:latin typeface="News Gothic MT" panose="020B0503020103020203" pitchFamily="34" charset="0"/>
            </a:endParaRPr>
          </a:p>
        </p:txBody>
      </p:sp>
      <p:pic>
        <p:nvPicPr>
          <p:cNvPr id="4" name="Picture 3" descr="Talk therapy: How it works, benefits, and more">
            <a:extLst>
              <a:ext uri="{FF2B5EF4-FFF2-40B4-BE49-F238E27FC236}">
                <a16:creationId xmlns:a16="http://schemas.microsoft.com/office/drawing/2014/main" id="{A1E6AE3B-9712-4B44-DA9F-4511EDBB9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009" y="2271634"/>
            <a:ext cx="2912746" cy="1633979"/>
          </a:xfrm>
          <a:prstGeom prst="rect">
            <a:avLst/>
          </a:prstGeom>
        </p:spPr>
      </p:pic>
      <p:pic>
        <p:nvPicPr>
          <p:cNvPr id="8" name="Picture 7" descr="Understanding lobotomy - Hodder Education Magazines">
            <a:extLst>
              <a:ext uri="{FF2B5EF4-FFF2-40B4-BE49-F238E27FC236}">
                <a16:creationId xmlns:a16="http://schemas.microsoft.com/office/drawing/2014/main" id="{0EE64FD4-4A42-B446-F71E-75FE7367DF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288" y="5014320"/>
            <a:ext cx="2924780" cy="184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035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2D5F7E-818D-88A8-BAA4-44446B217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45557D9-2726-2B60-53FC-A52C34A35A57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246F273-A3CA-31CE-F38E-36B864A7477E}"/>
              </a:ext>
            </a:extLst>
          </p:cNvPr>
          <p:cNvSpPr txBox="1">
            <a:spLocks/>
          </p:cNvSpPr>
          <p:nvPr/>
        </p:nvSpPr>
        <p:spPr>
          <a:xfrm>
            <a:off x="0" y="1202267"/>
            <a:ext cx="11653024" cy="44716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AU" sz="3200" dirty="0">
                <a:latin typeface="News Gothic MT" panose="020B0503020103020203" pitchFamily="34" charset="0"/>
              </a:rPr>
              <a:t>A modern example: Treating schizophrenia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F87EAEA-7BDF-14CD-21C7-5D04AF630884}"/>
              </a:ext>
            </a:extLst>
          </p:cNvPr>
          <p:cNvSpPr txBox="1">
            <a:spLocks/>
          </p:cNvSpPr>
          <p:nvPr/>
        </p:nvSpPr>
        <p:spPr>
          <a:xfrm>
            <a:off x="0" y="308505"/>
            <a:ext cx="121920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 dirty="0">
                <a:latin typeface="News Gothic MT" panose="020B0503020103020203" pitchFamily="34" charset="0"/>
              </a:rPr>
              <a:t>What does a good psychological treatment do?</a:t>
            </a:r>
          </a:p>
        </p:txBody>
      </p:sp>
      <p:pic>
        <p:nvPicPr>
          <p:cNvPr id="8" name="Picture 7" descr="Schizophrenia Symptoms: Mood and Behavior Effects">
            <a:extLst>
              <a:ext uri="{FF2B5EF4-FFF2-40B4-BE49-F238E27FC236}">
                <a16:creationId xmlns:a16="http://schemas.microsoft.com/office/drawing/2014/main" id="{5D10964E-CF60-C483-8C1C-37BE3E78A7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32" y="1942573"/>
            <a:ext cx="6735337" cy="449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367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4BBFAF-3E04-AA02-4DE5-B301194C7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7B49119-E7A1-C721-FBE4-A33B778DFF4B}"/>
              </a:ext>
            </a:extLst>
          </p:cNvPr>
          <p:cNvSpPr/>
          <p:nvPr/>
        </p:nvSpPr>
        <p:spPr>
          <a:xfrm>
            <a:off x="0" y="0"/>
            <a:ext cx="12192000" cy="1202267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4E90A8A8-1212-A92C-3EB2-7DA93600CCE7}"/>
              </a:ext>
            </a:extLst>
          </p:cNvPr>
          <p:cNvSpPr txBox="1">
            <a:spLocks/>
          </p:cNvSpPr>
          <p:nvPr/>
        </p:nvSpPr>
        <p:spPr>
          <a:xfrm>
            <a:off x="234176" y="1352809"/>
            <a:ext cx="8196146" cy="4471639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AU" sz="3200" dirty="0">
                <a:latin typeface="News Gothic MT" panose="020B0503020103020203" pitchFamily="34" charset="0"/>
              </a:rPr>
              <a:t>Antipsychotics are the 1</a:t>
            </a:r>
            <a:r>
              <a:rPr lang="en-AU" sz="3200" baseline="30000" dirty="0">
                <a:latin typeface="News Gothic MT" panose="020B0503020103020203" pitchFamily="34" charset="0"/>
              </a:rPr>
              <a:t>st</a:t>
            </a:r>
            <a:r>
              <a:rPr lang="en-AU" sz="3200" dirty="0">
                <a:latin typeface="News Gothic MT" panose="020B0503020103020203" pitchFamily="34" charset="0"/>
              </a:rPr>
              <a:t> line treatment for schizophrenia</a:t>
            </a:r>
          </a:p>
          <a:p>
            <a:r>
              <a:rPr lang="en-AU" sz="3200" dirty="0">
                <a:latin typeface="News Gothic MT" panose="020B0503020103020203" pitchFamily="34" charset="0"/>
              </a:rPr>
              <a:t>Only effective at lessening the “positive” symptoms (i.e., symptoms most noticeable/distressing to observers) </a:t>
            </a:r>
          </a:p>
        </p:txBody>
      </p:sp>
      <p:pic>
        <p:nvPicPr>
          <p:cNvPr id="3" name="Picture 2" descr="2-Typical and atypical antipsychotics for schizophrenia">
            <a:extLst>
              <a:ext uri="{FF2B5EF4-FFF2-40B4-BE49-F238E27FC236}">
                <a16:creationId xmlns:a16="http://schemas.microsoft.com/office/drawing/2014/main" id="{8946E967-6B3C-2A66-3CD2-F11DEFD7E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595" y="3849262"/>
            <a:ext cx="5348868" cy="300873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0FCC32B1-072E-03A7-57EE-9634FFD9648A}"/>
              </a:ext>
            </a:extLst>
          </p:cNvPr>
          <p:cNvSpPr txBox="1">
            <a:spLocks/>
          </p:cNvSpPr>
          <p:nvPr/>
        </p:nvSpPr>
        <p:spPr>
          <a:xfrm>
            <a:off x="0" y="308505"/>
            <a:ext cx="12192000" cy="1325563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4000" dirty="0">
                <a:latin typeface="News Gothic MT" panose="020B0503020103020203" pitchFamily="34" charset="0"/>
              </a:rPr>
              <a:t>What does a good psychological treatment do?</a:t>
            </a:r>
          </a:p>
        </p:txBody>
      </p:sp>
    </p:spTree>
    <p:extLst>
      <p:ext uri="{BB962C8B-B14F-4D97-AF65-F5344CB8AC3E}">
        <p14:creationId xmlns:p14="http://schemas.microsoft.com/office/powerpoint/2010/main" val="30441612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5199</TotalTime>
  <Words>485</Words>
  <Application>Microsoft Macintosh PowerPoint</Application>
  <PresentationFormat>Widescreen</PresentationFormat>
  <Paragraphs>70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News Gothic MT</vt:lpstr>
      <vt:lpstr>Office Theme</vt:lpstr>
      <vt:lpstr> Method or Madness?  The Science of Psychology</vt:lpstr>
      <vt:lpstr>Who is taking this unit?</vt:lpstr>
      <vt:lpstr>Why take this unit?</vt:lpstr>
      <vt:lpstr>Who is teaching this unit?</vt:lpstr>
      <vt:lpstr>Unit Structure</vt:lpstr>
      <vt:lpstr>PowerPoint Presentation</vt:lpstr>
      <vt:lpstr>Assessments</vt:lpstr>
      <vt:lpstr>PowerPoint Presentation</vt:lpstr>
      <vt:lpstr>PowerPoint Presentation</vt:lpstr>
      <vt:lpstr>Week 1  A Strange History: Ice Picks and Hysterics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Microsoft Office User</dc:creator>
  <cp:lastModifiedBy>Microsoft Office User</cp:lastModifiedBy>
  <cp:revision>12</cp:revision>
  <dcterms:created xsi:type="dcterms:W3CDTF">2026-07-14T03:16:47Z</dcterms:created>
  <dcterms:modified xsi:type="dcterms:W3CDTF">2026-08-02T19:54:42Z</dcterms:modified>
</cp:coreProperties>
</file>